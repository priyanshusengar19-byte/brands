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FY19</c:v>
                  </c:pt>
                  <c:pt idx="1">
                    <c:v>FY24</c:v>
                  </c:pt>
                  <c:pt idx="2">
                    <c:v>FY26E</c:v>
                  </c:pt>
                  <c:pt idx="3">
                    <c:v>FY29P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2291</c:v>
                </c:pt>
                <c:pt idx="1">
                  <c:v>3541</c:v>
                </c:pt>
                <c:pt idx="2">
                  <c:v>4292</c:v>
                </c:pt>
                <c:pt idx="3">
                  <c:v>5732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FY19</c:v>
                  </c:pt>
                  <c:pt idx="1">
                    <c:v>FY24</c:v>
                  </c:pt>
                  <c:pt idx="2">
                    <c:v>FY26E</c:v>
                  </c:pt>
                  <c:pt idx="3">
                    <c:v>FY29P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1129</c:v>
                </c:pt>
                <c:pt idx="1">
                  <c:v>1677</c:v>
                </c:pt>
                <c:pt idx="2">
                  <c:v>2107</c:v>
                </c:pt>
                <c:pt idx="3">
                  <c:v>2974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FY19</c:v>
                  </c:pt>
                  <c:pt idx="1">
                    <c:v>FY24</c:v>
                  </c:pt>
                  <c:pt idx="2">
                    <c:v>FY26E</c:v>
                  </c:pt>
                  <c:pt idx="3">
                    <c:v>FY29P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604</c:v>
                </c:pt>
                <c:pt idx="1">
                  <c:v>994</c:v>
                </c:pt>
                <c:pt idx="2">
                  <c:v>1342</c:v>
                </c:pt>
                <c:pt idx="3">
                  <c:v>2109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AFB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Wallet %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Metro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Rural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19</c:v>
                </c:pt>
                <c:pt idx="2">
                  <c:v>20</c:v>
                </c:pt>
                <c:pt idx="3">
                  <c:v>18</c:v>
                </c:pt>
                <c:pt idx="4">
                  <c:v>14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Organised stores %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Metro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Rural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36</c:v>
                </c:pt>
                <c:pt idx="1">
                  <c:v>20</c:v>
                </c:pt>
                <c:pt idx="2">
                  <c:v>18</c:v>
                </c:pt>
                <c:pt idx="3">
                  <c:v>13</c:v>
                </c:pt>
                <c:pt idx="4">
                  <c:v>9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AFB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950" b="0" i="0" u="none" strike="noStrike">
                <a:solidFill>
                  <a:srgbClr val="64748B"/>
                </a:solidFill>
                <a:latin typeface="Arial"/>
              </a:rPr>
              <a:t>National brands competing per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national brands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77D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A75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85A3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8878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Value</c:v>
                  </c:pt>
                  <c:pt idx="1">
                    <c:v>Economy</c:v>
                  </c:pt>
                  <c:pt idx="2">
                    <c:v>Mid-market</c:v>
                  </c:pt>
                  <c:pt idx="3">
                    <c:v>Premium</c:v>
                  </c:pt>
                  <c:pt idx="4">
                    <c:v>Luxury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</c:v>
                </c:pt>
                <c:pt idx="2">
                  <c:v>41</c:v>
                </c:pt>
                <c:pt idx="3">
                  <c:v>38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B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wallet (Cr)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Metro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Rural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190904</c:v>
                </c:pt>
                <c:pt idx="1">
                  <c:v>164893</c:v>
                </c:pt>
                <c:pt idx="2">
                  <c:v>173553</c:v>
                </c:pt>
                <c:pt idx="3">
                  <c:v>156246</c:v>
                </c:pt>
                <c:pt idx="4">
                  <c:v>121487</c:v>
                </c:pt>
                <c:pt idx="5">
                  <c:v>60688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Organised revenue (Cr)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Metro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Rural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59180</c:v>
                </c:pt>
                <c:pt idx="1">
                  <c:v>37965</c:v>
                </c:pt>
                <c:pt idx="2">
                  <c:v>31223</c:v>
                </c:pt>
                <c:pt idx="3">
                  <c:v>19311</c:v>
                </c:pt>
                <c:pt idx="4">
                  <c:v>9592</c:v>
                </c:pt>
                <c:pt idx="5">
                  <c:v>3635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AFB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950" b="0" i="0" u="none" strike="noStrike">
                <a:solidFill>
                  <a:srgbClr val="64748B"/>
                </a:solidFill>
                <a:latin typeface="Arial"/>
              </a:rPr>
              <a:t>Pincode count by wallet bracket (coral = no organised store)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 organised stores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0–12 Cr</c:v>
                  </c:pt>
                  <c:pt idx="1">
                    <c:v>12–26 Cr</c:v>
                  </c:pt>
                  <c:pt idx="2">
                    <c:v>26–54 Cr</c:v>
                  </c:pt>
                  <c:pt idx="3">
                    <c:v>54–97 Cr</c:v>
                  </c:pt>
                  <c:pt idx="4">
                    <c:v>97–283 Cr</c:v>
                  </c:pt>
                  <c:pt idx="5">
                    <c:v>283+ Cr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4200</c:v>
                </c:pt>
                <c:pt idx="1">
                  <c:v>3800</c:v>
                </c:pt>
                <c:pt idx="2">
                  <c:v>3100</c:v>
                </c:pt>
                <c:pt idx="3">
                  <c:v>1800</c:v>
                </c:pt>
                <c:pt idx="4">
                  <c:v>650</c:v>
                </c:pt>
                <c:pt idx="5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1+ organised stores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0–12 Cr</c:v>
                  </c:pt>
                  <c:pt idx="1">
                    <c:v>12–26 Cr</c:v>
                  </c:pt>
                  <c:pt idx="2">
                    <c:v>26–54 Cr</c:v>
                  </c:pt>
                  <c:pt idx="3">
                    <c:v>54–97 Cr</c:v>
                  </c:pt>
                  <c:pt idx="4">
                    <c:v>97–283 Cr</c:v>
                  </c:pt>
                  <c:pt idx="5">
                    <c:v>283+ Cr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623</c:v>
                </c:pt>
                <c:pt idx="1">
                  <c:v>1112</c:v>
                </c:pt>
                <c:pt idx="2">
                  <c:v>1794</c:v>
                </c:pt>
                <c:pt idx="3">
                  <c:v>1154</c:v>
                </c:pt>
                <c:pt idx="4">
                  <c:v>926</c:v>
                </c:pt>
                <c:pt idx="5">
                  <c:v>274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AFB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INR Crore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77D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A75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Zudio today</c:v>
                  </c:pt>
                  <c:pt idx="1">
                    <c:v>Westside</c:v>
                  </c:pt>
                  <c:pt idx="2">
                    <c:v>Other value brands</c:v>
                  </c:pt>
                  <c:pt idx="3">
                    <c:v>Zudio’s runway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12804</c:v>
                </c:pt>
                <c:pt idx="1">
                  <c:v>8604</c:v>
                </c:pt>
                <c:pt idx="2">
                  <c:v>28392</c:v>
                </c:pt>
                <c:pt idx="3">
                  <c:v>88723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B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 count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77D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Current
(958)</c:v>
                  </c:pt>
                  <c:pt idx="1">
                    <c:v>Pin densif.
(+191)</c:v>
                  </c:pt>
                  <c:pt idx="2">
                    <c:v>City densif.
(+6,229)</c:v>
                  </c:pt>
                  <c:pt idx="3">
                    <c:v>City expan.
(+351)</c:v>
                  </c:pt>
                  <c:pt idx="4">
                    <c:v>Gross potential
(9,240)</c:v>
                  </c:pt>
                  <c:pt idx="5">
                    <c:v>Adj. total
(7,522)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958</c:v>
                </c:pt>
                <c:pt idx="1">
                  <c:v>191</c:v>
                </c:pt>
                <c:pt idx="2">
                  <c:v>6229</c:v>
                </c:pt>
                <c:pt idx="3">
                  <c:v>351</c:v>
                </c:pt>
                <c:pt idx="4">
                  <c:v>9240</c:v>
                </c:pt>
                <c:pt idx="5">
                  <c:v>7522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 the screen. Plant your feet. Eye contact. Then:
'Let me start with a question: Is Zudio expanding too fast? After 6 months and 19,694 pincodes, my answer is — not fast enough. Here is the evidence.'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'Zudio added 229 stores in FY26 — more than any year before. The debate: is this overdone? The problem is nobody has answered that with a ground-up demand model. We did. The answer may surprise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'India's apparel market is Rs.6,212 Bn at FY24. Value — Zudio's home — is 57%, growing 10.1% CAGR. What's remarkable: it's simultaneously the largest, fastest-growing, and least-organised. Those three things almost never coexist.'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to slide. Pause 2 seconds. Then: 'Look at this carefully. Metro has 36% of organised stores but only 22% of the wallet. T3 and T4 combined have 32% of the wallet — but only 22% of organised stores. The stores are not where the money is.' This is your first wow moment. Slow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'Before the data — the method. We did not use a single market research report. We built India's apparel wallet from 19,694 pincodes. Each pincode gets its own GSDP-adjusted MPCE. The number I am about to show you is not an estimate. It is a calculation.'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say it in three parts with micro-pauses: 'Eight lakh... sixty-eight thousand... crore rupees.' Then: 'Not a 2030 projection. What Indian households spend today on clothes and shoes.'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'Who competes for this wallet? In value fashion — two national players. Two. In premium, which has one-third the wallet, 38 brands compete. Maximum market, minimum competition.' Say 'Two.' and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Western row. Trace left to right — dark to light. Then say: 'Western wear — Zudio's core product — is absent in the exact geographies where the wallet is underserved. The product and the white space are the same thing.' Pause after that last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MOMENT. Click to slide. Count to 3 in your head. Then: 'Seven lakh. Thirty-eight thousand. Crore rupees.' Pause 1 second. 'That is 85% of India's apparel wallet. Flowing through unorganised trade. Today.' Look at the analyst — not the screen — when saying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'We mapped every pincode. Thousands have wallet above Zudio's breakeven with zero organised stores. These are not remote villages — many are cities of 3 to 5 lakh people with real purchasing power and no western wear option today.'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'Zudio earns Rs.12,804 crore today. Our model identifies Rs.88,723 crore of additional runway — at current MPCE. No GDP growth. No demographic change. No new consumers. No change in behaviour. Seven times current revenue. Sitting in pincodes Zudio's format can already serve.'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'The model says 7,522 stores. Eight times Zudio's current 958. This is the adjusted, conservative estimate. Let me be explicit about what is NOT assumed: no GDP growth, no MPCE increase, no new consumers, no change in behaviour. Just the gap that already exists. Waiting.'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Four implications. Expansion story not peaked — 8x headroom. First-mover advantage compounds. Revenue potential Rs.88,723 Cr additional at current economics. Every slow year is a structural position loss. Deliver these crisply — one per breath.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ENDING. Mirror opening: 'Is Zudio expanding too fast?' Read the five findings. Then: 'The data has one answer: it is not expanding fast enough. Thank you. I'll take questions.' Then STOP. Say nothing else. Silence after a strong ending is more powerful than any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731520"/>
            <a:ext cx="3840480" cy="3840480"/>
          </a:xfrm>
          <a:prstGeom prst="ellipse">
            <a:avLst/>
          </a:prstGeom>
          <a:solidFill>
            <a:srgbClr val="243280"/>
          </a:solidFill>
          <a:ln w="12700">
            <a:solidFill>
              <a:srgbClr val="2432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 EQUITY RESEARCH  ·  INDIA CONSUMER  ·  JUNE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₹8.68 Lakh Crore Question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ground-up demand-supply analysis of India’s value fashion market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127248"/>
            <a:ext cx="3657600" cy="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Zudio expanding too fast — or not fast enough?”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India Consumer Team  ·  June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discussion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EXISTS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no one has answered with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536192"/>
            <a:ext cx="2788920" cy="2697480"/>
          </a:xfrm>
          <a:prstGeom prst="roundRect">
            <a:avLst>
              <a:gd name="adj" fmla="val 3390"/>
            </a:avLst>
          </a:prstGeom>
          <a:solidFill>
            <a:srgbClr val="263070"/>
          </a:solidFill>
          <a:ln w="6350">
            <a:solidFill>
              <a:srgbClr val="3A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6642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4632" y="199339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stores added in FY26 alone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4632" y="25603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Zudio’s fastest expansion ever — and the consensus debate has started: is this too aggressive?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536192"/>
            <a:ext cx="2788920" cy="2697480"/>
          </a:xfrm>
          <a:prstGeom prst="roundRect">
            <a:avLst>
              <a:gd name="adj" fmla="val 3390"/>
            </a:avLst>
          </a:prstGeom>
          <a:solidFill>
            <a:srgbClr val="263070"/>
          </a:solidFill>
          <a:ln w="6350">
            <a:solidFill>
              <a:srgbClr val="3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6642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9000" y="199339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mapped supply against actual demand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29000" y="25603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cite market sizes. No one built India’s apparel wallet from 19,694 pincodes ground up — until now.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6208" y="1536192"/>
            <a:ext cx="2788920" cy="2697480"/>
          </a:xfrm>
          <a:prstGeom prst="roundRect">
            <a:avLst>
              <a:gd name="adj" fmla="val 3390"/>
            </a:avLst>
          </a:prstGeom>
          <a:solidFill>
            <a:srgbClr val="263070"/>
          </a:solidFill>
          <a:ln w="6350">
            <a:solidFill>
              <a:srgbClr val="3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6642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73368" y="199339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changes the Trent investment thesis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3368" y="25603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white space is real and quantified, Zudio’s expansion story is just beginning, not ending.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Fashion’s Impossible Combination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apparel market (INR Billion) | FY19 — FY29P  ·  Source: B5.1 table, Demand workbook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87552"/>
          <a:ext cx="53035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70448" y="1051560"/>
            <a:ext cx="2999232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61888" y="1143000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961888" y="166420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segment share of total apparel market (FY24)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70448" y="2331720"/>
            <a:ext cx="2999232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61888" y="2423160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61888" y="294436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segment CAGR FY24–29P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70448" y="3611880"/>
            <a:ext cx="2999232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3703320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61888" y="422452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penetration in value segment today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5760" y="4507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simultaneously the largest, fastest-growing, and least-organised segment. That combination almost never exists.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Doesn’t Shop Where the Stores Are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share vs organised store share by tier  ·  Source: City Level sheet, Demand workbook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87552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18872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E8F8F2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12801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080760" y="1828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+ T4 wallet share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80760" y="2103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India’s total apparel wallet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89320" y="269748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EF0EC"/>
          </a:solidFill>
          <a:ln w="10160">
            <a:solidFill>
              <a:srgbClr val="D85A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27889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080760" y="3337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+ T4 store share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3611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organised apparel stores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507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organised retail industry built stores where the money is not. This misalignment is the demand-supply thesis in one chart.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Didn’t Use a Single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that makes every number in this deck defensible against any pushback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47472" y="1261872"/>
            <a:ext cx="2029968" cy="2999232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3776" y="1389888"/>
            <a:ext cx="402336" cy="402336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" y="19019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395728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19,694 pincodes each mapped to District, State, and Tier (Metro/T1/T2/T3/T4/Rural) from Pincode DB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23744" y="1261872"/>
            <a:ext cx="2029968" cy="2999232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0048" y="1389888"/>
            <a:ext cx="402336" cy="40233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60904" y="19019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GSDP-adjusted MPCE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60904" y="2395728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MPCE from HCES 2023-24 × (District GSDP per capita ÷ State avg GSDP per capita) = Pincode income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0016" y="1261872"/>
            <a:ext cx="2029968" cy="2999232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389888"/>
            <a:ext cx="402336" cy="40233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37176" y="19019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share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37176" y="2395728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Apparel: 5.02–6.2% of MPCE. Footwear: 0.76–1.05%. Applied per pincode for annual wallet estimate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76288" y="1261872"/>
            <a:ext cx="2029968" cy="2999232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22592" y="1389888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13448" y="19019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13448" y="2395728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× Adj. MPCE × 12 months × Category% = Pincode wallet in Crore Rs. Summed to ₹8.68L Cr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4407408"/>
            <a:ext cx="8449056" cy="475488"/>
          </a:xfrm>
          <a:prstGeom prst="roundRect">
            <a:avLst>
              <a:gd name="adj" fmla="val 11538"/>
            </a:avLst>
          </a:prstGeom>
          <a:solidFill>
            <a:srgbClr val="EEF3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453128"/>
            <a:ext cx="8266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19,694 pincodes  ·  HCES 2023-24 + State GSDP data  ·  No Technopak, Euromonitor, or third-party market research  ·  Weighted average reconciles to within 2% of national MPCE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19,694 Pincodes, One Answer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India apparel + footwear wallet at current MPCE  ·  Source: Stores and Wallet sheet, Demand workbook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₹8.68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548640" y="24871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lakh crore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90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total apparel + footwear wallet · At today’s MPCE · Not projected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from 19,694 pincodes. Zero market research estimates used.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1024128"/>
            <a:ext cx="3017520" cy="1170432"/>
          </a:xfrm>
          <a:prstGeom prst="roundRect">
            <a:avLst>
              <a:gd name="adj" fmla="val 6250"/>
            </a:avLst>
          </a:prstGeom>
          <a:solidFill>
            <a:srgbClr val="F0E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1888" y="1115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₹7.24L 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61888" y="159105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(83%)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2304288"/>
            <a:ext cx="3017520" cy="1170432"/>
          </a:xfrm>
          <a:prstGeom prst="roundRect">
            <a:avLst>
              <a:gd name="adj" fmla="val 6250"/>
            </a:avLst>
          </a:prstGeom>
          <a:solidFill>
            <a:srgbClr val="E8F8F2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23957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₹1.44L Cr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61888" y="287121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(17%)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3584448"/>
            <a:ext cx="3017520" cy="1170432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3675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63%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61888" y="415137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Rs.5.47L Cr  |  Rural 37%: Rs.3.21L Cr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Two Players in a Sea of Wallet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brands competing per price segment  ·  Source: Brand Summary, Supply workbook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5303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70448" y="1024128"/>
            <a:ext cx="2999232" cy="1627632"/>
          </a:xfrm>
          <a:prstGeom prst="roundRect">
            <a:avLst>
              <a:gd name="adj" fmla="val 4494"/>
            </a:avLst>
          </a:prstGeom>
          <a:solidFill>
            <a:srgbClr val="F0E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0176" y="111556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980176" y="17190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players in value fashion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0176" y="199339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 with India’s largest apparel wallet has exactly two national competitors.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70448" y="2807208"/>
            <a:ext cx="2999232" cy="1627632"/>
          </a:xfrm>
          <a:prstGeom prst="roundRect">
            <a:avLst>
              <a:gd name="adj" fmla="val 4494"/>
            </a:avLst>
          </a:prstGeom>
          <a:solidFill>
            <a:srgbClr val="FEF0EC"/>
          </a:solidFill>
          <a:ln w="6350">
            <a:solidFill>
              <a:srgbClr val="F5C4B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0176" y="289864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980176" y="35021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compete in premium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0176" y="377647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wallet one-third the size of value. Maximum competition, minimum market.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65760" y="4507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market. Minimum organised competition. In any other industry, we would call this an obvious allocation.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Wear’s Invisible Boundary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stores by segment × city tier  (row-normalised — darker = more stores within that segment)  ·  Source: Brand Summary, Supply workbook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00584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B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85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8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Ethnic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0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C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67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4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A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B9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AE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5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2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0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0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B9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Dept-store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BD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B9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AC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2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0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B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A2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1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5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B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67A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1732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FEF0E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16368" y="15087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Zudio’s white space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516368" y="1901952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T3/T4/Rural: near-zero organised stores nationally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4507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wear — Zudio’s core product — is absent in the exact geographies where wallet is underserved. The product and the white space are the same thing.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₹7.38 Lakh Crore Still Waiting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wallet vs organised revenue by tier (INR Crore)  ·  Source: City Level sheet, Demand workbook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87552"/>
          <a:ext cx="6035040" cy="32735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01968" y="1024128"/>
            <a:ext cx="2267712" cy="3246120"/>
          </a:xfrm>
          <a:prstGeom prst="roundRect">
            <a:avLst>
              <a:gd name="adj" fmla="val 4032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56832" y="118872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6656832" y="230428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India’s apparel wallet flows through unorganised trade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56832" y="30632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4507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structural. Not permanent. Simply because organised retail has not yet reached them. A multi-decade secular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Pincodes. Real Wallets. No Stores.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Pincodes above minimum viable wallet threshold with zero organised stores  ·  Source: Pincode Level 2nd Approach, Supply workbook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87552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16752" y="105156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1247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126480" y="15819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Pincodes above Zudio’s minimum viable wallet with zero organised stores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016752" y="2221992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22951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126480" y="27523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population in these pincodes — real cities, not villages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16752" y="3392424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346557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26480" y="39227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wallets exist right now. No MPCE growth or GDP increase needed.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 Is Not Projected — It’s Today’s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fashion revenue opportunity for Zudio · At current MPCE · Source: Pincode Level 2nd Approach columns M and 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2816352" cy="1645920"/>
          </a:xfrm>
          <a:prstGeom prst="roundRect">
            <a:avLst>
              <a:gd name="adj" fmla="val 5556"/>
            </a:avLst>
          </a:prstGeom>
          <a:solidFill>
            <a:srgbClr val="F0E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325880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₹12,804 Cr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8912" y="202996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Zudio revenue 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232257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estimate · from pincode model column K/M sum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6704" y="1234440"/>
            <a:ext cx="2816352" cy="1645920"/>
          </a:xfrm>
          <a:prstGeom prst="roundRect">
            <a:avLst>
              <a:gd name="adj" fmla="val 5556"/>
            </a:avLst>
          </a:prstGeom>
          <a:solidFill>
            <a:srgbClr val="FAEED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325880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₹88,723 Cr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38144" y="202996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runway identified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38144" y="232257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current MPCE · No growth · Pincode column N sum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45936" y="1234440"/>
            <a:ext cx="2816352" cy="1645920"/>
          </a:xfrm>
          <a:prstGeom prst="roundRect">
            <a:avLst>
              <a:gd name="adj" fmla="val 5556"/>
            </a:avLst>
          </a:prstGeom>
          <a:solidFill>
            <a:srgbClr val="EAF2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325880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02996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gap multiple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37376" y="232257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is 7× current revenue at today’s economics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47472" y="3017520"/>
          <a:ext cx="8449056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and the Model Says It’s Conservative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Zudio store potential at current MPCE · Adjusted for tier revenue haircuts · Source: Summary sheet, Zudio Store Potential workbook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87552"/>
          <a:ext cx="6126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005840"/>
            <a:ext cx="2176272" cy="3273552"/>
          </a:xfrm>
          <a:prstGeom prst="roundRect">
            <a:avLst>
              <a:gd name="adj" fmla="val 4202"/>
            </a:avLst>
          </a:prstGeom>
          <a:solidFill>
            <a:srgbClr val="EAF2FD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84848" y="1188720"/>
            <a:ext cx="2048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7,522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784848" y="197510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84848" y="22677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958 today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84848" y="265176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headroom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84848" y="3090672"/>
            <a:ext cx="2048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assumed. No new consumers. Just the gap that exists today.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IMPLICATIONS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Trent / Zudio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89888"/>
            <a:ext cx="4096512" cy="1572768"/>
          </a:xfrm>
          <a:prstGeom prst="roundRect">
            <a:avLst>
              <a:gd name="adj" fmla="val 5814"/>
            </a:avLst>
          </a:prstGeom>
          <a:solidFill>
            <a:srgbClr val="263070"/>
          </a:solidFill>
          <a:ln w="6350">
            <a:solidFill>
              <a:srgbClr val="3A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9496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expansion story has not peaked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9496" y="21214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7,522 stores of potential vs 958 today. Market absorbs 8× more Zudio stores at current economics. This is a store-addition thesis, not same-store growth.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82312" y="1389888"/>
            <a:ext cx="4096512" cy="1572768"/>
          </a:xfrm>
          <a:prstGeom prst="roundRect">
            <a:avLst>
              <a:gd name="adj" fmla="val 5814"/>
            </a:avLst>
          </a:prstGeom>
          <a:solidFill>
            <a:srgbClr val="263070"/>
          </a:solidFill>
          <a:ln w="6350">
            <a:solidFill>
              <a:srgbClr val="3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499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10328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 compounds in an oligopoly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10328" y="21214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fashion has 2 national players. Every T3 store Zudio opens raises the competitive entry barrier and deepens the brand moat for all subsequent openings.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127248"/>
            <a:ext cx="4096512" cy="1572768"/>
          </a:xfrm>
          <a:prstGeom prst="roundRect">
            <a:avLst>
              <a:gd name="adj" fmla="val 5814"/>
            </a:avLst>
          </a:prstGeom>
          <a:solidFill>
            <a:srgbClr val="263070"/>
          </a:solidFill>
          <a:ln w="6350">
            <a:solidFill>
              <a:srgbClr val="3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3236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" y="3474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potential: ₹88,723 Cr at today’s MPCE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9496" y="38587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current rev/store applied to 7,522 stores the model implies ~Rs.1 lakh crore ceiling. No macroeconomic tailwind embedded in any number.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82312" y="3127248"/>
            <a:ext cx="4096512" cy="1572768"/>
          </a:xfrm>
          <a:prstGeom prst="roundRect">
            <a:avLst>
              <a:gd name="adj" fmla="val 5814"/>
            </a:avLst>
          </a:prstGeom>
          <a:solidFill>
            <a:srgbClr val="263070"/>
          </a:solidFill>
          <a:ln w="6350">
            <a:solidFill>
              <a:srgbClr val="3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3236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10328" y="3474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slow year is a structural position loss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0328" y="38587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without a T3 store is a year unorganised players retain wallet Zudio could own. In a brand-driven oligopoly, early market share compounds.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Answer, Ground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41148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₹8.68L Cr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11680" y="113385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total apparel+footwear wallet at today’s MPCE — built from 19,694 pincodes, no market research used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7739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82880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wallet still flows through unorganised trade — a multi-decade structural opportunity, not a near-term risk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players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52374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nationally in value fashion — the segment with the largest wallet and lowest organised penetration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16382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32186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wallet Zudio captures today — ₹88,723 Cr of runway remains at current economic levels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85876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7,522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391363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of identified potential — 8× current footprint, zero economic growth assumed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590288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26307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268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Zudio expanding too fast? The data says no. It is not expanding fast enough.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Rs.8.68 Lakh Crore Question — Zudio Value Fashion Analysis</dc:title>
  <dc:subject>PptxGenJS Presentation</dc:subject>
  <dc:creator>Bernstein Equity Research</dc:creator>
  <cp:lastModifiedBy>Bernstein Equity Research</cp:lastModifiedBy>
  <cp:revision>1</cp:revision>
  <dcterms:created xsi:type="dcterms:W3CDTF">2026-06-22T11:56:02Z</dcterms:created>
  <dcterms:modified xsi:type="dcterms:W3CDTF">2026-06-22T11:56:02Z</dcterms:modified>
</cp:coreProperties>
</file>