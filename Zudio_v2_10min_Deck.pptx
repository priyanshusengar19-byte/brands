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64748B"/>
                </a:solidFill>
                <a:latin typeface="Arial"/>
              </a:defRPr>
            </a:pPr>
            <a:r>
              <a:rPr sz="900" b="0" i="0" u="none" strike="noStrike">
                <a:solidFill>
                  <a:srgbClr val="64748B"/>
                </a:solidFill>
                <a:latin typeface="Arial"/>
              </a:rPr>
              <a:t>Wallet by city tier (INR Crore)</a:t>
            </a:r>
          </a:p>
        </c:rich>
      </c:tx>
      <c:layout/>
      <c:overlay val="0"/>
    </c:title>
    <c:autoTitleDeleted val="0"/>
    <c:plotArea>
      <c:layout/>
      <c:barChart>
        <c:barDir val="col"/>
        <c:grouping val="clustered"/>
        <c:varyColors val="0"/>
        <c:ser>
          <c:idx val="0"/>
          <c:order val="0"/>
          <c:tx>
            <c:strRef>
              <c:f>Sheet1!$B$1</c:f>
              <c:strCache>
                <c:ptCount val="1"/>
                <c:pt idx="0">
                  <c:v>Wallet (INR Crore)</c:v>
                </c:pt>
              </c:strCache>
            </c:strRef>
          </c:tx>
          <c:spPr>
            <a:solidFill>
              <a:srgbClr val="6D5FD4"/>
            </a:solidFill>
            <a:effectLst/>
          </c:spPr>
          <c:invertIfNegative val="0"/>
          <c:dLbls>
            <c:numFmt formatCode="#,##0" sourceLinked="0"/>
            <c:txPr>
              <a:bodyPr/>
              <a:lstStyle/>
              <a:p>
                <a:pPr>
                  <a:defRPr b="0" i="0" strike="noStrike" sz="850" u="none">
                    <a:solidFill>
                      <a:srgbClr val="64748B"/>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Sheet1!$B$2:$B$7</c:f>
              <c:numCache>
                <c:formatCode>General</c:formatCode>
                <c:ptCount val="6"/>
                <c:pt idx="0">
                  <c:v>190904</c:v>
                </c:pt>
                <c:pt idx="1">
                  <c:v>164893</c:v>
                </c:pt>
                <c:pt idx="2">
                  <c:v>173553</c:v>
                </c:pt>
                <c:pt idx="3">
                  <c:v>156246</c:v>
                </c:pt>
                <c:pt idx="4">
                  <c:v>121487</c:v>
                </c:pt>
                <c:pt idx="5">
                  <c:v>60688</c:v>
                </c:pt>
              </c:numCache>
            </c:numRef>
          </c:val>
        </c:ser>
        <c:dLbls>
          <c:numFmt formatCode="#,##0" sourceLinked="0"/>
          <c:txPr>
            <a:bodyPr/>
            <a:lstStyle/>
            <a:p>
              <a:pPr>
                <a:defRPr b="0" i="0" strike="noStrike" sz="850" u="none">
                  <a:solidFill>
                    <a:srgbClr val="64748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B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64748B"/>
                </a:solidFill>
                <a:latin typeface="Arial"/>
              </a:defRPr>
            </a:pPr>
            <a:r>
              <a:rPr sz="950" b="0" i="0" u="none" strike="noStrike">
                <a:solidFill>
                  <a:srgbClr val="64748B"/>
                </a:solidFill>
                <a:latin typeface="Arial"/>
              </a:rPr>
              <a:t>India apparel market (INR Bn)</a:t>
            </a:r>
          </a:p>
        </c:rich>
      </c:tx>
      <c:layout/>
      <c:overlay val="0"/>
    </c:title>
    <c:autoTitleDeleted val="0"/>
    <c:plotArea>
      <c:layout/>
      <c:barChart>
        <c:barDir val="col"/>
        <c:grouping val="stacked"/>
        <c:varyColors val="0"/>
        <c:ser>
          <c:idx val="0"/>
          <c:order val="0"/>
          <c:tx>
            <c:strRef>
              <c:f>Sheet1!$B$1</c:f>
              <c:strCache>
                <c:ptCount val="1"/>
                <c:pt idx="0">
                  <c:v>Value</c:v>
                </c:pt>
              </c:strCache>
            </c:strRef>
          </c:tx>
          <c:spPr>
            <a:solidFill>
              <a:srgbClr val="6D5F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FY19</c:v>
                  </c:pt>
                  <c:pt idx="1">
                    <c:v>FY24</c:v>
                  </c:pt>
                  <c:pt idx="2">
                    <c:v>FY26E</c:v>
                  </c:pt>
                  <c:pt idx="3">
                    <c:v>FY29P</c:v>
                  </c:pt>
                </c:lvl>
              </c:multiLvlStrCache>
            </c:multiLvlStrRef>
          </c:cat>
          <c:val>
            <c:numRef>
              <c:f>Sheet1!$B$2:$B$5</c:f>
              <c:numCache>
                <c:formatCode>General</c:formatCode>
                <c:ptCount val="4"/>
                <c:pt idx="0">
                  <c:v>2291</c:v>
                </c:pt>
                <c:pt idx="1">
                  <c:v>3541</c:v>
                </c:pt>
                <c:pt idx="2">
                  <c:v>4292</c:v>
                </c:pt>
                <c:pt idx="3">
                  <c:v>5732</c:v>
                </c:pt>
              </c:numCache>
            </c:numRef>
          </c:val>
        </c:ser>
        <c:ser>
          <c:idx val="1"/>
          <c:order val="1"/>
          <c:tx>
            <c:strRef>
              <c:f>Sheet1!$C$1</c:f>
              <c:strCache>
                <c:ptCount val="1"/>
                <c:pt idx="0">
                  <c:v>Mid-market</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FY19</c:v>
                  </c:pt>
                  <c:pt idx="1">
                    <c:v>FY24</c:v>
                  </c:pt>
                  <c:pt idx="2">
                    <c:v>FY26E</c:v>
                  </c:pt>
                  <c:pt idx="3">
                    <c:v>FY29P</c:v>
                  </c:pt>
                </c:lvl>
              </c:multiLvlStrCache>
            </c:multiLvlStrRef>
          </c:cat>
          <c:val>
            <c:numRef>
              <c:f>Sheet1!$C$2:$C$5</c:f>
              <c:numCache>
                <c:formatCode>General</c:formatCode>
                <c:ptCount val="4"/>
                <c:pt idx="0">
                  <c:v>1129</c:v>
                </c:pt>
                <c:pt idx="1">
                  <c:v>1677</c:v>
                </c:pt>
                <c:pt idx="2">
                  <c:v>2107</c:v>
                </c:pt>
                <c:pt idx="3">
                  <c:v>2974</c:v>
                </c:pt>
              </c:numCache>
            </c:numRef>
          </c:val>
        </c:ser>
        <c:ser>
          <c:idx val="2"/>
          <c:order val="2"/>
          <c:tx>
            <c:strRef>
              <c:f>Sheet1!$D$1</c:f>
              <c:strCache>
                <c:ptCount val="1"/>
                <c:pt idx="0">
                  <c:v>Premium</c:v>
                </c:pt>
              </c:strCache>
            </c:strRef>
          </c:tx>
          <c:spPr>
            <a:solidFill>
              <a:srgbClr val="D85A3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FY19</c:v>
                  </c:pt>
                  <c:pt idx="1">
                    <c:v>FY24</c:v>
                  </c:pt>
                  <c:pt idx="2">
                    <c:v>FY26E</c:v>
                  </c:pt>
                  <c:pt idx="3">
                    <c:v>FY29P</c:v>
                  </c:pt>
                </c:lvl>
              </c:multiLvlStrCache>
            </c:multiLvlStrRef>
          </c:cat>
          <c:val>
            <c:numRef>
              <c:f>Sheet1!$D$2:$D$5</c:f>
              <c:numCache>
                <c:formatCode>General</c:formatCode>
                <c:ptCount val="4"/>
                <c:pt idx="0">
                  <c:v>604</c:v>
                </c:pt>
                <c:pt idx="1">
                  <c:v>994</c:v>
                </c:pt>
                <c:pt idx="2">
                  <c:v>1342</c:v>
                </c:pt>
                <c:pt idx="3">
                  <c:v>2109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AFB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wallet (INR Cr)</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Sheet1!$B$2:$B$7</c:f>
              <c:numCache>
                <c:formatCode>General</c:formatCode>
                <c:ptCount val="6"/>
                <c:pt idx="0">
                  <c:v>190904</c:v>
                </c:pt>
                <c:pt idx="1">
                  <c:v>164893</c:v>
                </c:pt>
                <c:pt idx="2">
                  <c:v>173553</c:v>
                </c:pt>
                <c:pt idx="3">
                  <c:v>156246</c:v>
                </c:pt>
                <c:pt idx="4">
                  <c:v>121487</c:v>
                </c:pt>
                <c:pt idx="5">
                  <c:v>60688</c:v>
                </c:pt>
              </c:numCache>
            </c:numRef>
          </c:val>
        </c:ser>
        <c:ser>
          <c:idx val="1"/>
          <c:order val="1"/>
          <c:tx>
            <c:strRef>
              <c:f>Sheet1!$C$1</c:f>
              <c:strCache>
                <c:ptCount val="1"/>
                <c:pt idx="0">
                  <c:v>Organised revenue (INR Cr)</c:v>
                </c:pt>
              </c:strCache>
            </c:strRef>
          </c:tx>
          <c:spPr>
            <a:solidFill>
              <a:srgbClr val="D85A3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Sheet1!$C$2:$C$7</c:f>
              <c:numCache>
                <c:formatCode>General</c:formatCode>
                <c:ptCount val="6"/>
                <c:pt idx="0">
                  <c:v>59180</c:v>
                </c:pt>
                <c:pt idx="1">
                  <c:v>37965</c:v>
                </c:pt>
                <c:pt idx="2">
                  <c:v>31223</c:v>
                </c:pt>
                <c:pt idx="3">
                  <c:v>19311</c:v>
                </c:pt>
                <c:pt idx="4">
                  <c:v>9592</c:v>
                </c:pt>
                <c:pt idx="5">
                  <c:v>3635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AFB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total wallet</c:v>
                </c:pt>
              </c:strCache>
            </c:strRef>
          </c:tx>
          <c:spPr>
            <a:solidFill>
              <a:srgbClr val="0D9488"/>
            </a:solidFill>
            <a:effectLst/>
          </c:spPr>
          <c:invertIfNegative val="0"/>
          <c:dLbls>
            <c:numFmt formatCode="#,##0" sourceLinked="0"/>
            <c:txPr>
              <a:bodyPr/>
              <a:lstStyle/>
              <a:p>
                <a:pPr>
                  <a:defRPr b="0" i="0" strike="noStrike" sz="950" u="none">
                    <a:solidFill>
                      <a:srgbClr val="64748B"/>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Sheet1!$B$2:$B$7</c:f>
              <c:numCache>
                <c:formatCode>General</c:formatCode>
                <c:ptCount val="6"/>
                <c:pt idx="0">
                  <c:v>22</c:v>
                </c:pt>
                <c:pt idx="1">
                  <c:v>19</c:v>
                </c:pt>
                <c:pt idx="2">
                  <c:v>20</c:v>
                </c:pt>
                <c:pt idx="3">
                  <c:v>18</c:v>
                </c:pt>
                <c:pt idx="4">
                  <c:v>14</c:v>
                </c:pt>
                <c:pt idx="5">
                  <c:v>7</c:v>
                </c:pt>
              </c:numCache>
            </c:numRef>
          </c:val>
        </c:ser>
        <c:ser>
          <c:idx val="1"/>
          <c:order val="1"/>
          <c:tx>
            <c:strRef>
              <c:f>Sheet1!$C$1</c:f>
              <c:strCache>
                <c:ptCount val="1"/>
                <c:pt idx="0">
                  <c:v>Share of organised stores</c:v>
                </c:pt>
              </c:strCache>
            </c:strRef>
          </c:tx>
          <c:spPr>
            <a:solidFill>
              <a:srgbClr val="D85A30"/>
            </a:solidFill>
            <a:effectLst/>
          </c:spPr>
          <c:invertIfNegative val="0"/>
          <c:dLbls>
            <c:numFmt formatCode="#,##0" sourceLinked="0"/>
            <c:txPr>
              <a:bodyPr/>
              <a:lstStyle/>
              <a:p>
                <a:pPr>
                  <a:defRPr b="0" i="0" strike="noStrike" sz="950" u="none">
                    <a:solidFill>
                      <a:srgbClr val="64748B"/>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Sheet1!$C$2:$C$7</c:f>
              <c:numCache>
                <c:formatCode>General</c:formatCode>
                <c:ptCount val="6"/>
                <c:pt idx="0">
                  <c:v>36</c:v>
                </c:pt>
                <c:pt idx="1">
                  <c:v>20</c:v>
                </c:pt>
                <c:pt idx="2">
                  <c:v>18</c:v>
                </c:pt>
                <c:pt idx="3">
                  <c:v>13</c:v>
                </c:pt>
                <c:pt idx="4">
                  <c:v>9</c:v>
                </c:pt>
                <c:pt idx="5">
                  <c:v>4</c:v>
                </c:pt>
              </c:numCache>
            </c:numRef>
          </c:val>
        </c:ser>
        <c:dLbls>
          <c:numFmt formatCode="#,##0" sourceLinked="0"/>
          <c:txPr>
            <a:bodyPr/>
            <a:lstStyle/>
            <a:p>
              <a:pPr>
                <a:defRPr b="0" i="0" strike="noStrike" sz="950" u="none">
                  <a:solidFill>
                    <a:srgbClr val="64748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AFB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64748B"/>
                </a:solidFill>
                <a:latin typeface="Arial"/>
              </a:defRPr>
            </a:pPr>
            <a:r>
              <a:rPr sz="900" b="0" i="0" u="none" strike="noStrike">
                <a:solidFill>
                  <a:srgbClr val="64748B"/>
                </a:solidFill>
                <a:latin typeface="Arial"/>
              </a:rPr>
              <a:t>Organised penetration % by tier (Metro 31% → T4 8%)</a:t>
            </a:r>
          </a:p>
        </c:rich>
      </c:tx>
      <c:layout/>
      <c:overlay val="0"/>
    </c:title>
    <c:autoTitleDeleted val="0"/>
    <c:plotArea>
      <c:layout/>
      <c:barChart>
        <c:barDir val="col"/>
        <c:grouping val="clustered"/>
        <c:varyColors val="0"/>
        <c:ser>
          <c:idx val="0"/>
          <c:order val="0"/>
          <c:tx>
            <c:strRef>
              <c:f>Sheet1!$B$1</c:f>
              <c:strCache>
                <c:ptCount val="1"/>
                <c:pt idx="0">
                  <c:v>Organised penetration %</c:v>
                </c:pt>
              </c:strCache>
            </c:strRef>
          </c:tx>
          <c:spPr>
            <a:solidFill>
              <a:srgbClr val="1A56A8"/>
            </a:solidFill>
            <a:effectLst/>
          </c:spPr>
          <c:invertIfNegative val="0"/>
          <c:dLbls>
            <c:numFmt formatCode="#,##0" sourceLinked="0"/>
            <c:txPr>
              <a:bodyPr/>
              <a:lstStyle/>
              <a:p>
                <a:pPr>
                  <a:defRPr b="0" i="0" strike="noStrike" sz="850" u="none">
                    <a:solidFill>
                      <a:srgbClr val="64748B"/>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T4</c:v>
                  </c:pt>
                  <c:pt idx="5">
                    <c:v>Rural</c:v>
                  </c:pt>
                </c:lvl>
              </c:multiLvlStrCache>
            </c:multiLvlStrRef>
          </c:cat>
          <c:val>
            <c:numRef>
              <c:f>Sheet1!$B$2:$B$7</c:f>
              <c:numCache>
                <c:formatCode>General</c:formatCode>
                <c:ptCount val="6"/>
                <c:pt idx="0">
                  <c:v>31</c:v>
                </c:pt>
                <c:pt idx="1">
                  <c:v>23</c:v>
                </c:pt>
                <c:pt idx="2">
                  <c:v>18</c:v>
                </c:pt>
                <c:pt idx="3">
                  <c:v>12</c:v>
                </c:pt>
                <c:pt idx="4">
                  <c:v>8</c:v>
                </c:pt>
                <c:pt idx="5">
                  <c:v>6</c:v>
                </c:pt>
              </c:numCache>
            </c:numRef>
          </c:val>
        </c:ser>
        <c:dLbls>
          <c:numFmt formatCode="#,##0" sourceLinked="0"/>
          <c:txPr>
            <a:bodyPr/>
            <a:lstStyle/>
            <a:p>
              <a:pPr>
                <a:defRPr b="0" i="0" strike="noStrike" sz="850" u="none">
                  <a:solidFill>
                    <a:srgbClr val="64748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B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Store count</c:v>
                </c:pt>
              </c:strCache>
            </c:strRef>
          </c:tx>
          <c:spPr>
            <a:solidFill>
              <a:srgbClr val="1A56A8"/>
            </a:solidFill>
            <a:effectLst/>
          </c:spPr>
          <c:invertIfNegative val="0"/>
          <c:dLbls>
            <c:numFmt formatCode="#,##0" sourceLinked="0"/>
            <c:txPr>
              <a:bodyPr/>
              <a:lstStyle/>
              <a:p>
                <a:pPr>
                  <a:defRPr b="0" i="0" strike="noStrike" sz="900" u="none">
                    <a:solidFill>
                      <a:srgbClr val="64748B"/>
                    </a:solidFill>
                    <a:latin typeface="Arial"/>
                  </a:defRPr>
                </a:pPr>
              </a:p>
            </c:txPr>
            <c:showLegendKey val="0"/>
            <c:showVal val="1"/>
            <c:showCatName val="0"/>
            <c:showSerName val="0"/>
            <c:showPercent val="0"/>
            <c:showBubbleSize val="0"/>
            <c:showLeaderLines val="0"/>
          </c:dLbls>
          <c:dPt>
            <c:idx val="0"/>
            <c:invertIfNegative val="0"/>
            <c:bubble3D val="0"/>
            <c:spPr>
              <a:solidFill>
                <a:srgbClr val="1A56A8"/>
              </a:solidFill>
              <a:effectLst/>
            </c:spPr>
          </c:dPt>
          <c:dPt>
            <c:idx val="1"/>
            <c:invertIfNegative val="0"/>
            <c:bubble3D val="0"/>
            <c:spPr>
              <a:solidFill>
                <a:srgbClr val="0D9488"/>
              </a:solidFill>
              <a:effectLst/>
            </c:spPr>
          </c:dPt>
          <c:dPt>
            <c:idx val="2"/>
            <c:invertIfNegative val="0"/>
            <c:bubble3D val="0"/>
            <c:spPr>
              <a:solidFill>
                <a:srgbClr val="0D9488"/>
              </a:solidFill>
              <a:effectLst/>
            </c:spPr>
          </c:dPt>
          <c:dPt>
            <c:idx val="3"/>
            <c:invertIfNegative val="0"/>
            <c:bubble3D val="0"/>
            <c:spPr>
              <a:solidFill>
                <a:srgbClr val="0D9488"/>
              </a:solidFill>
              <a:effectLst/>
            </c:spPr>
          </c:dPt>
          <c:dPt>
            <c:idx val="4"/>
            <c:invertIfNegative val="0"/>
            <c:bubble3D val="0"/>
            <c:spPr>
              <a:solidFill>
                <a:srgbClr val="6D5FD4"/>
              </a:solidFill>
              <a:effectLst/>
            </c:spPr>
          </c:dPt>
          <c:cat>
            <c:multiLvlStrRef>
              <c:f>Sheet1!$A$2:$A$6</c:f>
              <c:multiLvlStrCache>
                <c:ptCount val="5"/>
                <c:lvl>
                  <c:pt idx="0">
                    <c:v>Current
(958)</c:v>
                  </c:pt>
                  <c:pt idx="1">
                    <c:v>Pin densification
(+191)</c:v>
                  </c:pt>
                  <c:pt idx="2">
                    <c:v>City densification
(+6,229)</c:v>
                  </c:pt>
                  <c:pt idx="3">
                    <c:v>City expansion
(+351)</c:v>
                  </c:pt>
                  <c:pt idx="4">
                    <c:v>Adjusted total
(7,522)</c:v>
                  </c:pt>
                </c:lvl>
              </c:multiLvlStrCache>
            </c:multiLvlStrRef>
          </c:cat>
          <c:val>
            <c:numRef>
              <c:f>Sheet1!$B$2:$B$6</c:f>
              <c:numCache>
                <c:formatCode>General</c:formatCode>
                <c:ptCount val="5"/>
                <c:pt idx="0">
                  <c:v>958</c:v>
                </c:pt>
                <c:pt idx="1">
                  <c:v>191</c:v>
                </c:pt>
                <c:pt idx="2">
                  <c:v>6229</c:v>
                </c:pt>
                <c:pt idx="3">
                  <c:v>351</c:v>
                </c:pt>
                <c:pt idx="4">
                  <c:v>7522</c:v>
                </c:pt>
              </c:numCache>
            </c:numRef>
          </c:val>
        </c:ser>
        <c:dLbls>
          <c:numFmt formatCode="#,##0" sourceLinked="0"/>
          <c:txPr>
            <a:bodyPr/>
            <a:lstStyle/>
            <a:p>
              <a:pPr>
                <a:defRPr b="0" i="0" strike="noStrike" sz="900" u="none">
                  <a:solidFill>
                    <a:srgbClr val="64748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B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explain the deck. Ask the central question: 'What does India's apparel wallet actually look like — and who is capturing it?' Pause. 'Nobody has tried to answer that from the ground up. Until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market report on Indian apparel will tell you the market is 6 lakh crore and growing. What none of them will tell you is which pincode has Rs.80 crore of annual apparel spend and zero organised retail. That's the question that matters for investment. And it has never been answered before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'What makes this analysis different is not the question — everyone wants to know where India's retail opportunity is. What's different is that for the first time, we assembled the three data sources that let you answer it: income at pincode level, category spending shares, and a complete supply census. No one had put these three together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'Eight lakh... sixty-eight thousand... crore rupees.' Three beats. Pause. 'Not a 2030 projection. Not from a market research report. What Indian households spend on apparel and footwear today — calculated from 19,694 pincodes.'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question on this list is something an investor in Indian retail actually needs answered. Top-down TAM estimates cannot answer a single one of them. The ground-up framework can answer all six — from the same underlying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quick — 45 seconds max. The point is: the analytical framework works everywhere, but value fashion is where the stakes are highest. Don't dive into western wear or specific sub-segments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this slide. If someone pushes back on the method say: 'The aggregate output reconciles to within 2% of HCES national data — that's our validation. And at the individual pincode level, we used GSDP data to differentiate income across districts within a state, which is more accurate than using a state-wide average.'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demand side gives us the wallet. The supply side gives us who's already there. The match gives us the gap — at pincode, city, tier, and national level. This is the framework. Now let's look at what it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MOMENT. Click to slide. Count three seconds silently. Then: 'Seven lakh. Thirty-eight thousand. Crore rupees.' Pause. '85% of India's apparel wallet flows through unorganised trade. Today.' Look at the analyst directly. This is the central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inversion tells you two things. One: Metro is over-stored relative to its wallet share. Two: T3 and T4 hold 32% of India's apparel wallet but only 22% of organised stores. The framework reveals where the industry has been and where it hasn't. That gap is not random — it's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'Even in Metro cities — where India's most sophisticated retail exists — 69% of apparel spend still goes through unorganised channels. In T3 and T4, it's over 90%. This is not a story about pockets of opportunity. This is about an entire industry at inning one of its penetration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'Given what the framework shows about India's apparel market — 8.68 lakh crore total wallet, 85% unorganised, T3/T4 massively underserved — where does Zudio actually stand? Rs.12,804 crore in revenue. 958 stores. Capturing 1.5% of the total wallet. Two of those facts are impressive. The third tells you how much room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demand-supply framework produces a precise answer on runway. Rs.88,723 crore of additional revenue at current MPCE. 7,522 stores identified as viable at current economics. Eight times today's 958 stores. And I want to be clear about what's not in this model: no GDP growth, no MPCE increase, no new consumers, no shift in behaviour. Just the gap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the opening: 'What does India's apparel wallet actually look like — and who is capturing it?' Then walk through the five findings. Then the final line. Then stop. Complete silence. Don't add anything. The ending is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766560" y="-914400"/>
            <a:ext cx="4114800" cy="4114800"/>
          </a:xfrm>
          <a:prstGeom prst="ellipse">
            <a:avLst/>
          </a:prstGeom>
          <a:solidFill>
            <a:srgbClr val="243280"/>
          </a:solidFill>
          <a:ln w="12700">
            <a:solidFill>
              <a:srgbClr val="243280"/>
            </a:solidFill>
            <a:prstDash val="solid"/>
          </a:ln>
        </p:spPr>
      </p:sp>
      <p:sp>
        <p:nvSpPr>
          <p:cNvPr id="3" name="Shape 1"/>
          <p:cNvSpPr/>
          <p:nvPr/>
        </p:nvSpPr>
        <p:spPr>
          <a:xfrm>
            <a:off x="7772400" y="3200400"/>
            <a:ext cx="2011680" cy="2011680"/>
          </a:xfrm>
          <a:prstGeom prst="ellipse">
            <a:avLst/>
          </a:prstGeom>
          <a:solidFill>
            <a:srgbClr val="172058"/>
          </a:solidFill>
          <a:ln w="12700">
            <a:solidFill>
              <a:srgbClr val="172058"/>
            </a:solidFill>
            <a:prstDash val="solid"/>
          </a:ln>
        </p:spPr>
      </p:sp>
      <p:sp>
        <p:nvSpPr>
          <p:cNvPr id="4" name="Text 2"/>
          <p:cNvSpPr/>
          <p:nvPr/>
        </p:nvSpPr>
        <p:spPr>
          <a:xfrm>
            <a:off x="457200" y="320040"/>
            <a:ext cx="7772400" cy="228600"/>
          </a:xfrm>
          <a:prstGeom prst="rect">
            <a:avLst/>
          </a:prstGeom>
          <a:noFill/>
          <a:ln/>
        </p:spPr>
        <p:txBody>
          <a:bodyPr wrap="square" rtlCol="0" anchor="ctr"/>
          <a:lstStyle/>
          <a:p>
            <a:pPr indent="0" marL="0">
              <a:buNone/>
            </a:pPr>
            <a:r>
              <a:rPr lang="en-US" sz="850" spc="200" kern="0" dirty="0">
                <a:solidFill>
                  <a:srgbClr val="CADCFC"/>
                </a:solidFill>
                <a:latin typeface="Calibri" pitchFamily="34" charset="0"/>
                <a:ea typeface="Calibri" pitchFamily="34" charset="-122"/>
                <a:cs typeface="Calibri" pitchFamily="34" charset="-120"/>
              </a:rPr>
              <a:t>BERNSTEIN EQUITY RESEARCH  ·  INDIA CONSUMER  ·  JUNE 2026</a:t>
            </a:r>
            <a:endParaRPr lang="en-US" sz="850" dirty="0"/>
          </a:p>
        </p:txBody>
      </p:sp>
      <p:sp>
        <p:nvSpPr>
          <p:cNvPr id="5" name="Text 3"/>
          <p:cNvSpPr/>
          <p:nvPr/>
        </p:nvSpPr>
        <p:spPr>
          <a:xfrm>
            <a:off x="457200" y="777240"/>
            <a:ext cx="7132320" cy="18288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India's Apparel &amp; Fashion Market: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The Analysis That Was Never Done</a:t>
            </a:r>
            <a:endParaRPr lang="en-US" sz="3600" dirty="0"/>
          </a:p>
        </p:txBody>
      </p:sp>
      <p:sp>
        <p:nvSpPr>
          <p:cNvPr id="6" name="Text 4"/>
          <p:cNvSpPr/>
          <p:nvPr/>
        </p:nvSpPr>
        <p:spPr>
          <a:xfrm>
            <a:off x="457200" y="2697480"/>
            <a:ext cx="6858000" cy="45720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ground-up demand-supply framework built from 19,694 pincodes</a:t>
            </a:r>
            <a:endParaRPr lang="en-US" sz="1500" dirty="0"/>
          </a:p>
        </p:txBody>
      </p:sp>
      <p:sp>
        <p:nvSpPr>
          <p:cNvPr id="7" name="Shape 5"/>
          <p:cNvSpPr/>
          <p:nvPr/>
        </p:nvSpPr>
        <p:spPr>
          <a:xfrm>
            <a:off x="457200" y="3273552"/>
            <a:ext cx="3840480" cy="0"/>
          </a:xfrm>
          <a:prstGeom prst="line">
            <a:avLst/>
          </a:prstGeom>
          <a:noFill/>
          <a:ln w="15240">
            <a:solidFill>
              <a:srgbClr val="CADCFC"/>
            </a:solidFill>
            <a:prstDash val="solid"/>
          </a:ln>
        </p:spPr>
      </p:sp>
      <p:sp>
        <p:nvSpPr>
          <p:cNvPr id="8" name="Text 6"/>
          <p:cNvSpPr/>
          <p:nvPr/>
        </p:nvSpPr>
        <p:spPr>
          <a:xfrm>
            <a:off x="457200" y="3401568"/>
            <a:ext cx="7315200" cy="45720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"What does India's apparel wallet really look like — and who is capturing it?"</a:t>
            </a:r>
            <a:endParaRPr lang="en-US" sz="1300" dirty="0"/>
          </a:p>
        </p:txBody>
      </p:sp>
      <p:sp>
        <p:nvSpPr>
          <p:cNvPr id="9" name="Text 7"/>
          <p:cNvSpPr/>
          <p:nvPr/>
        </p:nvSpPr>
        <p:spPr>
          <a:xfrm>
            <a:off x="457200" y="3977640"/>
            <a:ext cx="5486400" cy="2743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[Your Name]  ·  India Consumer Team  ·  June 2026</a:t>
            </a:r>
            <a:endParaRPr lang="en-US" sz="1100" dirty="0"/>
          </a:p>
        </p:txBody>
      </p:sp>
      <p:sp>
        <p:nvSpPr>
          <p:cNvPr id="10" name="Text 8"/>
          <p:cNvSpPr/>
          <p:nvPr/>
        </p:nvSpPr>
        <p:spPr>
          <a:xfrm>
            <a:off x="457200" y="4773168"/>
            <a:ext cx="3657600" cy="201168"/>
          </a:xfrm>
          <a:prstGeom prst="rect">
            <a:avLst/>
          </a:prstGeom>
          <a:noFill/>
          <a:ln/>
        </p:spPr>
        <p:txBody>
          <a:bodyPr wrap="square" rtlCol="0" anchor="ctr"/>
          <a:lstStyle/>
          <a:p>
            <a:pPr indent="0" marL="0">
              <a:buNone/>
            </a:pPr>
            <a:r>
              <a:rPr lang="en-US" sz="900" dirty="0">
                <a:solidFill>
                  <a:srgbClr val="5A6A9A"/>
                </a:solidFill>
                <a:latin typeface="Calibri" pitchFamily="34" charset="0"/>
                <a:ea typeface="Calibri" pitchFamily="34" charset="-122"/>
                <a:cs typeface="Calibri" pitchFamily="34" charset="-120"/>
              </a:rPr>
              <a:t>Confidential  ·  For discussion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rtlCol="0" anchor="ctr"/>
          <a:lstStyle/>
          <a:p>
            <a:pPr indent="0" marL="0">
              <a:buNone/>
            </a:pPr>
            <a:r>
              <a:rPr lang="en-US" sz="850" spc="200" kern="0" dirty="0">
                <a:solidFill>
                  <a:srgbClr val="CADCFC"/>
                </a:solidFill>
                <a:latin typeface="Calibri" pitchFamily="34" charset="0"/>
                <a:ea typeface="Calibri" pitchFamily="34" charset="-122"/>
                <a:cs typeface="Calibri" pitchFamily="34" charset="-120"/>
              </a:rPr>
              <a:t>INTRODUCTION  ·  THE PROBLEM</a:t>
            </a:r>
            <a:endParaRPr lang="en-US" sz="850" dirty="0"/>
          </a:p>
        </p:txBody>
      </p:sp>
      <p:sp>
        <p:nvSpPr>
          <p:cNvPr id="3" name="Text 1"/>
          <p:cNvSpPr/>
          <p:nvPr/>
        </p:nvSpPr>
        <p:spPr>
          <a:xfrm>
            <a:off x="457200" y="566928"/>
            <a:ext cx="822960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Every Investor Is Working With the Wrong Map</a:t>
            </a:r>
            <a:endParaRPr lang="en-US" sz="2800" dirty="0"/>
          </a:p>
        </p:txBody>
      </p:sp>
      <p:sp>
        <p:nvSpPr>
          <p:cNvPr id="4" name="Shape 2"/>
          <p:cNvSpPr/>
          <p:nvPr/>
        </p:nvSpPr>
        <p:spPr>
          <a:xfrm>
            <a:off x="411480" y="1508760"/>
            <a:ext cx="4023360" cy="3337560"/>
          </a:xfrm>
          <a:prstGeom prst="roundRect">
            <a:avLst>
              <a:gd name="adj" fmla="val 2740"/>
            </a:avLst>
          </a:prstGeom>
          <a:solidFill>
            <a:srgbClr val="263070"/>
          </a:solidFill>
          <a:ln w="6350">
            <a:solidFill>
              <a:srgbClr val="3A4A8A"/>
            </a:solidFill>
            <a:prstDash val="solid"/>
          </a:ln>
        </p:spPr>
      </p:sp>
      <p:sp>
        <p:nvSpPr>
          <p:cNvPr id="5" name="Text 3"/>
          <p:cNvSpPr/>
          <p:nvPr/>
        </p:nvSpPr>
        <p:spPr>
          <a:xfrm>
            <a:off x="548640" y="1645920"/>
            <a:ext cx="3749040" cy="274320"/>
          </a:xfrm>
          <a:prstGeom prst="rect">
            <a:avLst/>
          </a:prstGeom>
          <a:noFill/>
          <a:ln/>
        </p:spPr>
        <p:txBody>
          <a:bodyPr wrap="square" lIns="0" tIns="0" rIns="0" bIns="0" rtlCol="0" anchor="ctr"/>
          <a:lstStyle/>
          <a:p>
            <a:pPr indent="0" marL="0">
              <a:buNone/>
            </a:pPr>
            <a:r>
              <a:rPr lang="en-US" sz="950" b="1" spc="100" kern="0" dirty="0">
                <a:solidFill>
                  <a:srgbClr val="CADCFC"/>
                </a:solidFill>
                <a:latin typeface="Calibri" pitchFamily="34" charset="0"/>
                <a:ea typeface="Calibri" pitchFamily="34" charset="-122"/>
                <a:cs typeface="Calibri" pitchFamily="34" charset="-120"/>
              </a:rPr>
              <a:t>THE STANDARD APPROACH</a:t>
            </a:r>
            <a:endParaRPr lang="en-US" sz="950" dirty="0"/>
          </a:p>
        </p:txBody>
      </p:sp>
      <p:sp>
        <p:nvSpPr>
          <p:cNvPr id="6" name="Text 4"/>
          <p:cNvSpPr/>
          <p:nvPr/>
        </p:nvSpPr>
        <p:spPr>
          <a:xfrm>
            <a:off x="548640" y="1938528"/>
            <a:ext cx="3749040" cy="38404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Top-Down TAM Estimation</a:t>
            </a:r>
            <a:endParaRPr lang="en-US" sz="1450" dirty="0"/>
          </a:p>
        </p:txBody>
      </p:sp>
      <p:sp>
        <p:nvSpPr>
          <p:cNvPr id="7" name="Text 5"/>
          <p:cNvSpPr/>
          <p:nvPr/>
        </p:nvSpPr>
        <p:spPr>
          <a:xfrm>
            <a:off x="548640" y="2395728"/>
            <a:ext cx="3749040" cy="38404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GDP × Retail % × Apparel % = Market size</a:t>
            </a:r>
            <a:endParaRPr lang="en-US" sz="1150" dirty="0"/>
          </a:p>
        </p:txBody>
      </p:sp>
      <p:sp>
        <p:nvSpPr>
          <p:cNvPr id="8" name="Text 6"/>
          <p:cNvSpPr/>
          <p:nvPr/>
        </p:nvSpPr>
        <p:spPr>
          <a:xfrm>
            <a:off x="548640" y="2834640"/>
            <a:ext cx="3749040" cy="38404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Apply a growth rate. Segment by premium / value.</a:t>
            </a:r>
            <a:endParaRPr lang="en-US" sz="1150" dirty="0"/>
          </a:p>
        </p:txBody>
      </p:sp>
      <p:sp>
        <p:nvSpPr>
          <p:cNvPr id="9" name="Text 7"/>
          <p:cNvSpPr/>
          <p:nvPr/>
        </p:nvSpPr>
        <p:spPr>
          <a:xfrm>
            <a:off x="548640" y="3273552"/>
            <a:ext cx="3749040" cy="38404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Cite an organised penetration %.</a:t>
            </a:r>
            <a:endParaRPr lang="en-US" sz="1150" dirty="0"/>
          </a:p>
        </p:txBody>
      </p:sp>
      <p:sp>
        <p:nvSpPr>
          <p:cNvPr id="10" name="Text 8"/>
          <p:cNvSpPr/>
          <p:nvPr/>
        </p:nvSpPr>
        <p:spPr>
          <a:xfrm>
            <a:off x="548640" y="3712464"/>
            <a:ext cx="3749040" cy="38404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Done.</a:t>
            </a:r>
            <a:endParaRPr lang="en-US" sz="1150" dirty="0"/>
          </a:p>
        </p:txBody>
      </p:sp>
      <p:sp>
        <p:nvSpPr>
          <p:cNvPr id="11" name="Text 9"/>
          <p:cNvSpPr/>
          <p:nvPr/>
        </p:nvSpPr>
        <p:spPr>
          <a:xfrm>
            <a:off x="548640" y="4279392"/>
            <a:ext cx="3749040" cy="384048"/>
          </a:xfrm>
          <a:prstGeom prst="rect">
            <a:avLst/>
          </a:prstGeom>
          <a:noFill/>
          <a:ln/>
        </p:spPr>
        <p:txBody>
          <a:bodyPr wrap="square" lIns="0" tIns="0" rIns="0" bIns="0" rtlCol="0" anchor="ctr"/>
          <a:lstStyle/>
          <a:p>
            <a:pPr indent="0" marL="0">
              <a:buNone/>
            </a:pPr>
            <a:r>
              <a:rPr lang="en-US" sz="1050" b="1" dirty="0">
                <a:solidFill>
                  <a:srgbClr val="D85A30"/>
                </a:solidFill>
                <a:latin typeface="Calibri" pitchFamily="34" charset="0"/>
                <a:ea typeface="Calibri" pitchFamily="34" charset="-122"/>
                <a:cs typeface="Calibri" pitchFamily="34" charset="-120"/>
              </a:rPr>
              <a:t>This tells you: how big. Not where. Not who. Not how much.</a:t>
            </a:r>
            <a:endParaRPr lang="en-US" sz="1050" dirty="0"/>
          </a:p>
        </p:txBody>
      </p:sp>
      <p:sp>
        <p:nvSpPr>
          <p:cNvPr id="12" name="Shape 10"/>
          <p:cNvSpPr/>
          <p:nvPr/>
        </p:nvSpPr>
        <p:spPr>
          <a:xfrm>
            <a:off x="4663440" y="1508760"/>
            <a:ext cx="4206240" cy="3337560"/>
          </a:xfrm>
          <a:prstGeom prst="roundRect">
            <a:avLst>
              <a:gd name="adj" fmla="val 2740"/>
            </a:avLst>
          </a:prstGeom>
          <a:solidFill>
            <a:srgbClr val="0D3B2E"/>
          </a:solidFill>
          <a:ln w="10160">
            <a:solidFill>
              <a:srgbClr val="1D9E75"/>
            </a:solidFill>
            <a:prstDash val="solid"/>
          </a:ln>
        </p:spPr>
      </p:sp>
      <p:sp>
        <p:nvSpPr>
          <p:cNvPr id="13" name="Text 11"/>
          <p:cNvSpPr/>
          <p:nvPr/>
        </p:nvSpPr>
        <p:spPr>
          <a:xfrm>
            <a:off x="4800600" y="1645920"/>
            <a:ext cx="3931920" cy="274320"/>
          </a:xfrm>
          <a:prstGeom prst="rect">
            <a:avLst/>
          </a:prstGeom>
          <a:noFill/>
          <a:ln/>
        </p:spPr>
        <p:txBody>
          <a:bodyPr wrap="square" lIns="0" tIns="0" rIns="0" bIns="0" rtlCol="0" anchor="ctr"/>
          <a:lstStyle/>
          <a:p>
            <a:pPr indent="0" marL="0">
              <a:buNone/>
            </a:pPr>
            <a:r>
              <a:rPr lang="en-US" sz="950" b="1" spc="100" kern="0" dirty="0">
                <a:solidFill>
                  <a:srgbClr val="6EE7B7"/>
                </a:solidFill>
                <a:latin typeface="Calibri" pitchFamily="34" charset="0"/>
                <a:ea typeface="Calibri" pitchFamily="34" charset="-122"/>
                <a:cs typeface="Calibri" pitchFamily="34" charset="-120"/>
              </a:rPr>
              <a:t>THIS ANALYSIS</a:t>
            </a:r>
            <a:endParaRPr lang="en-US" sz="950" dirty="0"/>
          </a:p>
        </p:txBody>
      </p:sp>
      <p:sp>
        <p:nvSpPr>
          <p:cNvPr id="14" name="Text 12"/>
          <p:cNvSpPr/>
          <p:nvPr/>
        </p:nvSpPr>
        <p:spPr>
          <a:xfrm>
            <a:off x="4800600" y="1938528"/>
            <a:ext cx="3931920" cy="38404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Ground-Up Demand-Supply Match</a:t>
            </a:r>
            <a:endParaRPr lang="en-US" sz="1450" dirty="0"/>
          </a:p>
        </p:txBody>
      </p:sp>
      <p:sp>
        <p:nvSpPr>
          <p:cNvPr id="15" name="Text 13"/>
          <p:cNvSpPr/>
          <p:nvPr/>
        </p:nvSpPr>
        <p:spPr>
          <a:xfrm>
            <a:off x="4800600" y="2395728"/>
            <a:ext cx="3931920" cy="384048"/>
          </a:xfrm>
          <a:prstGeom prst="rect">
            <a:avLst/>
          </a:prstGeom>
          <a:noFill/>
          <a:ln/>
        </p:spPr>
        <p:txBody>
          <a:bodyPr wrap="square" lIns="0" tIns="0" rIns="0" bIns="0" rtlCol="0" anchor="ctr"/>
          <a:lstStyle/>
          <a:p>
            <a:pPr indent="0" marL="0">
              <a:buNone/>
            </a:pPr>
            <a:r>
              <a:rPr lang="en-US" sz="1150" dirty="0">
                <a:solidFill>
                  <a:srgbClr val="A7F3D0"/>
                </a:solidFill>
                <a:latin typeface="Calibri" pitchFamily="34" charset="0"/>
                <a:ea typeface="Calibri" pitchFamily="34" charset="-122"/>
                <a:cs typeface="Calibri" pitchFamily="34" charset="-120"/>
              </a:rPr>
              <a:t>✓  19,694 pincodes → actual income → actual wallet</a:t>
            </a:r>
            <a:endParaRPr lang="en-US" sz="1150" dirty="0"/>
          </a:p>
        </p:txBody>
      </p:sp>
      <p:sp>
        <p:nvSpPr>
          <p:cNvPr id="16" name="Text 14"/>
          <p:cNvSpPr/>
          <p:nvPr/>
        </p:nvSpPr>
        <p:spPr>
          <a:xfrm>
            <a:off x="4800600" y="2834640"/>
            <a:ext cx="3931920" cy="384048"/>
          </a:xfrm>
          <a:prstGeom prst="rect">
            <a:avLst/>
          </a:prstGeom>
          <a:noFill/>
          <a:ln/>
        </p:spPr>
        <p:txBody>
          <a:bodyPr wrap="square" lIns="0" tIns="0" rIns="0" bIns="0" rtlCol="0" anchor="ctr"/>
          <a:lstStyle/>
          <a:p>
            <a:pPr indent="0" marL="0">
              <a:buNone/>
            </a:pPr>
            <a:r>
              <a:rPr lang="en-US" sz="1150" dirty="0">
                <a:solidFill>
                  <a:srgbClr val="A7F3D0"/>
                </a:solidFill>
                <a:latin typeface="Calibri" pitchFamily="34" charset="0"/>
                <a:ea typeface="Calibri" pitchFamily="34" charset="-122"/>
                <a:cs typeface="Calibri" pitchFamily="34" charset="-120"/>
              </a:rPr>
              <a:t>✓  GSDP-adjusted MPCE per pincode from first principles</a:t>
            </a:r>
            <a:endParaRPr lang="en-US" sz="1150" dirty="0"/>
          </a:p>
        </p:txBody>
      </p:sp>
      <p:sp>
        <p:nvSpPr>
          <p:cNvPr id="17" name="Text 15"/>
          <p:cNvSpPr/>
          <p:nvPr/>
        </p:nvSpPr>
        <p:spPr>
          <a:xfrm>
            <a:off x="4800600" y="3273552"/>
            <a:ext cx="3931920" cy="384048"/>
          </a:xfrm>
          <a:prstGeom prst="rect">
            <a:avLst/>
          </a:prstGeom>
          <a:noFill/>
          <a:ln/>
        </p:spPr>
        <p:txBody>
          <a:bodyPr wrap="square" lIns="0" tIns="0" rIns="0" bIns="0" rtlCol="0" anchor="ctr"/>
          <a:lstStyle/>
          <a:p>
            <a:pPr indent="0" marL="0">
              <a:buNone/>
            </a:pPr>
            <a:r>
              <a:rPr lang="en-US" sz="1150" dirty="0">
                <a:solidFill>
                  <a:srgbClr val="A7F3D0"/>
                </a:solidFill>
                <a:latin typeface="Calibri" pitchFamily="34" charset="0"/>
                <a:ea typeface="Calibri" pitchFamily="34" charset="-122"/>
                <a:cs typeface="Calibri" pitchFamily="34" charset="-120"/>
              </a:rPr>
              <a:t>✓  Complete supply census: every organised store mapped</a:t>
            </a:r>
            <a:endParaRPr lang="en-US" sz="1150" dirty="0"/>
          </a:p>
        </p:txBody>
      </p:sp>
      <p:sp>
        <p:nvSpPr>
          <p:cNvPr id="18" name="Text 16"/>
          <p:cNvSpPr/>
          <p:nvPr/>
        </p:nvSpPr>
        <p:spPr>
          <a:xfrm>
            <a:off x="4800600" y="3712464"/>
            <a:ext cx="3931920" cy="384048"/>
          </a:xfrm>
          <a:prstGeom prst="rect">
            <a:avLst/>
          </a:prstGeom>
          <a:noFill/>
          <a:ln/>
        </p:spPr>
        <p:txBody>
          <a:bodyPr wrap="square" lIns="0" tIns="0" rIns="0" bIns="0" rtlCol="0" anchor="ctr"/>
          <a:lstStyle/>
          <a:p>
            <a:pPr indent="0" marL="0">
              <a:buNone/>
            </a:pPr>
            <a:r>
              <a:rPr lang="en-US" sz="1150" dirty="0">
                <a:solidFill>
                  <a:srgbClr val="A7F3D0"/>
                </a:solidFill>
                <a:latin typeface="Calibri" pitchFamily="34" charset="0"/>
                <a:ea typeface="Calibri" pitchFamily="34" charset="-122"/>
                <a:cs typeface="Calibri" pitchFamily="34" charset="-120"/>
              </a:rPr>
              <a:t>✓  Demand ↔ Supply matched at pincode, city, tier level</a:t>
            </a:r>
            <a:endParaRPr lang="en-US" sz="1150" dirty="0"/>
          </a:p>
        </p:txBody>
      </p:sp>
      <p:sp>
        <p:nvSpPr>
          <p:cNvPr id="19" name="Text 17"/>
          <p:cNvSpPr/>
          <p:nvPr/>
        </p:nvSpPr>
        <p:spPr>
          <a:xfrm>
            <a:off x="4800600" y="4279392"/>
            <a:ext cx="3931920" cy="384048"/>
          </a:xfrm>
          <a:prstGeom prst="rect">
            <a:avLst/>
          </a:prstGeom>
          <a:noFill/>
          <a:ln/>
        </p:spPr>
        <p:txBody>
          <a:bodyPr wrap="square" lIns="0" tIns="0" rIns="0" bIns="0" rtlCol="0" anchor="ctr"/>
          <a:lstStyle/>
          <a:p>
            <a:pPr indent="0" marL="0">
              <a:buNone/>
            </a:pPr>
            <a:r>
              <a:rPr lang="en-US" sz="1050" b="1" dirty="0">
                <a:solidFill>
                  <a:srgbClr val="6EE7B7"/>
                </a:solidFill>
                <a:latin typeface="Calibri" pitchFamily="34" charset="0"/>
                <a:ea typeface="Calibri" pitchFamily="34" charset="-122"/>
                <a:cs typeface="Calibri" pitchFamily="34" charset="-120"/>
              </a:rPr>
              <a:t>This tells you: exactly where the gap is. In rupees.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The Analysis India’s Fashion Market Never Had</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WHAT  ·  A first-principles demand-supply framework for Indian apparel &amp; fashion retail</a:t>
            </a:r>
            <a:endParaRPr lang="en-US" sz="950" dirty="0"/>
          </a:p>
        </p:txBody>
      </p:sp>
      <p:sp>
        <p:nvSpPr>
          <p:cNvPr id="4" name="Shape 2"/>
          <p:cNvSpPr/>
          <p:nvPr/>
        </p:nvSpPr>
        <p:spPr>
          <a:xfrm>
            <a:off x="347472" y="1143000"/>
            <a:ext cx="2057400" cy="3200400"/>
          </a:xfrm>
          <a:prstGeom prst="roundRect">
            <a:avLst>
              <a:gd name="adj" fmla="val 4444"/>
            </a:avLst>
          </a:prstGeom>
          <a:solidFill>
            <a:srgbClr val="F0EFFF"/>
          </a:solidFill>
          <a:ln w="7620">
            <a:solidFill>
              <a:srgbClr val="C4BDFF"/>
            </a:solidFill>
            <a:prstDash val="solid"/>
          </a:ln>
          <a:effectLst>
            <a:outerShdw sx="100000" sy="100000" kx="0" ky="0" algn="bl" rotWithShape="0" blurRad="63500" dist="25400" dir="5400000">
              <a:srgbClr val="000000">
                <a:alpha val="7000"/>
              </a:srgbClr>
            </a:outerShdw>
          </a:effectLst>
        </p:spPr>
      </p:sp>
      <p:sp>
        <p:nvSpPr>
          <p:cNvPr id="5" name="Shape 3"/>
          <p:cNvSpPr/>
          <p:nvPr/>
        </p:nvSpPr>
        <p:spPr>
          <a:xfrm>
            <a:off x="484632" y="1280160"/>
            <a:ext cx="475488" cy="475488"/>
          </a:xfrm>
          <a:prstGeom prst="ellipse">
            <a:avLst/>
          </a:prstGeom>
          <a:solidFill>
            <a:srgbClr val="6D5FD4"/>
          </a:solidFill>
          <a:ln w="12700">
            <a:solidFill>
              <a:srgbClr val="6D5FD4"/>
            </a:solidFill>
            <a:prstDash val="solid"/>
          </a:ln>
        </p:spPr>
      </p:sp>
      <p:sp>
        <p:nvSpPr>
          <p:cNvPr id="6" name="Text 4"/>
          <p:cNvSpPr/>
          <p:nvPr/>
        </p:nvSpPr>
        <p:spPr>
          <a:xfrm>
            <a:off x="484632" y="1280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7" name="Text 5"/>
          <p:cNvSpPr/>
          <p:nvPr/>
        </p:nvSpPr>
        <p:spPr>
          <a:xfrm>
            <a:off x="475488" y="1874520"/>
            <a:ext cx="182880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Demand Mapping</a:t>
            </a:r>
            <a:endParaRPr lang="en-US" sz="1250" dirty="0"/>
          </a:p>
        </p:txBody>
      </p:sp>
      <p:sp>
        <p:nvSpPr>
          <p:cNvPr id="8" name="Text 6"/>
          <p:cNvSpPr/>
          <p:nvPr/>
        </p:nvSpPr>
        <p:spPr>
          <a:xfrm>
            <a:off x="475488" y="2395728"/>
            <a:ext cx="1828800" cy="1828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Actual apparel wallet per pincode — calculated from GSDP-adjusted MPCE, not estimated from report benchmarks.</a:t>
            </a:r>
            <a:endParaRPr lang="en-US" sz="1000" dirty="0"/>
          </a:p>
        </p:txBody>
      </p:sp>
      <p:sp>
        <p:nvSpPr>
          <p:cNvPr id="9" name="Shape 7"/>
          <p:cNvSpPr/>
          <p:nvPr/>
        </p:nvSpPr>
        <p:spPr>
          <a:xfrm>
            <a:off x="2542032" y="1143000"/>
            <a:ext cx="2057400" cy="3200400"/>
          </a:xfrm>
          <a:prstGeom prst="roundRect">
            <a:avLst>
              <a:gd name="adj" fmla="val 4444"/>
            </a:avLst>
          </a:prstGeom>
          <a:solidFill>
            <a:srgbClr val="E6FAF8"/>
          </a:solidFill>
          <a:ln w="7620">
            <a:solidFill>
              <a:srgbClr val="9FE1CB"/>
            </a:solidFill>
            <a:prstDash val="solid"/>
          </a:ln>
          <a:effectLst>
            <a:outerShdw sx="100000" sy="100000" kx="0" ky="0" algn="bl" rotWithShape="0" blurRad="63500" dist="25400" dir="5400000">
              <a:srgbClr val="000000">
                <a:alpha val="7000"/>
              </a:srgbClr>
            </a:outerShdw>
          </a:effectLst>
        </p:spPr>
      </p:sp>
      <p:sp>
        <p:nvSpPr>
          <p:cNvPr id="10" name="Shape 8"/>
          <p:cNvSpPr/>
          <p:nvPr/>
        </p:nvSpPr>
        <p:spPr>
          <a:xfrm>
            <a:off x="2679192" y="1280160"/>
            <a:ext cx="475488" cy="475488"/>
          </a:xfrm>
          <a:prstGeom prst="ellipse">
            <a:avLst/>
          </a:prstGeom>
          <a:solidFill>
            <a:srgbClr val="0D9488"/>
          </a:solidFill>
          <a:ln w="12700">
            <a:solidFill>
              <a:srgbClr val="0D9488"/>
            </a:solidFill>
            <a:prstDash val="solid"/>
          </a:ln>
        </p:spPr>
      </p:sp>
      <p:sp>
        <p:nvSpPr>
          <p:cNvPr id="11" name="Text 9"/>
          <p:cNvSpPr/>
          <p:nvPr/>
        </p:nvSpPr>
        <p:spPr>
          <a:xfrm>
            <a:off x="2679192" y="1280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2" name="Text 10"/>
          <p:cNvSpPr/>
          <p:nvPr/>
        </p:nvSpPr>
        <p:spPr>
          <a:xfrm>
            <a:off x="2670048" y="1874520"/>
            <a:ext cx="182880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Supply Census</a:t>
            </a:r>
            <a:endParaRPr lang="en-US" sz="1250" dirty="0"/>
          </a:p>
        </p:txBody>
      </p:sp>
      <p:sp>
        <p:nvSpPr>
          <p:cNvPr id="13" name="Text 11"/>
          <p:cNvSpPr/>
          <p:nvPr/>
        </p:nvSpPr>
        <p:spPr>
          <a:xfrm>
            <a:off x="2670048" y="2395728"/>
            <a:ext cx="1828800" cy="1828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Complete mapping of organised retail store presence: brand, tier, pincode, segment — scraped and structured.</a:t>
            </a:r>
            <a:endParaRPr lang="en-US" sz="1000" dirty="0"/>
          </a:p>
        </p:txBody>
      </p:sp>
      <p:sp>
        <p:nvSpPr>
          <p:cNvPr id="14" name="Shape 12"/>
          <p:cNvSpPr/>
          <p:nvPr/>
        </p:nvSpPr>
        <p:spPr>
          <a:xfrm>
            <a:off x="4736592" y="1143000"/>
            <a:ext cx="2057400" cy="3200400"/>
          </a:xfrm>
          <a:prstGeom prst="roundRect">
            <a:avLst>
              <a:gd name="adj" fmla="val 4444"/>
            </a:avLst>
          </a:prstGeom>
          <a:solidFill>
            <a:srgbClr val="EAF2FD"/>
          </a:solidFill>
          <a:ln w="7620">
            <a:solidFill>
              <a:srgbClr val="B5D4F4"/>
            </a:solidFill>
            <a:prstDash val="solid"/>
          </a:ln>
          <a:effectLst>
            <a:outerShdw sx="100000" sy="100000" kx="0" ky="0" algn="bl" rotWithShape="0" blurRad="63500" dist="25400" dir="5400000">
              <a:srgbClr val="000000">
                <a:alpha val="7000"/>
              </a:srgbClr>
            </a:outerShdw>
          </a:effectLst>
        </p:spPr>
      </p:sp>
      <p:sp>
        <p:nvSpPr>
          <p:cNvPr id="15" name="Shape 13"/>
          <p:cNvSpPr/>
          <p:nvPr/>
        </p:nvSpPr>
        <p:spPr>
          <a:xfrm>
            <a:off x="4873752" y="1280160"/>
            <a:ext cx="475488" cy="475488"/>
          </a:xfrm>
          <a:prstGeom prst="ellipse">
            <a:avLst/>
          </a:prstGeom>
          <a:solidFill>
            <a:srgbClr val="1A56A8"/>
          </a:solidFill>
          <a:ln w="12700">
            <a:solidFill>
              <a:srgbClr val="1A56A8"/>
            </a:solidFill>
            <a:prstDash val="solid"/>
          </a:ln>
        </p:spPr>
      </p:sp>
      <p:sp>
        <p:nvSpPr>
          <p:cNvPr id="16" name="Text 14"/>
          <p:cNvSpPr/>
          <p:nvPr/>
        </p:nvSpPr>
        <p:spPr>
          <a:xfrm>
            <a:off x="4873752" y="1280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
            </a:r>
            <a:endParaRPr lang="en-US" sz="1400" dirty="0"/>
          </a:p>
        </p:txBody>
      </p:sp>
      <p:sp>
        <p:nvSpPr>
          <p:cNvPr id="17" name="Text 15"/>
          <p:cNvSpPr/>
          <p:nvPr/>
        </p:nvSpPr>
        <p:spPr>
          <a:xfrm>
            <a:off x="4864608" y="1874520"/>
            <a:ext cx="182880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Demand-Supply Match</a:t>
            </a:r>
            <a:endParaRPr lang="en-US" sz="1250" dirty="0"/>
          </a:p>
        </p:txBody>
      </p:sp>
      <p:sp>
        <p:nvSpPr>
          <p:cNvPr id="18" name="Text 16"/>
          <p:cNvSpPr/>
          <p:nvPr/>
        </p:nvSpPr>
        <p:spPr>
          <a:xfrm>
            <a:off x="4864608" y="2395728"/>
            <a:ext cx="1828800" cy="1828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Every pincode matched: How much wallet exists? How much is organised retail capturing? What is the gap?</a:t>
            </a:r>
            <a:endParaRPr lang="en-US" sz="1000" dirty="0"/>
          </a:p>
        </p:txBody>
      </p:sp>
      <p:sp>
        <p:nvSpPr>
          <p:cNvPr id="19" name="Shape 17"/>
          <p:cNvSpPr/>
          <p:nvPr/>
        </p:nvSpPr>
        <p:spPr>
          <a:xfrm>
            <a:off x="6931152" y="1143000"/>
            <a:ext cx="2057400" cy="3200400"/>
          </a:xfrm>
          <a:prstGeom prst="roundRect">
            <a:avLst>
              <a:gd name="adj" fmla="val 4444"/>
            </a:avLst>
          </a:prstGeom>
          <a:solidFill>
            <a:srgbClr val="FEF4E6"/>
          </a:solidFill>
          <a:ln w="7620">
            <a:solidFill>
              <a:srgbClr val="F7C97C"/>
            </a:solidFill>
            <a:prstDash val="solid"/>
          </a:ln>
          <a:effectLst>
            <a:outerShdw sx="100000" sy="100000" kx="0" ky="0" algn="bl" rotWithShape="0" blurRad="63500" dist="25400" dir="5400000">
              <a:srgbClr val="000000">
                <a:alpha val="7000"/>
              </a:srgbClr>
            </a:outerShdw>
          </a:effectLst>
        </p:spPr>
      </p:sp>
      <p:sp>
        <p:nvSpPr>
          <p:cNvPr id="20" name="Shape 18"/>
          <p:cNvSpPr/>
          <p:nvPr/>
        </p:nvSpPr>
        <p:spPr>
          <a:xfrm>
            <a:off x="7068312" y="1280160"/>
            <a:ext cx="475488" cy="475488"/>
          </a:xfrm>
          <a:prstGeom prst="ellipse">
            <a:avLst/>
          </a:prstGeom>
          <a:solidFill>
            <a:srgbClr val="BA7517"/>
          </a:solidFill>
          <a:ln w="12700">
            <a:solidFill>
              <a:srgbClr val="BA7517"/>
            </a:solidFill>
            <a:prstDash val="solid"/>
          </a:ln>
        </p:spPr>
      </p:sp>
      <p:sp>
        <p:nvSpPr>
          <p:cNvPr id="21" name="Text 19"/>
          <p:cNvSpPr/>
          <p:nvPr/>
        </p:nvSpPr>
        <p:spPr>
          <a:xfrm>
            <a:off x="7068312" y="1280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2" name="Text 20"/>
          <p:cNvSpPr/>
          <p:nvPr/>
        </p:nvSpPr>
        <p:spPr>
          <a:xfrm>
            <a:off x="7059168" y="1874520"/>
            <a:ext cx="182880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Investment Output</a:t>
            </a:r>
            <a:endParaRPr lang="en-US" sz="1250" dirty="0"/>
          </a:p>
        </p:txBody>
      </p:sp>
      <p:sp>
        <p:nvSpPr>
          <p:cNvPr id="23" name="Text 21"/>
          <p:cNvSpPr/>
          <p:nvPr/>
        </p:nvSpPr>
        <p:spPr>
          <a:xfrm>
            <a:off x="7059168" y="2395728"/>
            <a:ext cx="1828800" cy="1828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Not a market report. An investment-grade answer to: where is the white space, how large is it, and who can capture it?</a:t>
            </a:r>
            <a:endParaRPr lang="en-US" sz="1000" dirty="0"/>
          </a:p>
        </p:txBody>
      </p:sp>
      <p:sp>
        <p:nvSpPr>
          <p:cNvPr id="24" name="Shape 22"/>
          <p:cNvSpPr/>
          <p:nvPr/>
        </p:nvSpPr>
        <p:spPr>
          <a:xfrm>
            <a:off x="347472" y="4462272"/>
            <a:ext cx="8449056" cy="457200"/>
          </a:xfrm>
          <a:prstGeom prst="roundRect">
            <a:avLst>
              <a:gd name="adj" fmla="val 12000"/>
            </a:avLst>
          </a:prstGeom>
          <a:solidFill>
            <a:srgbClr val="EEF3FF"/>
          </a:solidFill>
          <a:ln w="5080">
            <a:solidFill>
              <a:srgbClr val="CADCFC"/>
            </a:solidFill>
            <a:prstDash val="solid"/>
          </a:ln>
        </p:spPr>
      </p:sp>
      <p:sp>
        <p:nvSpPr>
          <p:cNvPr id="25" name="Text 23"/>
          <p:cNvSpPr/>
          <p:nvPr/>
        </p:nvSpPr>
        <p:spPr>
          <a:xfrm>
            <a:off x="475488" y="4507992"/>
            <a:ext cx="8229600" cy="347472"/>
          </a:xfrm>
          <a:prstGeom prst="rect">
            <a:avLst/>
          </a:prstGeom>
          <a:noFill/>
          <a:ln/>
        </p:spPr>
        <p:txBody>
          <a:bodyPr wrap="square" rtlCol="0" anchor="ctr"/>
          <a:lstStyle/>
          <a:p>
            <a:pPr algn="ctr" indent="0" marL="0">
              <a:buNone/>
            </a:pPr>
            <a:r>
              <a:rPr lang="en-US" sz="950" dirty="0">
                <a:solidFill>
                  <a:srgbClr val="1E2761"/>
                </a:solidFill>
                <a:latin typeface="Calibri" pitchFamily="34" charset="0"/>
                <a:ea typeface="Calibri" pitchFamily="34" charset="-122"/>
                <a:cs typeface="Calibri" pitchFamily="34" charset="-120"/>
              </a:rPr>
              <a:t>Why never done before: demand data (HCES) lived in one place, GSDP district data in another, store-level supply data in none. This project assembled all three for the first time.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₹8.68 Lakh Crore — India’s True Apparel &amp; Fashion Wallet</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WHAT  ·  Total annual wallet across 19,694 pincodes at current MPCE  ·  Source: Stores and Wallet sheet, Demand workbook</a:t>
            </a:r>
            <a:endParaRPr lang="en-US" sz="950" dirty="0"/>
          </a:p>
        </p:txBody>
      </p:sp>
      <p:sp>
        <p:nvSpPr>
          <p:cNvPr id="4" name="Text 2"/>
          <p:cNvSpPr/>
          <p:nvPr/>
        </p:nvSpPr>
        <p:spPr>
          <a:xfrm>
            <a:off x="411480" y="868680"/>
            <a:ext cx="5029200" cy="1554480"/>
          </a:xfrm>
          <a:prstGeom prst="rect">
            <a:avLst/>
          </a:prstGeom>
          <a:noFill/>
          <a:ln/>
        </p:spPr>
        <p:txBody>
          <a:bodyPr wrap="square" lIns="0" tIns="0" rIns="0" bIns="0" rtlCol="0" anchor="ctr"/>
          <a:lstStyle/>
          <a:p>
            <a:pPr indent="0" marL="0">
              <a:buNone/>
            </a:pPr>
            <a:r>
              <a:rPr lang="en-US" sz="8000" b="1" dirty="0">
                <a:solidFill>
                  <a:srgbClr val="1E2761"/>
                </a:solidFill>
                <a:latin typeface="Calibri" pitchFamily="34" charset="0"/>
                <a:ea typeface="Calibri" pitchFamily="34" charset="-122"/>
                <a:cs typeface="Calibri" pitchFamily="34" charset="-120"/>
              </a:rPr>
              <a:t>₹8.68</a:t>
            </a:r>
            <a:endParaRPr lang="en-US" sz="8000" dirty="0"/>
          </a:p>
        </p:txBody>
      </p:sp>
      <p:sp>
        <p:nvSpPr>
          <p:cNvPr id="5" name="Text 3"/>
          <p:cNvSpPr/>
          <p:nvPr/>
        </p:nvSpPr>
        <p:spPr>
          <a:xfrm>
            <a:off x="411480" y="2395728"/>
            <a:ext cx="5029200" cy="530352"/>
          </a:xfrm>
          <a:prstGeom prst="rect">
            <a:avLst/>
          </a:prstGeom>
          <a:noFill/>
          <a:ln/>
        </p:spPr>
        <p:txBody>
          <a:bodyPr wrap="square" lIns="0" tIns="0" rIns="0" bIns="0" rtlCol="0" anchor="ctr"/>
          <a:lstStyle/>
          <a:p>
            <a:pPr indent="0" marL="0">
              <a:buNone/>
            </a:pPr>
            <a:r>
              <a:rPr lang="en-US" sz="2200" dirty="0">
                <a:solidFill>
                  <a:srgbClr val="64748B"/>
                </a:solidFill>
                <a:latin typeface="Calibri" pitchFamily="34" charset="0"/>
                <a:ea typeface="Calibri" pitchFamily="34" charset="-122"/>
                <a:cs typeface="Calibri" pitchFamily="34" charset="-120"/>
              </a:rPr>
              <a:t>lakh crore</a:t>
            </a:r>
            <a:endParaRPr lang="en-US" sz="2200" dirty="0"/>
          </a:p>
        </p:txBody>
      </p:sp>
      <p:sp>
        <p:nvSpPr>
          <p:cNvPr id="6" name="Text 4"/>
          <p:cNvSpPr/>
          <p:nvPr/>
        </p:nvSpPr>
        <p:spPr>
          <a:xfrm>
            <a:off x="411480" y="2999232"/>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India’s total annual apparel + footwear wallet  ·  At today’s MPCE</a:t>
            </a:r>
            <a:endParaRPr lang="en-US" sz="1150" dirty="0"/>
          </a:p>
        </p:txBody>
      </p:sp>
      <p:sp>
        <p:nvSpPr>
          <p:cNvPr id="7" name="Text 5"/>
          <p:cNvSpPr/>
          <p:nvPr/>
        </p:nvSpPr>
        <p:spPr>
          <a:xfrm>
            <a:off x="411480" y="3337560"/>
            <a:ext cx="50292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Not projected. Calculated from first principles across 19,694 pincodes.</a:t>
            </a:r>
            <a:endParaRPr lang="en-US" sz="1100" dirty="0"/>
          </a:p>
        </p:txBody>
      </p:sp>
      <p:graphicFrame>
        <p:nvGraphicFramePr>
          <p:cNvPr id="8" name="Chart 0" descr=""/>
          <p:cNvGraphicFramePr/>
          <p:nvPr/>
        </p:nvGraphicFramePr>
        <p:xfrm>
          <a:off x="411480" y="3703320"/>
          <a:ext cx="5120640" cy="11887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760720" y="960120"/>
            <a:ext cx="3127248" cy="868680"/>
          </a:xfrm>
          <a:prstGeom prst="roundRect">
            <a:avLst>
              <a:gd name="adj" fmla="val 8421"/>
            </a:avLst>
          </a:prstGeom>
          <a:solidFill>
            <a:srgbClr val="F0EFFF"/>
          </a:solidFill>
          <a:ln w="6350">
            <a:solidFill>
              <a:srgbClr val="C4BDFF"/>
            </a:solidFill>
            <a:prstDash val="solid"/>
          </a:ln>
        </p:spPr>
      </p:sp>
      <p:sp>
        <p:nvSpPr>
          <p:cNvPr id="10" name="Text 7"/>
          <p:cNvSpPr/>
          <p:nvPr/>
        </p:nvSpPr>
        <p:spPr>
          <a:xfrm>
            <a:off x="5870448" y="1024128"/>
            <a:ext cx="2926080" cy="411480"/>
          </a:xfrm>
          <a:prstGeom prst="rect">
            <a:avLst/>
          </a:prstGeom>
          <a:noFill/>
          <a:ln/>
        </p:spPr>
        <p:txBody>
          <a:bodyPr wrap="square" lIns="0" tIns="0" rIns="0" bIns="0" rtlCol="0" anchor="ctr"/>
          <a:lstStyle/>
          <a:p>
            <a:pPr indent="0" marL="0">
              <a:buNone/>
            </a:pPr>
            <a:r>
              <a:rPr lang="en-US" sz="1900" b="1" dirty="0">
                <a:solidFill>
                  <a:srgbClr val="6D5FD4"/>
                </a:solidFill>
                <a:latin typeface="Calibri" pitchFamily="34" charset="0"/>
                <a:ea typeface="Calibri" pitchFamily="34" charset="-122"/>
                <a:cs typeface="Calibri" pitchFamily="34" charset="-120"/>
              </a:rPr>
              <a:t>₹7.24L Cr</a:t>
            </a:r>
            <a:endParaRPr lang="en-US" sz="1900" dirty="0"/>
          </a:p>
        </p:txBody>
      </p:sp>
      <p:sp>
        <p:nvSpPr>
          <p:cNvPr id="11" name="Text 8"/>
          <p:cNvSpPr/>
          <p:nvPr/>
        </p:nvSpPr>
        <p:spPr>
          <a:xfrm>
            <a:off x="5870448" y="1417320"/>
            <a:ext cx="2926080"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Apparel wallet  ·  83% of total</a:t>
            </a:r>
            <a:endParaRPr lang="en-US" sz="950" dirty="0"/>
          </a:p>
        </p:txBody>
      </p:sp>
      <p:sp>
        <p:nvSpPr>
          <p:cNvPr id="12" name="Shape 9"/>
          <p:cNvSpPr/>
          <p:nvPr/>
        </p:nvSpPr>
        <p:spPr>
          <a:xfrm>
            <a:off x="5760720" y="1947672"/>
            <a:ext cx="3127248" cy="868680"/>
          </a:xfrm>
          <a:prstGeom prst="roundRect">
            <a:avLst>
              <a:gd name="adj" fmla="val 8421"/>
            </a:avLst>
          </a:prstGeom>
          <a:solidFill>
            <a:srgbClr val="E6FAF8"/>
          </a:solidFill>
          <a:ln w="6350">
            <a:solidFill>
              <a:srgbClr val="9FE1CB"/>
            </a:solidFill>
            <a:prstDash val="solid"/>
          </a:ln>
        </p:spPr>
      </p:sp>
      <p:sp>
        <p:nvSpPr>
          <p:cNvPr id="13" name="Text 10"/>
          <p:cNvSpPr/>
          <p:nvPr/>
        </p:nvSpPr>
        <p:spPr>
          <a:xfrm>
            <a:off x="5870448" y="2011680"/>
            <a:ext cx="2926080" cy="411480"/>
          </a:xfrm>
          <a:prstGeom prst="rect">
            <a:avLst/>
          </a:prstGeom>
          <a:noFill/>
          <a:ln/>
        </p:spPr>
        <p:txBody>
          <a:bodyPr wrap="square" lIns="0" tIns="0" rIns="0" bIns="0" rtlCol="0" anchor="ctr"/>
          <a:lstStyle/>
          <a:p>
            <a:pPr indent="0" marL="0">
              <a:buNone/>
            </a:pPr>
            <a:r>
              <a:rPr lang="en-US" sz="1900" b="1" dirty="0">
                <a:solidFill>
                  <a:srgbClr val="0D9488"/>
                </a:solidFill>
                <a:latin typeface="Calibri" pitchFamily="34" charset="0"/>
                <a:ea typeface="Calibri" pitchFamily="34" charset="-122"/>
                <a:cs typeface="Calibri" pitchFamily="34" charset="-120"/>
              </a:rPr>
              <a:t>₹1.44L Cr</a:t>
            </a:r>
            <a:endParaRPr lang="en-US" sz="1900" dirty="0"/>
          </a:p>
        </p:txBody>
      </p:sp>
      <p:sp>
        <p:nvSpPr>
          <p:cNvPr id="14" name="Text 11"/>
          <p:cNvSpPr/>
          <p:nvPr/>
        </p:nvSpPr>
        <p:spPr>
          <a:xfrm>
            <a:off x="5870448" y="2404872"/>
            <a:ext cx="2926080"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Footwear wallet  ·  17% of total</a:t>
            </a:r>
            <a:endParaRPr lang="en-US" sz="950" dirty="0"/>
          </a:p>
        </p:txBody>
      </p:sp>
      <p:sp>
        <p:nvSpPr>
          <p:cNvPr id="15" name="Shape 12"/>
          <p:cNvSpPr/>
          <p:nvPr/>
        </p:nvSpPr>
        <p:spPr>
          <a:xfrm>
            <a:off x="5760720" y="2935224"/>
            <a:ext cx="3127248" cy="868680"/>
          </a:xfrm>
          <a:prstGeom prst="roundRect">
            <a:avLst>
              <a:gd name="adj" fmla="val 8421"/>
            </a:avLst>
          </a:prstGeom>
          <a:solidFill>
            <a:srgbClr val="FEF4E6"/>
          </a:solidFill>
          <a:ln w="6350">
            <a:solidFill>
              <a:srgbClr val="F7C97C"/>
            </a:solidFill>
            <a:prstDash val="solid"/>
          </a:ln>
        </p:spPr>
      </p:sp>
      <p:sp>
        <p:nvSpPr>
          <p:cNvPr id="16" name="Text 13"/>
          <p:cNvSpPr/>
          <p:nvPr/>
        </p:nvSpPr>
        <p:spPr>
          <a:xfrm>
            <a:off x="5870448" y="2999232"/>
            <a:ext cx="2926080" cy="411480"/>
          </a:xfrm>
          <a:prstGeom prst="rect">
            <a:avLst/>
          </a:prstGeom>
          <a:noFill/>
          <a:ln/>
        </p:spPr>
        <p:txBody>
          <a:bodyPr wrap="square" lIns="0" tIns="0" rIns="0" bIns="0" rtlCol="0" anchor="ctr"/>
          <a:lstStyle/>
          <a:p>
            <a:pPr indent="0" marL="0">
              <a:buNone/>
            </a:pPr>
            <a:r>
              <a:rPr lang="en-US" sz="1900" b="1" dirty="0">
                <a:solidFill>
                  <a:srgbClr val="BA7517"/>
                </a:solidFill>
                <a:latin typeface="Calibri" pitchFamily="34" charset="0"/>
                <a:ea typeface="Calibri" pitchFamily="34" charset="-122"/>
                <a:cs typeface="Calibri" pitchFamily="34" charset="-120"/>
              </a:rPr>
              <a:t>Urban 63%</a:t>
            </a:r>
            <a:endParaRPr lang="en-US" sz="1900" dirty="0"/>
          </a:p>
        </p:txBody>
      </p:sp>
      <p:sp>
        <p:nvSpPr>
          <p:cNvPr id="17" name="Text 14"/>
          <p:cNvSpPr/>
          <p:nvPr/>
        </p:nvSpPr>
        <p:spPr>
          <a:xfrm>
            <a:off x="5870448" y="3392424"/>
            <a:ext cx="2926080"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of wallet  ·  35% of population drives 63% of spend</a:t>
            </a:r>
            <a:endParaRPr lang="en-US" sz="950" dirty="0"/>
          </a:p>
        </p:txBody>
      </p:sp>
      <p:sp>
        <p:nvSpPr>
          <p:cNvPr id="18" name="Shape 15"/>
          <p:cNvSpPr/>
          <p:nvPr/>
        </p:nvSpPr>
        <p:spPr>
          <a:xfrm>
            <a:off x="5760720" y="3922776"/>
            <a:ext cx="3127248" cy="868680"/>
          </a:xfrm>
          <a:prstGeom prst="roundRect">
            <a:avLst>
              <a:gd name="adj" fmla="val 8421"/>
            </a:avLst>
          </a:prstGeom>
          <a:solidFill>
            <a:srgbClr val="EAF2FD"/>
          </a:solidFill>
          <a:ln w="6350">
            <a:solidFill>
              <a:srgbClr val="B5D4F4"/>
            </a:solidFill>
            <a:prstDash val="solid"/>
          </a:ln>
        </p:spPr>
      </p:sp>
      <p:sp>
        <p:nvSpPr>
          <p:cNvPr id="19" name="Text 16"/>
          <p:cNvSpPr/>
          <p:nvPr/>
        </p:nvSpPr>
        <p:spPr>
          <a:xfrm>
            <a:off x="5870448" y="3986784"/>
            <a:ext cx="2926080" cy="411480"/>
          </a:xfrm>
          <a:prstGeom prst="rect">
            <a:avLst/>
          </a:prstGeom>
          <a:noFill/>
          <a:ln/>
        </p:spPr>
        <p:txBody>
          <a:bodyPr wrap="square" lIns="0" tIns="0" rIns="0" bIns="0" rtlCol="0" anchor="ctr"/>
          <a:lstStyle/>
          <a:p>
            <a:pPr indent="0" marL="0">
              <a:buNone/>
            </a:pPr>
            <a:r>
              <a:rPr lang="en-US" sz="1900" b="1" dirty="0">
                <a:solidFill>
                  <a:srgbClr val="1A56A8"/>
                </a:solidFill>
                <a:latin typeface="Calibri" pitchFamily="34" charset="0"/>
                <a:ea typeface="Calibri" pitchFamily="34" charset="-122"/>
                <a:cs typeface="Calibri" pitchFamily="34" charset="-120"/>
              </a:rPr>
              <a:t>T3+T4</a:t>
            </a:r>
            <a:endParaRPr lang="en-US" sz="1900" dirty="0"/>
          </a:p>
        </p:txBody>
      </p:sp>
      <p:sp>
        <p:nvSpPr>
          <p:cNvPr id="20" name="Text 17"/>
          <p:cNvSpPr/>
          <p:nvPr/>
        </p:nvSpPr>
        <p:spPr>
          <a:xfrm>
            <a:off x="5870448" y="4379976"/>
            <a:ext cx="2926080"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hold 32% of wallet  ·  Population centers that top-down misses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What Top-Down Estimates Cannot Tell You</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WHY  ·  The limitations of standard market sizing for retail investment decisions</a:t>
            </a:r>
            <a:endParaRPr lang="en-US" sz="950" dirty="0"/>
          </a:p>
        </p:txBody>
      </p:sp>
      <p:sp>
        <p:nvSpPr>
          <p:cNvPr id="4" name="Shape 2"/>
          <p:cNvSpPr/>
          <p:nvPr/>
        </p:nvSpPr>
        <p:spPr>
          <a:xfrm>
            <a:off x="384048" y="1097280"/>
            <a:ext cx="8394192" cy="384048"/>
          </a:xfrm>
          <a:prstGeom prst="roundRect">
            <a:avLst>
              <a:gd name="adj" fmla="val 9524"/>
            </a:avLst>
          </a:prstGeom>
          <a:solidFill>
            <a:srgbClr val="1E2761"/>
          </a:solidFill>
          <a:ln w="12700">
            <a:solidFill>
              <a:srgbClr val="1E2761"/>
            </a:solidFill>
            <a:prstDash val="solid"/>
          </a:ln>
        </p:spPr>
      </p:sp>
      <p:sp>
        <p:nvSpPr>
          <p:cNvPr id="5" name="Text 3"/>
          <p:cNvSpPr/>
          <p:nvPr/>
        </p:nvSpPr>
        <p:spPr>
          <a:xfrm>
            <a:off x="502920" y="1143000"/>
            <a:ext cx="557784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Investment Question</a:t>
            </a:r>
            <a:endParaRPr lang="en-US" sz="1050" dirty="0"/>
          </a:p>
        </p:txBody>
      </p:sp>
      <p:sp>
        <p:nvSpPr>
          <p:cNvPr id="6" name="Text 4"/>
          <p:cNvSpPr/>
          <p:nvPr/>
        </p:nvSpPr>
        <p:spPr>
          <a:xfrm>
            <a:off x="6126480" y="1143000"/>
            <a:ext cx="10972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Top-Down</a:t>
            </a:r>
            <a:endParaRPr lang="en-US" sz="1050" dirty="0"/>
          </a:p>
        </p:txBody>
      </p:sp>
      <p:sp>
        <p:nvSpPr>
          <p:cNvPr id="7" name="Text 5"/>
          <p:cNvSpPr/>
          <p:nvPr/>
        </p:nvSpPr>
        <p:spPr>
          <a:xfrm>
            <a:off x="7269480" y="1143000"/>
            <a:ext cx="14173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This Framework</a:t>
            </a:r>
            <a:endParaRPr lang="en-US" sz="1050" dirty="0"/>
          </a:p>
        </p:txBody>
      </p:sp>
      <p:sp>
        <p:nvSpPr>
          <p:cNvPr id="8" name="Shape 6"/>
          <p:cNvSpPr/>
          <p:nvPr/>
        </p:nvSpPr>
        <p:spPr>
          <a:xfrm>
            <a:off x="384048" y="1508760"/>
            <a:ext cx="8394192" cy="457200"/>
          </a:xfrm>
          <a:prstGeom prst="rect">
            <a:avLst/>
          </a:prstGeom>
          <a:solidFill>
            <a:srgbClr val="FFFFFF"/>
          </a:solidFill>
          <a:ln w="3810">
            <a:solidFill>
              <a:srgbClr val="E2E8F0"/>
            </a:solidFill>
            <a:prstDash val="solid"/>
          </a:ln>
        </p:spPr>
      </p:sp>
      <p:sp>
        <p:nvSpPr>
          <p:cNvPr id="9" name="Text 7"/>
          <p:cNvSpPr/>
          <p:nvPr/>
        </p:nvSpPr>
        <p:spPr>
          <a:xfrm>
            <a:off x="502920" y="1581912"/>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Which pincode has Rs.60 Cr wallet and zero organised stores?</a:t>
            </a:r>
            <a:endParaRPr lang="en-US" sz="1100" dirty="0"/>
          </a:p>
        </p:txBody>
      </p:sp>
      <p:sp>
        <p:nvSpPr>
          <p:cNvPr id="10" name="Text 8"/>
          <p:cNvSpPr/>
          <p:nvPr/>
        </p:nvSpPr>
        <p:spPr>
          <a:xfrm>
            <a:off x="6126480" y="1581912"/>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269480" y="1581912"/>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384048" y="2002536"/>
            <a:ext cx="8394192" cy="457200"/>
          </a:xfrm>
          <a:prstGeom prst="rect">
            <a:avLst/>
          </a:prstGeom>
          <a:solidFill>
            <a:srgbClr val="F4F7FC"/>
          </a:solidFill>
          <a:ln w="3810">
            <a:solidFill>
              <a:srgbClr val="E2E8F0"/>
            </a:solidFill>
            <a:prstDash val="solid"/>
          </a:ln>
        </p:spPr>
      </p:sp>
      <p:sp>
        <p:nvSpPr>
          <p:cNvPr id="13" name="Text 11"/>
          <p:cNvSpPr/>
          <p:nvPr/>
        </p:nvSpPr>
        <p:spPr>
          <a:xfrm>
            <a:off x="502920" y="2075688"/>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What is the organised penetration in T3 cities specifically?</a:t>
            </a:r>
            <a:endParaRPr lang="en-US" sz="1100" dirty="0"/>
          </a:p>
        </p:txBody>
      </p:sp>
      <p:sp>
        <p:nvSpPr>
          <p:cNvPr id="14" name="Text 12"/>
          <p:cNvSpPr/>
          <p:nvPr/>
        </p:nvSpPr>
        <p:spPr>
          <a:xfrm>
            <a:off x="6126480" y="2075688"/>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7269480" y="2075688"/>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84048" y="2496312"/>
            <a:ext cx="8394192" cy="457200"/>
          </a:xfrm>
          <a:prstGeom prst="rect">
            <a:avLst/>
          </a:prstGeom>
          <a:solidFill>
            <a:srgbClr val="FFFFFF"/>
          </a:solidFill>
          <a:ln w="3810">
            <a:solidFill>
              <a:srgbClr val="E2E8F0"/>
            </a:solidFill>
            <a:prstDash val="solid"/>
          </a:ln>
        </p:spPr>
      </p:sp>
      <p:sp>
        <p:nvSpPr>
          <p:cNvPr id="17" name="Text 15"/>
          <p:cNvSpPr/>
          <p:nvPr/>
        </p:nvSpPr>
        <p:spPr>
          <a:xfrm>
            <a:off x="502920" y="2569464"/>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Which tier has the most underserved wallet per sq.km?</a:t>
            </a:r>
            <a:endParaRPr lang="en-US" sz="1100" dirty="0"/>
          </a:p>
        </p:txBody>
      </p:sp>
      <p:sp>
        <p:nvSpPr>
          <p:cNvPr id="18" name="Text 16"/>
          <p:cNvSpPr/>
          <p:nvPr/>
        </p:nvSpPr>
        <p:spPr>
          <a:xfrm>
            <a:off x="6126480" y="2569464"/>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7269480" y="2569464"/>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384048" y="2990088"/>
            <a:ext cx="8394192" cy="457200"/>
          </a:xfrm>
          <a:prstGeom prst="rect">
            <a:avLst/>
          </a:prstGeom>
          <a:solidFill>
            <a:srgbClr val="F4F7FC"/>
          </a:solidFill>
          <a:ln w="3810">
            <a:solidFill>
              <a:srgbClr val="E2E8F0"/>
            </a:solidFill>
            <a:prstDash val="solid"/>
          </a:ln>
        </p:spPr>
      </p:sp>
      <p:sp>
        <p:nvSpPr>
          <p:cNvPr id="21" name="Text 19"/>
          <p:cNvSpPr/>
          <p:nvPr/>
        </p:nvSpPr>
        <p:spPr>
          <a:xfrm>
            <a:off x="502920" y="3063240"/>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At current economics, how many stores are viable in T4?</a:t>
            </a:r>
            <a:endParaRPr lang="en-US" sz="1100" dirty="0"/>
          </a:p>
        </p:txBody>
      </p:sp>
      <p:sp>
        <p:nvSpPr>
          <p:cNvPr id="22" name="Text 20"/>
          <p:cNvSpPr/>
          <p:nvPr/>
        </p:nvSpPr>
        <p:spPr>
          <a:xfrm>
            <a:off x="6126480" y="3063240"/>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269480" y="3063240"/>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384048" y="3483864"/>
            <a:ext cx="8394192" cy="457200"/>
          </a:xfrm>
          <a:prstGeom prst="rect">
            <a:avLst/>
          </a:prstGeom>
          <a:solidFill>
            <a:srgbClr val="FFFFFF"/>
          </a:solidFill>
          <a:ln w="3810">
            <a:solidFill>
              <a:srgbClr val="E2E8F0"/>
            </a:solidFill>
            <a:prstDash val="solid"/>
          </a:ln>
        </p:spPr>
      </p:sp>
      <p:sp>
        <p:nvSpPr>
          <p:cNvPr id="25" name="Text 23"/>
          <p:cNvSpPr/>
          <p:nvPr/>
        </p:nvSpPr>
        <p:spPr>
          <a:xfrm>
            <a:off x="502920" y="3557016"/>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Is a retailer at 10% wallet capture underpenetrated or saturated?</a:t>
            </a:r>
            <a:endParaRPr lang="en-US" sz="1100" dirty="0"/>
          </a:p>
        </p:txBody>
      </p:sp>
      <p:sp>
        <p:nvSpPr>
          <p:cNvPr id="26" name="Text 24"/>
          <p:cNvSpPr/>
          <p:nvPr/>
        </p:nvSpPr>
        <p:spPr>
          <a:xfrm>
            <a:off x="6126480" y="3557016"/>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7269480" y="3557016"/>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384048" y="3977640"/>
            <a:ext cx="8394192" cy="457200"/>
          </a:xfrm>
          <a:prstGeom prst="rect">
            <a:avLst/>
          </a:prstGeom>
          <a:solidFill>
            <a:srgbClr val="F4F7FC"/>
          </a:solidFill>
          <a:ln w="3810">
            <a:solidFill>
              <a:srgbClr val="E2E8F0"/>
            </a:solidFill>
            <a:prstDash val="solid"/>
          </a:ln>
        </p:spPr>
      </p:sp>
      <p:sp>
        <p:nvSpPr>
          <p:cNvPr id="29" name="Text 27"/>
          <p:cNvSpPr/>
          <p:nvPr/>
        </p:nvSpPr>
        <p:spPr>
          <a:xfrm>
            <a:off x="502920" y="4050792"/>
            <a:ext cx="5577840" cy="310896"/>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What is the revenue runway at current MPCE (no growth assumed)?</a:t>
            </a:r>
            <a:endParaRPr lang="en-US" sz="1100" dirty="0"/>
          </a:p>
        </p:txBody>
      </p:sp>
      <p:sp>
        <p:nvSpPr>
          <p:cNvPr id="30" name="Text 28"/>
          <p:cNvSpPr/>
          <p:nvPr/>
        </p:nvSpPr>
        <p:spPr>
          <a:xfrm>
            <a:off x="6126480" y="4050792"/>
            <a:ext cx="1097280" cy="310896"/>
          </a:xfrm>
          <a:prstGeom prst="rect">
            <a:avLst/>
          </a:prstGeom>
          <a:noFill/>
          <a:ln/>
        </p:spPr>
        <p:txBody>
          <a:bodyPr wrap="square" lIns="0" tIns="0" rIns="0" bIns="0" rtlCol="0" anchor="ctr"/>
          <a:lstStyle/>
          <a:p>
            <a:pPr algn="ctr" indent="0" marL="0">
              <a:buNone/>
            </a:pPr>
            <a:r>
              <a:rPr lang="en-US" sz="1400" b="1" dirty="0">
                <a:solidFill>
                  <a:srgbClr val="D85A30"/>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7269480" y="4050792"/>
            <a:ext cx="1417320" cy="310896"/>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411480" y="4572000"/>
            <a:ext cx="8321040" cy="34747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Top-down market sizing is useful for sizing the opportunity. It cannot locate it, quantify it at a granular level, or assess whether a retailer is over- or under-invested in any geography.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Value Fashion: The Tailwind That Makes the Gap Most Consequential</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WHY  ·  Why the demand-supply gap analysis is most powerful in the largest, fastest-growing, least-organised segment</a:t>
            </a:r>
            <a:endParaRPr lang="en-US" sz="950" dirty="0"/>
          </a:p>
        </p:txBody>
      </p:sp>
      <p:graphicFrame>
        <p:nvGraphicFramePr>
          <p:cNvPr id="4" name="Chart 0" descr=""/>
          <p:cNvGraphicFramePr/>
          <p:nvPr/>
        </p:nvGraphicFramePr>
        <p:xfrm>
          <a:off x="384048" y="987552"/>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87552"/>
            <a:ext cx="3108960" cy="1170432"/>
          </a:xfrm>
          <a:prstGeom prst="roundRect">
            <a:avLst>
              <a:gd name="adj" fmla="val 7031"/>
            </a:avLst>
          </a:prstGeom>
          <a:solidFill>
            <a:srgbClr val="F0EFFF"/>
          </a:solidFill>
          <a:ln w="6350">
            <a:solidFill>
              <a:srgbClr val="C4BDFF"/>
            </a:solidFill>
            <a:prstDash val="solid"/>
          </a:ln>
        </p:spPr>
      </p:sp>
      <p:sp>
        <p:nvSpPr>
          <p:cNvPr id="6" name="Text 3"/>
          <p:cNvSpPr/>
          <p:nvPr/>
        </p:nvSpPr>
        <p:spPr>
          <a:xfrm>
            <a:off x="5870448" y="1078992"/>
            <a:ext cx="2880360" cy="530352"/>
          </a:xfrm>
          <a:prstGeom prst="rect">
            <a:avLst/>
          </a:prstGeom>
          <a:noFill/>
          <a:ln/>
        </p:spPr>
        <p:txBody>
          <a:bodyPr wrap="square" lIns="0" tIns="0" rIns="0" bIns="0" rtlCol="0" anchor="ctr"/>
          <a:lstStyle/>
          <a:p>
            <a:pPr indent="0" marL="0">
              <a:buNone/>
            </a:pPr>
            <a:r>
              <a:rPr lang="en-US" sz="2800" b="1" dirty="0">
                <a:solidFill>
                  <a:srgbClr val="6D5FD4"/>
                </a:solidFill>
                <a:latin typeface="Calibri" pitchFamily="34" charset="0"/>
                <a:ea typeface="Calibri" pitchFamily="34" charset="-122"/>
                <a:cs typeface="Calibri" pitchFamily="34" charset="-120"/>
              </a:rPr>
              <a:t>57%</a:t>
            </a:r>
            <a:endParaRPr lang="en-US" sz="2800" dirty="0"/>
          </a:p>
        </p:txBody>
      </p:sp>
      <p:sp>
        <p:nvSpPr>
          <p:cNvPr id="7" name="Text 4"/>
          <p:cNvSpPr/>
          <p:nvPr/>
        </p:nvSpPr>
        <p:spPr>
          <a:xfrm>
            <a:off x="5870448" y="1591056"/>
            <a:ext cx="288036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Market share</a:t>
            </a:r>
            <a:endParaRPr lang="en-US" sz="1100" dirty="0"/>
          </a:p>
        </p:txBody>
      </p:sp>
      <p:sp>
        <p:nvSpPr>
          <p:cNvPr id="8" name="Text 5"/>
          <p:cNvSpPr/>
          <p:nvPr/>
        </p:nvSpPr>
        <p:spPr>
          <a:xfrm>
            <a:off x="5870448" y="1847088"/>
            <a:ext cx="288036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Value is India’s largest apparel segment by far</a:t>
            </a:r>
            <a:endParaRPr lang="en-US" sz="950" dirty="0"/>
          </a:p>
        </p:txBody>
      </p:sp>
      <p:sp>
        <p:nvSpPr>
          <p:cNvPr id="9" name="Shape 6"/>
          <p:cNvSpPr/>
          <p:nvPr/>
        </p:nvSpPr>
        <p:spPr>
          <a:xfrm>
            <a:off x="5760720" y="2267712"/>
            <a:ext cx="3108960" cy="1170432"/>
          </a:xfrm>
          <a:prstGeom prst="roundRect">
            <a:avLst>
              <a:gd name="adj" fmla="val 7031"/>
            </a:avLst>
          </a:prstGeom>
          <a:solidFill>
            <a:srgbClr val="E6FAF8"/>
          </a:solidFill>
          <a:ln w="6350">
            <a:solidFill>
              <a:srgbClr val="9FE1CB"/>
            </a:solidFill>
            <a:prstDash val="solid"/>
          </a:ln>
        </p:spPr>
      </p:sp>
      <p:sp>
        <p:nvSpPr>
          <p:cNvPr id="10" name="Text 7"/>
          <p:cNvSpPr/>
          <p:nvPr/>
        </p:nvSpPr>
        <p:spPr>
          <a:xfrm>
            <a:off x="5870448" y="2359152"/>
            <a:ext cx="2880360" cy="530352"/>
          </a:xfrm>
          <a:prstGeom prst="rect">
            <a:avLst/>
          </a:prstGeom>
          <a:noFill/>
          <a:ln/>
        </p:spPr>
        <p:txBody>
          <a:bodyPr wrap="square" lIns="0" tIns="0" rIns="0" bIns="0"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10.1%</a:t>
            </a:r>
            <a:endParaRPr lang="en-US" sz="2800" dirty="0"/>
          </a:p>
        </p:txBody>
      </p:sp>
      <p:sp>
        <p:nvSpPr>
          <p:cNvPr id="11" name="Text 8"/>
          <p:cNvSpPr/>
          <p:nvPr/>
        </p:nvSpPr>
        <p:spPr>
          <a:xfrm>
            <a:off x="5870448" y="2871216"/>
            <a:ext cx="288036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CAGR FY24–29P</a:t>
            </a:r>
            <a:endParaRPr lang="en-US" sz="1100" dirty="0"/>
          </a:p>
        </p:txBody>
      </p:sp>
      <p:sp>
        <p:nvSpPr>
          <p:cNvPr id="12" name="Text 9"/>
          <p:cNvSpPr/>
          <p:nvPr/>
        </p:nvSpPr>
        <p:spPr>
          <a:xfrm>
            <a:off x="5870448" y="3127248"/>
            <a:ext cx="288036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Fastest growing segment — driven by formalisation + aspirational consumption</a:t>
            </a:r>
            <a:endParaRPr lang="en-US" sz="950" dirty="0"/>
          </a:p>
        </p:txBody>
      </p:sp>
      <p:sp>
        <p:nvSpPr>
          <p:cNvPr id="13" name="Shape 10"/>
          <p:cNvSpPr/>
          <p:nvPr/>
        </p:nvSpPr>
        <p:spPr>
          <a:xfrm>
            <a:off x="5760720" y="3547872"/>
            <a:ext cx="3108960" cy="1170432"/>
          </a:xfrm>
          <a:prstGeom prst="roundRect">
            <a:avLst>
              <a:gd name="adj" fmla="val 7031"/>
            </a:avLst>
          </a:prstGeom>
          <a:solidFill>
            <a:srgbClr val="FEF4E6"/>
          </a:solidFill>
          <a:ln w="6350">
            <a:solidFill>
              <a:srgbClr val="F7C97C"/>
            </a:solidFill>
            <a:prstDash val="solid"/>
          </a:ln>
        </p:spPr>
      </p:sp>
      <p:sp>
        <p:nvSpPr>
          <p:cNvPr id="14" name="Text 11"/>
          <p:cNvSpPr/>
          <p:nvPr/>
        </p:nvSpPr>
        <p:spPr>
          <a:xfrm>
            <a:off x="5870448" y="3639312"/>
            <a:ext cx="2880360" cy="530352"/>
          </a:xfrm>
          <a:prstGeom prst="rect">
            <a:avLst/>
          </a:prstGeom>
          <a:noFill/>
          <a:ln/>
        </p:spPr>
        <p:txBody>
          <a:bodyPr wrap="square" lIns="0" tIns="0" rIns="0" bIns="0" rtlCol="0" anchor="ctr"/>
          <a:lstStyle/>
          <a:p>
            <a:pPr indent="0" marL="0">
              <a:buNone/>
            </a:pPr>
            <a:r>
              <a:rPr lang="en-US" sz="2800" b="1" dirty="0">
                <a:solidFill>
                  <a:srgbClr val="BA7517"/>
                </a:solidFill>
                <a:latin typeface="Calibri" pitchFamily="34" charset="0"/>
                <a:ea typeface="Calibri" pitchFamily="34" charset="-122"/>
                <a:cs typeface="Calibri" pitchFamily="34" charset="-120"/>
              </a:rPr>
              <a:t>&lt;20%</a:t>
            </a:r>
            <a:endParaRPr lang="en-US" sz="2800" dirty="0"/>
          </a:p>
        </p:txBody>
      </p:sp>
      <p:sp>
        <p:nvSpPr>
          <p:cNvPr id="15" name="Text 12"/>
          <p:cNvSpPr/>
          <p:nvPr/>
        </p:nvSpPr>
        <p:spPr>
          <a:xfrm>
            <a:off x="5870448" y="4151376"/>
            <a:ext cx="288036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Organised penetration</a:t>
            </a:r>
            <a:endParaRPr lang="en-US" sz="1100" dirty="0"/>
          </a:p>
        </p:txBody>
      </p:sp>
      <p:sp>
        <p:nvSpPr>
          <p:cNvPr id="16" name="Text 13"/>
          <p:cNvSpPr/>
          <p:nvPr/>
        </p:nvSpPr>
        <p:spPr>
          <a:xfrm>
            <a:off x="5870448" y="4407408"/>
            <a:ext cx="288036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Lowest of any segment — maximum runway for organised retail entry</a:t>
            </a:r>
            <a:endParaRPr lang="en-US" sz="950" dirty="0"/>
          </a:p>
        </p:txBody>
      </p:sp>
      <p:sp>
        <p:nvSpPr>
          <p:cNvPr id="17" name="Text 14"/>
          <p:cNvSpPr/>
          <p:nvPr/>
        </p:nvSpPr>
        <p:spPr>
          <a:xfrm>
            <a:off x="411480" y="4572000"/>
            <a:ext cx="8321040" cy="34747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The demand-supply gap analysis is relevant across all segments. But it is most consequential where the segment is simultaneously largest, fastest, and least organised — which is value fashion.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19,694 Pincodes, No Reports, One Framework</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HOW  ·  The four-step methodology that builds demand and supply from first principles</a:t>
            </a:r>
            <a:endParaRPr lang="en-US" sz="950" dirty="0"/>
          </a:p>
        </p:txBody>
      </p:sp>
      <p:sp>
        <p:nvSpPr>
          <p:cNvPr id="4" name="Shape 2"/>
          <p:cNvSpPr/>
          <p:nvPr/>
        </p:nvSpPr>
        <p:spPr>
          <a:xfrm>
            <a:off x="347472" y="1234440"/>
            <a:ext cx="2057400" cy="3017520"/>
          </a:xfrm>
          <a:prstGeom prst="roundRect">
            <a:avLst>
              <a:gd name="adj" fmla="val 4444"/>
            </a:avLst>
          </a:prstGeom>
          <a:solidFill>
            <a:srgbClr val="FFFFFF"/>
          </a:solidFill>
          <a:ln w="6350">
            <a:solidFill>
              <a:srgbClr val="E2E8F0"/>
            </a:solidFill>
            <a:prstDash val="solid"/>
          </a:ln>
          <a:effectLst>
            <a:outerShdw sx="100000" sy="100000" kx="0" ky="0" algn="bl" rotWithShape="0" blurRad="63500" dist="25400" dir="5400000">
              <a:srgbClr val="000000">
                <a:alpha val="7000"/>
              </a:srgbClr>
            </a:outerShdw>
          </a:effectLst>
        </p:spPr>
      </p:sp>
      <p:sp>
        <p:nvSpPr>
          <p:cNvPr id="5" name="Shape 3"/>
          <p:cNvSpPr/>
          <p:nvPr/>
        </p:nvSpPr>
        <p:spPr>
          <a:xfrm>
            <a:off x="493776" y="1371600"/>
            <a:ext cx="420624" cy="420624"/>
          </a:xfrm>
          <a:prstGeom prst="ellipse">
            <a:avLst/>
          </a:prstGeom>
          <a:solidFill>
            <a:srgbClr val="6D5FD4"/>
          </a:solidFill>
          <a:ln w="12700">
            <a:solidFill>
              <a:srgbClr val="6D5FD4"/>
            </a:solidFill>
            <a:prstDash val="solid"/>
          </a:ln>
        </p:spPr>
      </p:sp>
      <p:sp>
        <p:nvSpPr>
          <p:cNvPr id="6" name="Text 4"/>
          <p:cNvSpPr/>
          <p:nvPr/>
        </p:nvSpPr>
        <p:spPr>
          <a:xfrm>
            <a:off x="493776" y="1371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475488" y="1901952"/>
            <a:ext cx="1828800" cy="47548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Pincode Universe</a:t>
            </a:r>
            <a:endParaRPr lang="en-US" sz="1250" dirty="0"/>
          </a:p>
        </p:txBody>
      </p:sp>
      <p:sp>
        <p:nvSpPr>
          <p:cNvPr id="8" name="Text 6"/>
          <p:cNvSpPr/>
          <p:nvPr/>
        </p:nvSpPr>
        <p:spPr>
          <a:xfrm>
            <a:off x="475488" y="2432304"/>
            <a:ext cx="1828800" cy="170078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19,694 pincodes mapped to District, Nearest Metro/City, State, and Tier (Metro / T1 / T2 / T3 / T4 / Rural). Population from Census.</a:t>
            </a:r>
            <a:endParaRPr lang="en-US" sz="1000" dirty="0"/>
          </a:p>
        </p:txBody>
      </p:sp>
      <p:sp>
        <p:nvSpPr>
          <p:cNvPr id="9" name="Shape 7"/>
          <p:cNvSpPr/>
          <p:nvPr/>
        </p:nvSpPr>
        <p:spPr>
          <a:xfrm>
            <a:off x="2542032" y="1234440"/>
            <a:ext cx="2057400" cy="3017520"/>
          </a:xfrm>
          <a:prstGeom prst="roundRect">
            <a:avLst>
              <a:gd name="adj" fmla="val 4444"/>
            </a:avLst>
          </a:prstGeom>
          <a:solidFill>
            <a:srgbClr val="FFFFFF"/>
          </a:solidFill>
          <a:ln w="6350">
            <a:solidFill>
              <a:srgbClr val="E2E8F0"/>
            </a:solidFill>
            <a:prstDash val="solid"/>
          </a:ln>
          <a:effectLst>
            <a:outerShdw sx="100000" sy="100000" kx="0" ky="0" algn="bl" rotWithShape="0" blurRad="63500" dist="25400" dir="5400000">
              <a:srgbClr val="000000">
                <a:alpha val="7000"/>
              </a:srgbClr>
            </a:outerShdw>
          </a:effectLst>
        </p:spPr>
      </p:sp>
      <p:sp>
        <p:nvSpPr>
          <p:cNvPr id="10" name="Shape 8"/>
          <p:cNvSpPr/>
          <p:nvPr/>
        </p:nvSpPr>
        <p:spPr>
          <a:xfrm>
            <a:off x="2688336" y="1371600"/>
            <a:ext cx="420624" cy="420624"/>
          </a:xfrm>
          <a:prstGeom prst="ellipse">
            <a:avLst/>
          </a:prstGeom>
          <a:solidFill>
            <a:srgbClr val="0D9488"/>
          </a:solidFill>
          <a:ln w="12700">
            <a:solidFill>
              <a:srgbClr val="0D9488"/>
            </a:solidFill>
            <a:prstDash val="solid"/>
          </a:ln>
        </p:spPr>
      </p:sp>
      <p:sp>
        <p:nvSpPr>
          <p:cNvPr id="11" name="Text 9"/>
          <p:cNvSpPr/>
          <p:nvPr/>
        </p:nvSpPr>
        <p:spPr>
          <a:xfrm>
            <a:off x="2688336" y="1371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2670048" y="1901952"/>
            <a:ext cx="1828800" cy="47548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GSDP-Adjusted MPCE</a:t>
            </a:r>
            <a:endParaRPr lang="en-US" sz="1250" dirty="0"/>
          </a:p>
        </p:txBody>
      </p:sp>
      <p:sp>
        <p:nvSpPr>
          <p:cNvPr id="13" name="Text 11"/>
          <p:cNvSpPr/>
          <p:nvPr/>
        </p:nvSpPr>
        <p:spPr>
          <a:xfrm>
            <a:off x="2670048" y="2432304"/>
            <a:ext cx="1828800" cy="170078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State MPCE from HCES 2023–24 × (District GDP per capita ÷ State avg GDP per capita). Every pincode gets its own income level. No uniform state-average shortcut.</a:t>
            </a:r>
            <a:endParaRPr lang="en-US" sz="1000" dirty="0"/>
          </a:p>
        </p:txBody>
      </p:sp>
      <p:sp>
        <p:nvSpPr>
          <p:cNvPr id="14" name="Shape 12"/>
          <p:cNvSpPr/>
          <p:nvPr/>
        </p:nvSpPr>
        <p:spPr>
          <a:xfrm>
            <a:off x="4736592" y="1234440"/>
            <a:ext cx="2057400" cy="3017520"/>
          </a:xfrm>
          <a:prstGeom prst="roundRect">
            <a:avLst>
              <a:gd name="adj" fmla="val 4444"/>
            </a:avLst>
          </a:prstGeom>
          <a:solidFill>
            <a:srgbClr val="FFFFFF"/>
          </a:solidFill>
          <a:ln w="6350">
            <a:solidFill>
              <a:srgbClr val="E2E8F0"/>
            </a:solidFill>
            <a:prstDash val="solid"/>
          </a:ln>
          <a:effectLst>
            <a:outerShdw sx="100000" sy="100000" kx="0" ky="0" algn="bl" rotWithShape="0" blurRad="63500" dist="25400" dir="5400000">
              <a:srgbClr val="000000">
                <a:alpha val="7000"/>
              </a:srgbClr>
            </a:outerShdw>
          </a:effectLst>
        </p:spPr>
      </p:sp>
      <p:sp>
        <p:nvSpPr>
          <p:cNvPr id="15" name="Shape 13"/>
          <p:cNvSpPr/>
          <p:nvPr/>
        </p:nvSpPr>
        <p:spPr>
          <a:xfrm>
            <a:off x="4882896" y="1371600"/>
            <a:ext cx="420624" cy="420624"/>
          </a:xfrm>
          <a:prstGeom prst="ellipse">
            <a:avLst/>
          </a:prstGeom>
          <a:solidFill>
            <a:srgbClr val="BA7517"/>
          </a:solidFill>
          <a:ln w="12700">
            <a:solidFill>
              <a:srgbClr val="BA7517"/>
            </a:solidFill>
            <a:prstDash val="solid"/>
          </a:ln>
        </p:spPr>
      </p:sp>
      <p:sp>
        <p:nvSpPr>
          <p:cNvPr id="16" name="Text 14"/>
          <p:cNvSpPr/>
          <p:nvPr/>
        </p:nvSpPr>
        <p:spPr>
          <a:xfrm>
            <a:off x="4882896" y="1371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4864608" y="1901952"/>
            <a:ext cx="1828800" cy="47548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Category Wallet Build</a:t>
            </a:r>
            <a:endParaRPr lang="en-US" sz="1250" dirty="0"/>
          </a:p>
        </p:txBody>
      </p:sp>
      <p:sp>
        <p:nvSpPr>
          <p:cNvPr id="18" name="Text 16"/>
          <p:cNvSpPr/>
          <p:nvPr/>
        </p:nvSpPr>
        <p:spPr>
          <a:xfrm>
            <a:off x="4864608" y="2432304"/>
            <a:ext cx="1828800" cy="170078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Apparel: 5.02–6.2% of adjusted MPCE. Footwear: 0.76–1.05%. Applied per pincode. Population × MPCE × 12 × Category% = Annual wallet in INR Crore.</a:t>
            </a:r>
            <a:endParaRPr lang="en-US" sz="1000" dirty="0"/>
          </a:p>
        </p:txBody>
      </p:sp>
      <p:sp>
        <p:nvSpPr>
          <p:cNvPr id="19" name="Shape 17"/>
          <p:cNvSpPr/>
          <p:nvPr/>
        </p:nvSpPr>
        <p:spPr>
          <a:xfrm>
            <a:off x="6931152" y="1234440"/>
            <a:ext cx="2057400" cy="3017520"/>
          </a:xfrm>
          <a:prstGeom prst="roundRect">
            <a:avLst>
              <a:gd name="adj" fmla="val 4444"/>
            </a:avLst>
          </a:prstGeom>
          <a:solidFill>
            <a:srgbClr val="FFFFFF"/>
          </a:solidFill>
          <a:ln w="6350">
            <a:solidFill>
              <a:srgbClr val="E2E8F0"/>
            </a:solidFill>
            <a:prstDash val="solid"/>
          </a:ln>
          <a:effectLst>
            <a:outerShdw sx="100000" sy="100000" kx="0" ky="0" algn="bl" rotWithShape="0" blurRad="63500" dist="25400" dir="5400000">
              <a:srgbClr val="000000">
                <a:alpha val="7000"/>
              </a:srgbClr>
            </a:outerShdw>
          </a:effectLst>
        </p:spPr>
      </p:sp>
      <p:sp>
        <p:nvSpPr>
          <p:cNvPr id="20" name="Shape 18"/>
          <p:cNvSpPr/>
          <p:nvPr/>
        </p:nvSpPr>
        <p:spPr>
          <a:xfrm>
            <a:off x="7077456" y="1371600"/>
            <a:ext cx="420624" cy="420624"/>
          </a:xfrm>
          <a:prstGeom prst="ellipse">
            <a:avLst/>
          </a:prstGeom>
          <a:solidFill>
            <a:srgbClr val="1A56A8"/>
          </a:solidFill>
          <a:ln w="12700">
            <a:solidFill>
              <a:srgbClr val="1A56A8"/>
            </a:solidFill>
            <a:prstDash val="solid"/>
          </a:ln>
        </p:spPr>
      </p:sp>
      <p:sp>
        <p:nvSpPr>
          <p:cNvPr id="21" name="Text 19"/>
          <p:cNvSpPr/>
          <p:nvPr/>
        </p:nvSpPr>
        <p:spPr>
          <a:xfrm>
            <a:off x="7077456" y="1371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7059168" y="1901952"/>
            <a:ext cx="1828800" cy="47548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Supply Census &amp; Match</a:t>
            </a:r>
            <a:endParaRPr lang="en-US" sz="1250" dirty="0"/>
          </a:p>
        </p:txBody>
      </p:sp>
      <p:sp>
        <p:nvSpPr>
          <p:cNvPr id="23" name="Text 21"/>
          <p:cNvSpPr/>
          <p:nvPr/>
        </p:nvSpPr>
        <p:spPr>
          <a:xfrm>
            <a:off x="7059168" y="2432304"/>
            <a:ext cx="1828800" cy="170078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Every organised brand’s store presence mapped: pincode, city, tier, segment, ASP bracket. Demand matched against supply to produce a gap figure per pincode.</a:t>
            </a:r>
            <a:endParaRPr lang="en-US" sz="1000" dirty="0"/>
          </a:p>
        </p:txBody>
      </p:sp>
      <p:sp>
        <p:nvSpPr>
          <p:cNvPr id="24" name="Shape 22"/>
          <p:cNvSpPr/>
          <p:nvPr/>
        </p:nvSpPr>
        <p:spPr>
          <a:xfrm>
            <a:off x="2404872" y="2743200"/>
            <a:ext cx="137160" cy="0"/>
          </a:xfrm>
          <a:prstGeom prst="line">
            <a:avLst/>
          </a:prstGeom>
          <a:noFill/>
          <a:ln w="12700">
            <a:solidFill>
              <a:srgbClr val="CBD5E0"/>
            </a:solidFill>
            <a:prstDash val="dash"/>
          </a:ln>
        </p:spPr>
      </p:sp>
      <p:sp>
        <p:nvSpPr>
          <p:cNvPr id="25" name="Shape 23"/>
          <p:cNvSpPr/>
          <p:nvPr/>
        </p:nvSpPr>
        <p:spPr>
          <a:xfrm>
            <a:off x="4599432" y="2743200"/>
            <a:ext cx="137160" cy="0"/>
          </a:xfrm>
          <a:prstGeom prst="line">
            <a:avLst/>
          </a:prstGeom>
          <a:noFill/>
          <a:ln w="12700">
            <a:solidFill>
              <a:srgbClr val="CBD5E0"/>
            </a:solidFill>
            <a:prstDash val="dash"/>
          </a:ln>
        </p:spPr>
      </p:sp>
      <p:sp>
        <p:nvSpPr>
          <p:cNvPr id="26" name="Shape 24"/>
          <p:cNvSpPr/>
          <p:nvPr/>
        </p:nvSpPr>
        <p:spPr>
          <a:xfrm>
            <a:off x="6793992" y="2743200"/>
            <a:ext cx="137160" cy="0"/>
          </a:xfrm>
          <a:prstGeom prst="line">
            <a:avLst/>
          </a:prstGeom>
          <a:noFill/>
          <a:ln w="12700">
            <a:solidFill>
              <a:srgbClr val="CBD5E0"/>
            </a:solidFill>
            <a:prstDash val="dash"/>
          </a:ln>
        </p:spPr>
      </p:sp>
      <p:sp>
        <p:nvSpPr>
          <p:cNvPr id="27" name="Shape 25"/>
          <p:cNvSpPr/>
          <p:nvPr/>
        </p:nvSpPr>
        <p:spPr>
          <a:xfrm>
            <a:off x="347472" y="4370832"/>
            <a:ext cx="8449056" cy="493776"/>
          </a:xfrm>
          <a:prstGeom prst="roundRect">
            <a:avLst>
              <a:gd name="adj" fmla="val 11111"/>
            </a:avLst>
          </a:prstGeom>
          <a:solidFill>
            <a:srgbClr val="EEF3FF"/>
          </a:solidFill>
          <a:ln w="6350">
            <a:solidFill>
              <a:srgbClr val="CADCFC"/>
            </a:solidFill>
            <a:prstDash val="solid"/>
          </a:ln>
        </p:spPr>
      </p:sp>
      <p:sp>
        <p:nvSpPr>
          <p:cNvPr id="28" name="Text 26"/>
          <p:cNvSpPr/>
          <p:nvPr/>
        </p:nvSpPr>
        <p:spPr>
          <a:xfrm>
            <a:off x="457200" y="4416552"/>
            <a:ext cx="8229600" cy="365760"/>
          </a:xfrm>
          <a:prstGeom prst="rect">
            <a:avLst/>
          </a:prstGeom>
          <a:noFill/>
          <a:ln/>
        </p:spPr>
        <p:txBody>
          <a:bodyPr wrap="square" rtlCol="0" anchor="ctr"/>
          <a:lstStyle/>
          <a:p>
            <a:pPr algn="ctr" indent="0" marL="0">
              <a:buNone/>
            </a:pPr>
            <a:r>
              <a:rPr lang="en-US" sz="950" dirty="0">
                <a:solidFill>
                  <a:srgbClr val="1E2761"/>
                </a:solidFill>
                <a:latin typeface="Calibri" pitchFamily="34" charset="0"/>
                <a:ea typeface="Calibri" pitchFamily="34" charset="-122"/>
                <a:cs typeface="Calibri" pitchFamily="34" charset="-120"/>
              </a:rPr>
              <a:t>Validation: weighted-average of pincode MPCEs reconciles to within 2% of national HCES figure  ·  No Technopak, Euromonitor, or third-party estimates used at any step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Demand Built. Supply Mapped. Gap Found.</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HOW  ·  The two sides of the framework and what the match produces</a:t>
            </a:r>
            <a:endParaRPr lang="en-US" sz="950" dirty="0"/>
          </a:p>
        </p:txBody>
      </p:sp>
      <p:sp>
        <p:nvSpPr>
          <p:cNvPr id="4" name="Shape 2"/>
          <p:cNvSpPr/>
          <p:nvPr/>
        </p:nvSpPr>
        <p:spPr>
          <a:xfrm>
            <a:off x="365760" y="1005840"/>
            <a:ext cx="3474720" cy="3520440"/>
          </a:xfrm>
          <a:prstGeom prst="roundRect">
            <a:avLst>
              <a:gd name="adj" fmla="val 2632"/>
            </a:avLst>
          </a:prstGeom>
          <a:solidFill>
            <a:srgbClr val="F0EFFF"/>
          </a:solidFill>
          <a:ln w="8890">
            <a:solidFill>
              <a:srgbClr val="C4BDFF"/>
            </a:solidFill>
            <a:prstDash val="solid"/>
          </a:ln>
        </p:spPr>
      </p:sp>
      <p:sp>
        <p:nvSpPr>
          <p:cNvPr id="5" name="Text 3"/>
          <p:cNvSpPr/>
          <p:nvPr/>
        </p:nvSpPr>
        <p:spPr>
          <a:xfrm>
            <a:off x="502920" y="1115568"/>
            <a:ext cx="3200400" cy="274320"/>
          </a:xfrm>
          <a:prstGeom prst="rect">
            <a:avLst/>
          </a:prstGeom>
          <a:noFill/>
          <a:ln/>
        </p:spPr>
        <p:txBody>
          <a:bodyPr wrap="square" lIns="0" tIns="0" rIns="0" bIns="0" rtlCol="0" anchor="ctr"/>
          <a:lstStyle/>
          <a:p>
            <a:pPr indent="0" marL="0">
              <a:buNone/>
            </a:pPr>
            <a:r>
              <a:rPr lang="en-US" sz="950" b="1" spc="100" kern="0" dirty="0">
                <a:solidFill>
                  <a:srgbClr val="6D5FD4"/>
                </a:solidFill>
                <a:latin typeface="Calibri" pitchFamily="34" charset="0"/>
                <a:ea typeface="Calibri" pitchFamily="34" charset="-122"/>
                <a:cs typeface="Calibri" pitchFamily="34" charset="-120"/>
              </a:rPr>
              <a:t>DEMAND SIDE</a:t>
            </a:r>
            <a:endParaRPr lang="en-US" sz="950" dirty="0"/>
          </a:p>
        </p:txBody>
      </p:sp>
      <p:sp>
        <p:nvSpPr>
          <p:cNvPr id="6" name="Text 4"/>
          <p:cNvSpPr/>
          <p:nvPr/>
        </p:nvSpPr>
        <p:spPr>
          <a:xfrm>
            <a:off x="502920" y="1417320"/>
            <a:ext cx="3200400" cy="38404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India spends</a:t>
            </a:r>
            <a:endParaRPr lang="en-US" sz="1500" dirty="0"/>
          </a:p>
        </p:txBody>
      </p:sp>
      <p:sp>
        <p:nvSpPr>
          <p:cNvPr id="7" name="Text 5"/>
          <p:cNvSpPr/>
          <p:nvPr/>
        </p:nvSpPr>
        <p:spPr>
          <a:xfrm>
            <a:off x="502920" y="1920240"/>
            <a:ext cx="321868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19,694 pincodes  ×  Population</a:t>
            </a:r>
            <a:endParaRPr lang="en-US" sz="1100" dirty="0"/>
          </a:p>
        </p:txBody>
      </p:sp>
      <p:sp>
        <p:nvSpPr>
          <p:cNvPr id="8" name="Text 6"/>
          <p:cNvSpPr/>
          <p:nvPr/>
        </p:nvSpPr>
        <p:spPr>
          <a:xfrm>
            <a:off x="502920" y="2322576"/>
            <a:ext cx="321868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HCES 2023-24 MPCE (state level)</a:t>
            </a:r>
            <a:endParaRPr lang="en-US" sz="1100" dirty="0"/>
          </a:p>
        </p:txBody>
      </p:sp>
      <p:sp>
        <p:nvSpPr>
          <p:cNvPr id="9" name="Text 7"/>
          <p:cNvSpPr/>
          <p:nvPr/>
        </p:nvSpPr>
        <p:spPr>
          <a:xfrm>
            <a:off x="502920" y="2724912"/>
            <a:ext cx="321868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 District GSDP adjustment factor</a:t>
            </a:r>
            <a:endParaRPr lang="en-US" sz="1100" dirty="0"/>
          </a:p>
        </p:txBody>
      </p:sp>
      <p:sp>
        <p:nvSpPr>
          <p:cNvPr id="10" name="Text 8"/>
          <p:cNvSpPr/>
          <p:nvPr/>
        </p:nvSpPr>
        <p:spPr>
          <a:xfrm>
            <a:off x="502920" y="3127248"/>
            <a:ext cx="3218688" cy="365760"/>
          </a:xfrm>
          <a:prstGeom prst="rect">
            <a:avLst/>
          </a:prstGeom>
          <a:noFill/>
          <a:ln/>
        </p:spPr>
        <p:txBody>
          <a:bodyPr wrap="square" lIns="0" tIns="0" rIns="0" bIns="0" rtlCol="0" anchor="ctr"/>
          <a:lstStyle/>
          <a:p>
            <a:pPr indent="0" marL="0">
              <a:buNone/>
            </a:pPr>
            <a:r>
              <a:rPr lang="en-US" sz="1100" b="1" dirty="0">
                <a:solidFill>
                  <a:srgbClr val="6D5FD4"/>
                </a:solidFill>
                <a:latin typeface="Calibri" pitchFamily="34" charset="0"/>
                <a:ea typeface="Calibri" pitchFamily="34" charset="-122"/>
                <a:cs typeface="Calibri" pitchFamily="34" charset="-120"/>
              </a:rPr>
              <a:t>= Pincode-level adjusted MPCE</a:t>
            </a:r>
            <a:endParaRPr lang="en-US" sz="1100" dirty="0"/>
          </a:p>
        </p:txBody>
      </p:sp>
      <p:sp>
        <p:nvSpPr>
          <p:cNvPr id="11" name="Text 9"/>
          <p:cNvSpPr/>
          <p:nvPr/>
        </p:nvSpPr>
        <p:spPr>
          <a:xfrm>
            <a:off x="502920" y="3529584"/>
            <a:ext cx="321868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 Apparel / Footwear category %</a:t>
            </a:r>
            <a:endParaRPr lang="en-US" sz="1100" dirty="0"/>
          </a:p>
        </p:txBody>
      </p:sp>
      <p:sp>
        <p:nvSpPr>
          <p:cNvPr id="12" name="Text 10"/>
          <p:cNvSpPr/>
          <p:nvPr/>
        </p:nvSpPr>
        <p:spPr>
          <a:xfrm>
            <a:off x="502920" y="3931920"/>
            <a:ext cx="3218688" cy="365760"/>
          </a:xfrm>
          <a:prstGeom prst="rect">
            <a:avLst/>
          </a:prstGeom>
          <a:noFill/>
          <a:ln/>
        </p:spPr>
        <p:txBody>
          <a:bodyPr wrap="square" lIns="0" tIns="0" rIns="0" bIns="0" rtlCol="0" anchor="ctr"/>
          <a:lstStyle/>
          <a:p>
            <a:pPr indent="0" marL="0">
              <a:buNone/>
            </a:pPr>
            <a:r>
              <a:rPr lang="en-US" sz="1100" b="1" dirty="0">
                <a:solidFill>
                  <a:srgbClr val="6D5FD4"/>
                </a:solidFill>
                <a:latin typeface="Calibri" pitchFamily="34" charset="0"/>
                <a:ea typeface="Calibri" pitchFamily="34" charset="-122"/>
                <a:cs typeface="Calibri" pitchFamily="34" charset="-120"/>
              </a:rPr>
              <a:t>= Annual wallet per pincode (INR Cr)</a:t>
            </a:r>
            <a:endParaRPr lang="en-US" sz="1100" dirty="0"/>
          </a:p>
        </p:txBody>
      </p:sp>
      <p:sp>
        <p:nvSpPr>
          <p:cNvPr id="13" name="Text 11"/>
          <p:cNvSpPr/>
          <p:nvPr/>
        </p:nvSpPr>
        <p:spPr>
          <a:xfrm>
            <a:off x="502920" y="3977640"/>
            <a:ext cx="3218688" cy="347472"/>
          </a:xfrm>
          <a:prstGeom prst="rect">
            <a:avLst/>
          </a:prstGeom>
          <a:noFill/>
          <a:ln/>
        </p:spPr>
        <p:txBody>
          <a:bodyPr wrap="square" lIns="0" tIns="0" rIns="0" bIns="0" rtlCol="0" anchor="ctr"/>
          <a:lstStyle/>
          <a:p>
            <a:pPr indent="0" marL="0">
              <a:buNone/>
            </a:pPr>
            <a:r>
              <a:rPr lang="en-US" sz="1100" b="1" dirty="0">
                <a:solidFill>
                  <a:srgbClr val="6D5FD4"/>
                </a:solidFill>
                <a:latin typeface="Calibri" pitchFamily="34" charset="0"/>
                <a:ea typeface="Calibri" pitchFamily="34" charset="-122"/>
                <a:cs typeface="Calibri" pitchFamily="34" charset="-120"/>
              </a:rPr>
              <a:t>OUTPUT: ₹8.68 Lakh Crore total wallet</a:t>
            </a:r>
            <a:endParaRPr lang="en-US" sz="1100" dirty="0"/>
          </a:p>
        </p:txBody>
      </p:sp>
      <p:sp>
        <p:nvSpPr>
          <p:cNvPr id="14" name="Shape 12"/>
          <p:cNvSpPr/>
          <p:nvPr/>
        </p:nvSpPr>
        <p:spPr>
          <a:xfrm>
            <a:off x="3977640" y="2331720"/>
            <a:ext cx="1188720" cy="1234440"/>
          </a:xfrm>
          <a:prstGeom prst="roundRect">
            <a:avLst>
              <a:gd name="adj" fmla="val 9231"/>
            </a:avLst>
          </a:prstGeom>
          <a:solidFill>
            <a:srgbClr val="1E2761"/>
          </a:solidFill>
          <a:ln w="12700">
            <a:solidFill>
              <a:srgbClr val="1E2761"/>
            </a:solidFill>
            <a:prstDash val="solid"/>
          </a:ln>
        </p:spPr>
      </p:sp>
      <p:sp>
        <p:nvSpPr>
          <p:cNvPr id="15" name="Text 13"/>
          <p:cNvSpPr/>
          <p:nvPr/>
        </p:nvSpPr>
        <p:spPr>
          <a:xfrm>
            <a:off x="3977640" y="2331720"/>
            <a:ext cx="118872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16" name="Shape 14"/>
          <p:cNvSpPr/>
          <p:nvPr/>
        </p:nvSpPr>
        <p:spPr>
          <a:xfrm>
            <a:off x="5303520" y="1005840"/>
            <a:ext cx="3566160" cy="3520440"/>
          </a:xfrm>
          <a:prstGeom prst="roundRect">
            <a:avLst>
              <a:gd name="adj" fmla="val 2597"/>
            </a:avLst>
          </a:prstGeom>
          <a:solidFill>
            <a:srgbClr val="E6FAF8"/>
          </a:solidFill>
          <a:ln w="8890">
            <a:solidFill>
              <a:srgbClr val="9FE1CB"/>
            </a:solidFill>
            <a:prstDash val="solid"/>
          </a:ln>
        </p:spPr>
      </p:sp>
      <p:sp>
        <p:nvSpPr>
          <p:cNvPr id="17" name="Text 15"/>
          <p:cNvSpPr/>
          <p:nvPr/>
        </p:nvSpPr>
        <p:spPr>
          <a:xfrm>
            <a:off x="5440680" y="1115568"/>
            <a:ext cx="3291840" cy="274320"/>
          </a:xfrm>
          <a:prstGeom prst="rect">
            <a:avLst/>
          </a:prstGeom>
          <a:noFill/>
          <a:ln/>
        </p:spPr>
        <p:txBody>
          <a:bodyPr wrap="square" lIns="0" tIns="0" rIns="0" bIns="0" rtlCol="0" anchor="ctr"/>
          <a:lstStyle/>
          <a:p>
            <a:pPr indent="0" marL="0">
              <a:buNone/>
            </a:pPr>
            <a:r>
              <a:rPr lang="en-US" sz="950" b="1" spc="100" kern="0" dirty="0">
                <a:solidFill>
                  <a:srgbClr val="0D9488"/>
                </a:solidFill>
                <a:latin typeface="Calibri" pitchFamily="34" charset="0"/>
                <a:ea typeface="Calibri" pitchFamily="34" charset="-122"/>
                <a:cs typeface="Calibri" pitchFamily="34" charset="-120"/>
              </a:rPr>
              <a:t>SUPPLY SIDE</a:t>
            </a:r>
            <a:endParaRPr lang="en-US" sz="950" dirty="0"/>
          </a:p>
        </p:txBody>
      </p:sp>
      <p:sp>
        <p:nvSpPr>
          <p:cNvPr id="18" name="Text 16"/>
          <p:cNvSpPr/>
          <p:nvPr/>
        </p:nvSpPr>
        <p:spPr>
          <a:xfrm>
            <a:off x="5440680" y="1417320"/>
            <a:ext cx="3291840" cy="38404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Who is actually there</a:t>
            </a:r>
            <a:endParaRPr lang="en-US" sz="1500" dirty="0"/>
          </a:p>
        </p:txBody>
      </p:sp>
      <p:sp>
        <p:nvSpPr>
          <p:cNvPr id="19" name="Text 17"/>
          <p:cNvSpPr/>
          <p:nvPr/>
        </p:nvSpPr>
        <p:spPr>
          <a:xfrm>
            <a:off x="5440680" y="1920240"/>
            <a:ext cx="331012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All organised retail brands in India</a:t>
            </a:r>
            <a:endParaRPr lang="en-US" sz="1100" dirty="0"/>
          </a:p>
        </p:txBody>
      </p:sp>
      <p:sp>
        <p:nvSpPr>
          <p:cNvPr id="20" name="Text 18"/>
          <p:cNvSpPr/>
          <p:nvPr/>
        </p:nvSpPr>
        <p:spPr>
          <a:xfrm>
            <a:off x="5440680" y="2322576"/>
            <a:ext cx="331012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Store-level data: pincode, city, tier</a:t>
            </a:r>
            <a:endParaRPr lang="en-US" sz="1100" dirty="0"/>
          </a:p>
        </p:txBody>
      </p:sp>
      <p:sp>
        <p:nvSpPr>
          <p:cNvPr id="21" name="Text 19"/>
          <p:cNvSpPr/>
          <p:nvPr/>
        </p:nvSpPr>
        <p:spPr>
          <a:xfrm>
            <a:off x="5440680" y="2724912"/>
            <a:ext cx="331012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Segment classification: ASP + category</a:t>
            </a:r>
            <a:endParaRPr lang="en-US" sz="1100" dirty="0"/>
          </a:p>
        </p:txBody>
      </p:sp>
      <p:sp>
        <p:nvSpPr>
          <p:cNvPr id="22" name="Text 20"/>
          <p:cNvSpPr/>
          <p:nvPr/>
        </p:nvSpPr>
        <p:spPr>
          <a:xfrm>
            <a:off x="5440680" y="3127248"/>
            <a:ext cx="331012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Revenue per store by tier (scraped)</a:t>
            </a:r>
            <a:endParaRPr lang="en-US" sz="1100" dirty="0"/>
          </a:p>
        </p:txBody>
      </p:sp>
      <p:sp>
        <p:nvSpPr>
          <p:cNvPr id="23" name="Text 21"/>
          <p:cNvSpPr/>
          <p:nvPr/>
        </p:nvSpPr>
        <p:spPr>
          <a:xfrm>
            <a:off x="5440680" y="3529584"/>
            <a:ext cx="3310128" cy="36576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Aggregated to pincode, city, state level</a:t>
            </a:r>
            <a:endParaRPr lang="en-US" sz="1100" dirty="0"/>
          </a:p>
        </p:txBody>
      </p:sp>
      <p:sp>
        <p:nvSpPr>
          <p:cNvPr id="24" name="Text 22"/>
          <p:cNvSpPr/>
          <p:nvPr/>
        </p:nvSpPr>
        <p:spPr>
          <a:xfrm>
            <a:off x="5440680" y="3931920"/>
            <a:ext cx="3310128" cy="36576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Organised revenue captured per area</a:t>
            </a:r>
            <a:endParaRPr lang="en-US" sz="1100" dirty="0"/>
          </a:p>
        </p:txBody>
      </p:sp>
      <p:sp>
        <p:nvSpPr>
          <p:cNvPr id="25" name="Text 23"/>
          <p:cNvSpPr/>
          <p:nvPr/>
        </p:nvSpPr>
        <p:spPr>
          <a:xfrm>
            <a:off x="5440680" y="3977640"/>
            <a:ext cx="331012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OUTPUT: 31,803 stores mapped across India</a:t>
            </a:r>
            <a:endParaRPr lang="en-US" sz="1100" dirty="0"/>
          </a:p>
        </p:txBody>
      </p:sp>
      <p:sp>
        <p:nvSpPr>
          <p:cNvPr id="26" name="Text 24"/>
          <p:cNvSpPr/>
          <p:nvPr/>
        </p:nvSpPr>
        <p:spPr>
          <a:xfrm>
            <a:off x="411480" y="4572000"/>
            <a:ext cx="8321040" cy="34747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The match produces one number per pincode: gap = wallet − organised revenue captured. Summed across India, the gap is Rs.7.38 lakh crore.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₹7.38 Lakh Crore — The Demand-Supply Gap, Tier by Tier</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INSIGHTS  ·  Total apparel+footwear wallet vs organised revenue by city tier  ·  Source: City Level sheet, Demand workbook</a:t>
            </a:r>
            <a:endParaRPr lang="en-US" sz="950" dirty="0"/>
          </a:p>
        </p:txBody>
      </p:sp>
      <p:graphicFrame>
        <p:nvGraphicFramePr>
          <p:cNvPr id="4" name="Chart 0" descr=""/>
          <p:cNvGraphicFramePr/>
          <p:nvPr/>
        </p:nvGraphicFramePr>
        <p:xfrm>
          <a:off x="384048" y="987552"/>
          <a:ext cx="6126480" cy="331012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20840" y="987552"/>
            <a:ext cx="2176272" cy="3310128"/>
          </a:xfrm>
          <a:prstGeom prst="roundRect">
            <a:avLst>
              <a:gd name="adj" fmla="val 4202"/>
            </a:avLst>
          </a:prstGeom>
          <a:solidFill>
            <a:srgbClr val="FEF4E6"/>
          </a:solidFill>
          <a:ln w="7620">
            <a:solidFill>
              <a:srgbClr val="BA7517"/>
            </a:solidFill>
            <a:prstDash val="solid"/>
          </a:ln>
        </p:spPr>
      </p:sp>
      <p:sp>
        <p:nvSpPr>
          <p:cNvPr id="6" name="Text 3"/>
          <p:cNvSpPr/>
          <p:nvPr/>
        </p:nvSpPr>
        <p:spPr>
          <a:xfrm>
            <a:off x="6784848" y="1170432"/>
            <a:ext cx="2048256" cy="987552"/>
          </a:xfrm>
          <a:prstGeom prst="rect">
            <a:avLst/>
          </a:prstGeom>
          <a:noFill/>
          <a:ln/>
        </p:spPr>
        <p:txBody>
          <a:bodyPr wrap="square" lIns="0" tIns="0" rIns="0" bIns="0" rtlCol="0" anchor="ctr"/>
          <a:lstStyle/>
          <a:p>
            <a:pPr algn="ctr" indent="0" marL="0">
              <a:buNone/>
            </a:pPr>
            <a:r>
              <a:rPr lang="en-US" sz="5600" b="1" dirty="0">
                <a:solidFill>
                  <a:srgbClr val="BA7517"/>
                </a:solidFill>
                <a:latin typeface="Calibri" pitchFamily="34" charset="0"/>
                <a:ea typeface="Calibri" pitchFamily="34" charset="-122"/>
                <a:cs typeface="Calibri" pitchFamily="34" charset="-120"/>
              </a:rPr>
              <a:t>85%</a:t>
            </a:r>
            <a:endParaRPr lang="en-US" sz="5600" dirty="0"/>
          </a:p>
        </p:txBody>
      </p:sp>
      <p:sp>
        <p:nvSpPr>
          <p:cNvPr id="7" name="Text 4"/>
          <p:cNvSpPr/>
          <p:nvPr/>
        </p:nvSpPr>
        <p:spPr>
          <a:xfrm>
            <a:off x="6784848" y="2212848"/>
            <a:ext cx="2048256" cy="68580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of India’s apparel wallet flows through unorganised trade</a:t>
            </a:r>
            <a:endParaRPr lang="en-US" sz="1050" dirty="0"/>
          </a:p>
        </p:txBody>
      </p:sp>
      <p:sp>
        <p:nvSpPr>
          <p:cNvPr id="8" name="Text 5"/>
          <p:cNvSpPr/>
          <p:nvPr/>
        </p:nvSpPr>
        <p:spPr>
          <a:xfrm>
            <a:off x="6784848" y="2962656"/>
            <a:ext cx="2048256" cy="329184"/>
          </a:xfrm>
          <a:prstGeom prst="rect">
            <a:avLst/>
          </a:prstGeom>
          <a:noFill/>
          <a:ln/>
        </p:spPr>
        <p:txBody>
          <a:bodyPr wrap="square" lIns="0" tIns="0" rIns="0" bIns="0" rtlCol="0" anchor="ctr"/>
          <a:lstStyle/>
          <a:p>
            <a:pPr algn="ctr" indent="0" marL="0">
              <a:buNone/>
            </a:pPr>
            <a:r>
              <a:rPr lang="en-US" sz="1300" b="1" dirty="0">
                <a:solidFill>
                  <a:srgbClr val="BA7517"/>
                </a:solidFill>
                <a:latin typeface="Calibri" pitchFamily="34" charset="0"/>
                <a:ea typeface="Calibri" pitchFamily="34" charset="-122"/>
                <a:cs typeface="Calibri" pitchFamily="34" charset="-120"/>
              </a:rPr>
              <a:t>Today.</a:t>
            </a:r>
            <a:endParaRPr lang="en-US" sz="1300" dirty="0"/>
          </a:p>
        </p:txBody>
      </p:sp>
      <p:sp>
        <p:nvSpPr>
          <p:cNvPr id="9" name="Text 6"/>
          <p:cNvSpPr/>
          <p:nvPr/>
        </p:nvSpPr>
        <p:spPr>
          <a:xfrm>
            <a:off x="6784848" y="3328416"/>
            <a:ext cx="2048256" cy="6583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Not a future estimate. Not a projection. The current state.</a:t>
            </a:r>
            <a:endParaRPr lang="en-US" sz="900" dirty="0"/>
          </a:p>
        </p:txBody>
      </p:sp>
      <p:sp>
        <p:nvSpPr>
          <p:cNvPr id="10" name="Text 7"/>
          <p:cNvSpPr/>
          <p:nvPr/>
        </p:nvSpPr>
        <p:spPr>
          <a:xfrm>
            <a:off x="411480" y="4572000"/>
            <a:ext cx="8321040" cy="34747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The gap exists in every tier. It is not a T3/T4 story exclusively — even Metro has 69% of wallet flowing through unorganised channels. The framework reveals that organised retail is at the beginning of its India journey, not the end.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The Wallet and the Stores Are in Different Places</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INSIGHTS  ·  Wallet share vs organised store share by city tier  ·  Source: City Level sheet + Brand Summary</a:t>
            </a:r>
            <a:endParaRPr lang="en-US" sz="950" dirty="0"/>
          </a:p>
        </p:txBody>
      </p:sp>
      <p:graphicFrame>
        <p:nvGraphicFramePr>
          <p:cNvPr id="4" name="Chart 0" descr=""/>
          <p:cNvGraphicFramePr/>
          <p:nvPr/>
        </p:nvGraphicFramePr>
        <p:xfrm>
          <a:off x="384048" y="987552"/>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051560"/>
            <a:ext cx="2578608" cy="1572768"/>
          </a:xfrm>
          <a:prstGeom prst="roundRect">
            <a:avLst>
              <a:gd name="adj" fmla="val 5233"/>
            </a:avLst>
          </a:prstGeom>
          <a:solidFill>
            <a:srgbClr val="FEF0EC"/>
          </a:solidFill>
          <a:ln w="8890">
            <a:solidFill>
              <a:srgbClr val="D85A30"/>
            </a:solidFill>
            <a:prstDash val="solid"/>
          </a:ln>
        </p:spPr>
      </p:sp>
      <p:sp>
        <p:nvSpPr>
          <p:cNvPr id="6" name="Text 3"/>
          <p:cNvSpPr/>
          <p:nvPr/>
        </p:nvSpPr>
        <p:spPr>
          <a:xfrm>
            <a:off x="6419088" y="1161288"/>
            <a:ext cx="2377440" cy="329184"/>
          </a:xfrm>
          <a:prstGeom prst="rect">
            <a:avLst/>
          </a:prstGeom>
          <a:noFill/>
          <a:ln/>
        </p:spPr>
        <p:txBody>
          <a:bodyPr wrap="square" lIns="0" tIns="0" rIns="0" bIns="0" rtlCol="0" anchor="ctr"/>
          <a:lstStyle/>
          <a:p>
            <a:pPr indent="0" marL="0">
              <a:buNone/>
            </a:pPr>
            <a:r>
              <a:rPr lang="en-US" sz="1150" b="1" dirty="0">
                <a:solidFill>
                  <a:srgbClr val="D85A30"/>
                </a:solidFill>
                <a:latin typeface="Calibri" pitchFamily="34" charset="0"/>
                <a:ea typeface="Calibri" pitchFamily="34" charset="-122"/>
                <a:cs typeface="Calibri" pitchFamily="34" charset="-120"/>
              </a:rPr>
              <a:t>Metro over-indexed</a:t>
            </a:r>
            <a:endParaRPr lang="en-US" sz="1150" dirty="0"/>
          </a:p>
        </p:txBody>
      </p:sp>
      <p:sp>
        <p:nvSpPr>
          <p:cNvPr id="7" name="Text 4"/>
          <p:cNvSpPr/>
          <p:nvPr/>
        </p:nvSpPr>
        <p:spPr>
          <a:xfrm>
            <a:off x="6419088" y="1508760"/>
            <a:ext cx="23774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36% of organised stores. Only 22% of wallet. Metro is over-invested relative to its share of spending.</a:t>
            </a:r>
            <a:endParaRPr lang="en-US" sz="1000" dirty="0"/>
          </a:p>
        </p:txBody>
      </p:sp>
      <p:sp>
        <p:nvSpPr>
          <p:cNvPr id="8" name="Shape 5"/>
          <p:cNvSpPr/>
          <p:nvPr/>
        </p:nvSpPr>
        <p:spPr>
          <a:xfrm>
            <a:off x="6309360" y="2770632"/>
            <a:ext cx="2578608" cy="1572768"/>
          </a:xfrm>
          <a:prstGeom prst="roundRect">
            <a:avLst>
              <a:gd name="adj" fmla="val 5233"/>
            </a:avLst>
          </a:prstGeom>
          <a:solidFill>
            <a:srgbClr val="E6FAF8"/>
          </a:solidFill>
          <a:ln w="8890">
            <a:solidFill>
              <a:srgbClr val="0D9488"/>
            </a:solidFill>
            <a:prstDash val="solid"/>
          </a:ln>
        </p:spPr>
      </p:sp>
      <p:sp>
        <p:nvSpPr>
          <p:cNvPr id="9" name="Text 6"/>
          <p:cNvSpPr/>
          <p:nvPr/>
        </p:nvSpPr>
        <p:spPr>
          <a:xfrm>
            <a:off x="6419088" y="2880360"/>
            <a:ext cx="2377440" cy="329184"/>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T3 + T4 under-indexed</a:t>
            </a:r>
            <a:endParaRPr lang="en-US" sz="1150" dirty="0"/>
          </a:p>
        </p:txBody>
      </p:sp>
      <p:sp>
        <p:nvSpPr>
          <p:cNvPr id="10" name="Text 7"/>
          <p:cNvSpPr/>
          <p:nvPr/>
        </p:nvSpPr>
        <p:spPr>
          <a:xfrm>
            <a:off x="6419088" y="3227832"/>
            <a:ext cx="23774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32% of total wallet. Only 22% of organised stores. The largest underserved pocket in Indian retail.</a:t>
            </a:r>
            <a:endParaRPr lang="en-US" sz="1000" dirty="0"/>
          </a:p>
        </p:txBody>
      </p:sp>
      <p:graphicFrame>
        <p:nvGraphicFramePr>
          <p:cNvPr id="11" name="Chart 1" descr=""/>
          <p:cNvGraphicFramePr/>
          <p:nvPr/>
        </p:nvGraphicFramePr>
        <p:xfrm>
          <a:off x="384048" y="4407408"/>
          <a:ext cx="5760720" cy="658368"/>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Organised Retail Has Barely Started</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INSIGHTS  ·  What the demand-supply match reveals about India’s retail penetration curve</a:t>
            </a:r>
            <a:endParaRPr lang="en-US" sz="950" dirty="0"/>
          </a:p>
        </p:txBody>
      </p:sp>
      <p:sp>
        <p:nvSpPr>
          <p:cNvPr id="4" name="Shape 2"/>
          <p:cNvSpPr/>
          <p:nvPr/>
        </p:nvSpPr>
        <p:spPr>
          <a:xfrm>
            <a:off x="347472" y="1170432"/>
            <a:ext cx="2816352" cy="3200400"/>
          </a:xfrm>
          <a:prstGeom prst="roundRect">
            <a:avLst>
              <a:gd name="adj" fmla="val 3247"/>
            </a:avLst>
          </a:prstGeom>
          <a:solidFill>
            <a:srgbClr val="F0EFFF"/>
          </a:solidFill>
          <a:ln w="7620">
            <a:solidFill>
              <a:srgbClr val="C4BDFF"/>
            </a:solidFill>
            <a:prstDash val="solid"/>
          </a:ln>
          <a:effectLst>
            <a:outerShdw sx="100000" sy="100000" kx="0" ky="0" algn="bl" rotWithShape="0" blurRad="63500" dist="25400" dir="5400000">
              <a:srgbClr val="000000">
                <a:alpha val="7000"/>
              </a:srgbClr>
            </a:outerShdw>
          </a:effectLst>
        </p:spPr>
      </p:sp>
      <p:sp>
        <p:nvSpPr>
          <p:cNvPr id="5" name="Text 3"/>
          <p:cNvSpPr/>
          <p:nvPr/>
        </p:nvSpPr>
        <p:spPr>
          <a:xfrm>
            <a:off x="475488" y="1298448"/>
            <a:ext cx="2560320" cy="804672"/>
          </a:xfrm>
          <a:prstGeom prst="rect">
            <a:avLst/>
          </a:prstGeom>
          <a:noFill/>
          <a:ln/>
        </p:spPr>
        <p:txBody>
          <a:bodyPr wrap="square" lIns="0" tIns="0" rIns="0" bIns="0" rtlCol="0" anchor="ctr"/>
          <a:lstStyle/>
          <a:p>
            <a:pPr indent="0" marL="0">
              <a:buNone/>
            </a:pPr>
            <a:r>
              <a:rPr lang="en-US" sz="4200" b="1" dirty="0">
                <a:solidFill>
                  <a:srgbClr val="6D5FD4"/>
                </a:solidFill>
                <a:latin typeface="Calibri" pitchFamily="34" charset="0"/>
                <a:ea typeface="Calibri" pitchFamily="34" charset="-122"/>
                <a:cs typeface="Calibri" pitchFamily="34" charset="-120"/>
              </a:rPr>
              <a:t>31%</a:t>
            </a:r>
            <a:endParaRPr lang="en-US" sz="4200" dirty="0"/>
          </a:p>
        </p:txBody>
      </p:sp>
      <p:sp>
        <p:nvSpPr>
          <p:cNvPr id="6" name="Text 4"/>
          <p:cNvSpPr/>
          <p:nvPr/>
        </p:nvSpPr>
        <p:spPr>
          <a:xfrm>
            <a:off x="475488" y="2121408"/>
            <a:ext cx="2560320" cy="47548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Metro — highest organised penetration of any tier</a:t>
            </a:r>
            <a:endParaRPr lang="en-US" sz="1100" dirty="0"/>
          </a:p>
        </p:txBody>
      </p:sp>
      <p:sp>
        <p:nvSpPr>
          <p:cNvPr id="7" name="Text 5"/>
          <p:cNvSpPr/>
          <p:nvPr/>
        </p:nvSpPr>
        <p:spPr>
          <a:xfrm>
            <a:off x="475488" y="2670048"/>
            <a:ext cx="2560320" cy="1508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Even India’s most mature retail market has 69% of its apparel wallet in unorganised hands. This is not a near-saturation story.</a:t>
            </a:r>
            <a:endParaRPr lang="en-US" sz="1000" dirty="0"/>
          </a:p>
        </p:txBody>
      </p:sp>
      <p:sp>
        <p:nvSpPr>
          <p:cNvPr id="8" name="Shape 6"/>
          <p:cNvSpPr/>
          <p:nvPr/>
        </p:nvSpPr>
        <p:spPr>
          <a:xfrm>
            <a:off x="3319272" y="1170432"/>
            <a:ext cx="2816352" cy="3200400"/>
          </a:xfrm>
          <a:prstGeom prst="roundRect">
            <a:avLst>
              <a:gd name="adj" fmla="val 3247"/>
            </a:avLst>
          </a:prstGeom>
          <a:solidFill>
            <a:srgbClr val="FEF4E6"/>
          </a:solidFill>
          <a:ln w="7620">
            <a:solidFill>
              <a:srgbClr val="F7C97C"/>
            </a:solidFill>
            <a:prstDash val="solid"/>
          </a:ln>
          <a:effectLst>
            <a:outerShdw sx="100000" sy="100000" kx="0" ky="0" algn="bl" rotWithShape="0" blurRad="63500" dist="25400" dir="5400000">
              <a:srgbClr val="000000">
                <a:alpha val="7000"/>
              </a:srgbClr>
            </a:outerShdw>
          </a:effectLst>
        </p:spPr>
      </p:sp>
      <p:sp>
        <p:nvSpPr>
          <p:cNvPr id="9" name="Text 7"/>
          <p:cNvSpPr/>
          <p:nvPr/>
        </p:nvSpPr>
        <p:spPr>
          <a:xfrm>
            <a:off x="3447288" y="1298448"/>
            <a:ext cx="2560320" cy="804672"/>
          </a:xfrm>
          <a:prstGeom prst="rect">
            <a:avLst/>
          </a:prstGeom>
          <a:noFill/>
          <a:ln/>
        </p:spPr>
        <p:txBody>
          <a:bodyPr wrap="square" lIns="0" tIns="0" rIns="0" bIns="0" rtlCol="0" anchor="ctr"/>
          <a:lstStyle/>
          <a:p>
            <a:pPr indent="0" marL="0">
              <a:buNone/>
            </a:pPr>
            <a:r>
              <a:rPr lang="en-US" sz="4200" b="1" dirty="0">
                <a:solidFill>
                  <a:srgbClr val="BA7517"/>
                </a:solidFill>
                <a:latin typeface="Calibri" pitchFamily="34" charset="0"/>
                <a:ea typeface="Calibri" pitchFamily="34" charset="-122"/>
                <a:cs typeface="Calibri" pitchFamily="34" charset="-120"/>
              </a:rPr>
              <a:t>&lt;12%</a:t>
            </a:r>
            <a:endParaRPr lang="en-US" sz="4200" dirty="0"/>
          </a:p>
        </p:txBody>
      </p:sp>
      <p:sp>
        <p:nvSpPr>
          <p:cNvPr id="10" name="Text 8"/>
          <p:cNvSpPr/>
          <p:nvPr/>
        </p:nvSpPr>
        <p:spPr>
          <a:xfrm>
            <a:off x="3447288" y="2121408"/>
            <a:ext cx="2560320" cy="47548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T3 and below — most of India by pincode count</a:t>
            </a:r>
            <a:endParaRPr lang="en-US" sz="1100" dirty="0"/>
          </a:p>
        </p:txBody>
      </p:sp>
      <p:sp>
        <p:nvSpPr>
          <p:cNvPr id="11" name="Text 9"/>
          <p:cNvSpPr/>
          <p:nvPr/>
        </p:nvSpPr>
        <p:spPr>
          <a:xfrm>
            <a:off x="3447288" y="2670048"/>
            <a:ext cx="2560320" cy="1508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The majority of India’s pincodes are at &lt;12% organised penetration. Secular demand exists. Supply does not.</a:t>
            </a:r>
            <a:endParaRPr lang="en-US" sz="1000" dirty="0"/>
          </a:p>
        </p:txBody>
      </p:sp>
      <p:sp>
        <p:nvSpPr>
          <p:cNvPr id="12" name="Shape 10"/>
          <p:cNvSpPr/>
          <p:nvPr/>
        </p:nvSpPr>
        <p:spPr>
          <a:xfrm>
            <a:off x="6291072" y="1170432"/>
            <a:ext cx="2816352" cy="3200400"/>
          </a:xfrm>
          <a:prstGeom prst="roundRect">
            <a:avLst>
              <a:gd name="adj" fmla="val 3247"/>
            </a:avLst>
          </a:prstGeom>
          <a:solidFill>
            <a:srgbClr val="E6FAF8"/>
          </a:solidFill>
          <a:ln w="7620">
            <a:solidFill>
              <a:srgbClr val="9FE1CB"/>
            </a:solidFill>
            <a:prstDash val="solid"/>
          </a:ln>
          <a:effectLst>
            <a:outerShdw sx="100000" sy="100000" kx="0" ky="0" algn="bl" rotWithShape="0" blurRad="63500" dist="25400" dir="5400000">
              <a:srgbClr val="000000">
                <a:alpha val="7000"/>
              </a:srgbClr>
            </a:outerShdw>
          </a:effectLst>
        </p:spPr>
      </p:sp>
      <p:sp>
        <p:nvSpPr>
          <p:cNvPr id="13" name="Text 11"/>
          <p:cNvSpPr/>
          <p:nvPr/>
        </p:nvSpPr>
        <p:spPr>
          <a:xfrm>
            <a:off x="6419088" y="1298448"/>
            <a:ext cx="2560320" cy="804672"/>
          </a:xfrm>
          <a:prstGeom prst="rect">
            <a:avLst/>
          </a:prstGeom>
          <a:noFill/>
          <a:ln/>
        </p:spPr>
        <p:txBody>
          <a:bodyPr wrap="square" lIns="0" tIns="0" rIns="0" bIns="0" rtlCol="0" anchor="ctr"/>
          <a:lstStyle/>
          <a:p>
            <a:pPr indent="0" marL="0">
              <a:buNone/>
            </a:pPr>
            <a:r>
              <a:rPr lang="en-US" sz="4200" b="1" dirty="0">
                <a:solidFill>
                  <a:srgbClr val="0D9488"/>
                </a:solidFill>
                <a:latin typeface="Calibri" pitchFamily="34" charset="0"/>
                <a:ea typeface="Calibri" pitchFamily="34" charset="-122"/>
                <a:cs typeface="Calibri" pitchFamily="34" charset="-120"/>
              </a:rPr>
              <a:t>Inning 1</a:t>
            </a:r>
            <a:endParaRPr lang="en-US" sz="4200" dirty="0"/>
          </a:p>
        </p:txBody>
      </p:sp>
      <p:sp>
        <p:nvSpPr>
          <p:cNvPr id="14" name="Text 12"/>
          <p:cNvSpPr/>
          <p:nvPr/>
        </p:nvSpPr>
        <p:spPr>
          <a:xfrm>
            <a:off x="6419088" y="2121408"/>
            <a:ext cx="2560320" cy="475488"/>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Where Indian fashion retail sits on its penetration curve</a:t>
            </a:r>
            <a:endParaRPr lang="en-US" sz="1100" dirty="0"/>
          </a:p>
        </p:txBody>
      </p:sp>
      <p:sp>
        <p:nvSpPr>
          <p:cNvPr id="15" name="Text 13"/>
          <p:cNvSpPr/>
          <p:nvPr/>
        </p:nvSpPr>
        <p:spPr>
          <a:xfrm>
            <a:off x="6419088" y="2670048"/>
            <a:ext cx="2560320" cy="1508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tier is close to saturation. The demand is real, pincode-verified, and at current MPCE. It doesn’t need GDP growth to materialise.</a:t>
            </a:r>
            <a:endParaRPr lang="en-US" sz="1000" dirty="0"/>
          </a:p>
        </p:txBody>
      </p:sp>
      <p:sp>
        <p:nvSpPr>
          <p:cNvPr id="16" name="Text 14"/>
          <p:cNvSpPr/>
          <p:nvPr/>
        </p:nvSpPr>
        <p:spPr>
          <a:xfrm>
            <a:off x="411480" y="4572000"/>
            <a:ext cx="8321040" cy="34747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The implications of this for retail investment: the penetration story in Indian fashion retail is secular and long-dated. Whoever builds supply in underserved geographies today locks in the market share transition from unorganised to organised trade.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rtlCol="0" anchor="ctr"/>
          <a:lstStyle/>
          <a:p>
            <a:pPr indent="0" marL="0">
              <a:buNone/>
            </a:pPr>
            <a:r>
              <a:rPr lang="en-US" sz="850" spc="200" kern="0" dirty="0">
                <a:solidFill>
                  <a:srgbClr val="CADCFC"/>
                </a:solidFill>
                <a:latin typeface="Calibri" pitchFamily="34" charset="0"/>
                <a:ea typeface="Calibri" pitchFamily="34" charset="-122"/>
                <a:cs typeface="Calibri" pitchFamily="34" charset="-120"/>
              </a:rPr>
              <a:t>INVESTMENT IMPLICATIONS  ·  ZUDIO / TRENT</a:t>
            </a:r>
            <a:endParaRPr lang="en-US" sz="850" dirty="0"/>
          </a:p>
        </p:txBody>
      </p:sp>
      <p:sp>
        <p:nvSpPr>
          <p:cNvPr id="3" name="Text 1"/>
          <p:cNvSpPr/>
          <p:nvPr/>
        </p:nvSpPr>
        <p:spPr>
          <a:xfrm>
            <a:off x="457200" y="566928"/>
            <a:ext cx="8229600" cy="6858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Where Does Zudio Stand in This Picture?</a:t>
            </a:r>
            <a:endParaRPr lang="en-US" sz="2800" dirty="0"/>
          </a:p>
        </p:txBody>
      </p:sp>
      <p:sp>
        <p:nvSpPr>
          <p:cNvPr id="4" name="Shape 2"/>
          <p:cNvSpPr/>
          <p:nvPr/>
        </p:nvSpPr>
        <p:spPr>
          <a:xfrm>
            <a:off x="411480" y="1444752"/>
            <a:ext cx="2816352" cy="1508760"/>
          </a:xfrm>
          <a:prstGeom prst="roundRect">
            <a:avLst>
              <a:gd name="adj" fmla="val 6061"/>
            </a:avLst>
          </a:prstGeom>
          <a:solidFill>
            <a:srgbClr val="263270"/>
          </a:solidFill>
          <a:ln w="6350">
            <a:solidFill>
              <a:srgbClr val="3A4A8A"/>
            </a:solidFill>
            <a:prstDash val="solid"/>
          </a:ln>
        </p:spPr>
      </p:sp>
      <p:sp>
        <p:nvSpPr>
          <p:cNvPr id="5" name="Text 3"/>
          <p:cNvSpPr/>
          <p:nvPr/>
        </p:nvSpPr>
        <p:spPr>
          <a:xfrm>
            <a:off x="539496" y="1554480"/>
            <a:ext cx="2560320" cy="640080"/>
          </a:xfrm>
          <a:prstGeom prst="rect">
            <a:avLst/>
          </a:prstGeom>
          <a:noFill/>
          <a:ln/>
        </p:spPr>
        <p:txBody>
          <a:bodyPr wrap="square" lIns="0" tIns="0" rIns="0" bIns="0" rtlCol="0" anchor="ctr"/>
          <a:lstStyle/>
          <a:p>
            <a:pPr indent="0" marL="0">
              <a:buNone/>
            </a:pPr>
            <a:r>
              <a:rPr lang="en-US" sz="2800" b="1" dirty="0">
                <a:solidFill>
                  <a:srgbClr val="CADCFC"/>
                </a:solidFill>
                <a:latin typeface="Calibri" pitchFamily="34" charset="0"/>
                <a:ea typeface="Calibri" pitchFamily="34" charset="-122"/>
                <a:cs typeface="Calibri" pitchFamily="34" charset="-120"/>
              </a:rPr>
              <a:t>₹12,804 Cr</a:t>
            </a:r>
            <a:endParaRPr lang="en-US" sz="2800" dirty="0"/>
          </a:p>
        </p:txBody>
      </p:sp>
      <p:sp>
        <p:nvSpPr>
          <p:cNvPr id="6" name="Text 4"/>
          <p:cNvSpPr/>
          <p:nvPr/>
        </p:nvSpPr>
        <p:spPr>
          <a:xfrm>
            <a:off x="539496" y="217627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Current revenue</a:t>
            </a:r>
            <a:endParaRPr lang="en-US" sz="1150" dirty="0"/>
          </a:p>
        </p:txBody>
      </p:sp>
      <p:sp>
        <p:nvSpPr>
          <p:cNvPr id="7" name="Text 5"/>
          <p:cNvSpPr/>
          <p:nvPr/>
        </p:nvSpPr>
        <p:spPr>
          <a:xfrm>
            <a:off x="539496" y="2468880"/>
            <a:ext cx="2560320" cy="34747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FY26E from our pincode model  ·  One of two national value players</a:t>
            </a:r>
            <a:endParaRPr lang="en-US" sz="950" dirty="0"/>
          </a:p>
        </p:txBody>
      </p:sp>
      <p:sp>
        <p:nvSpPr>
          <p:cNvPr id="8" name="Shape 6"/>
          <p:cNvSpPr/>
          <p:nvPr/>
        </p:nvSpPr>
        <p:spPr>
          <a:xfrm>
            <a:off x="3383280" y="1444752"/>
            <a:ext cx="2816352" cy="1508760"/>
          </a:xfrm>
          <a:prstGeom prst="roundRect">
            <a:avLst>
              <a:gd name="adj" fmla="val 6061"/>
            </a:avLst>
          </a:prstGeom>
          <a:solidFill>
            <a:srgbClr val="263270"/>
          </a:solidFill>
          <a:ln w="6350">
            <a:solidFill>
              <a:srgbClr val="3A4A8A"/>
            </a:solidFill>
            <a:prstDash val="solid"/>
          </a:ln>
        </p:spPr>
      </p:sp>
      <p:sp>
        <p:nvSpPr>
          <p:cNvPr id="9" name="Text 7"/>
          <p:cNvSpPr/>
          <p:nvPr/>
        </p:nvSpPr>
        <p:spPr>
          <a:xfrm>
            <a:off x="3511296" y="1554480"/>
            <a:ext cx="2560320" cy="640080"/>
          </a:xfrm>
          <a:prstGeom prst="rect">
            <a:avLst/>
          </a:prstGeom>
          <a:noFill/>
          <a:ln/>
        </p:spPr>
        <p:txBody>
          <a:bodyPr wrap="square" lIns="0" tIns="0" rIns="0" bIns="0" rtlCol="0" anchor="ctr"/>
          <a:lstStyle/>
          <a:p>
            <a:pPr indent="0" marL="0">
              <a:buNone/>
            </a:pPr>
            <a:r>
              <a:rPr lang="en-US" sz="2800" b="1" dirty="0">
                <a:solidFill>
                  <a:srgbClr val="CADCFC"/>
                </a:solidFill>
                <a:latin typeface="Calibri" pitchFamily="34" charset="0"/>
                <a:ea typeface="Calibri" pitchFamily="34" charset="-122"/>
                <a:cs typeface="Calibri" pitchFamily="34" charset="-120"/>
              </a:rPr>
              <a:t>958</a:t>
            </a:r>
            <a:endParaRPr lang="en-US" sz="2800" dirty="0"/>
          </a:p>
        </p:txBody>
      </p:sp>
      <p:sp>
        <p:nvSpPr>
          <p:cNvPr id="10" name="Text 8"/>
          <p:cNvSpPr/>
          <p:nvPr/>
        </p:nvSpPr>
        <p:spPr>
          <a:xfrm>
            <a:off x="3511296" y="217627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Stores today</a:t>
            </a:r>
            <a:endParaRPr lang="en-US" sz="1150" dirty="0"/>
          </a:p>
        </p:txBody>
      </p:sp>
      <p:sp>
        <p:nvSpPr>
          <p:cNvPr id="11" name="Text 9"/>
          <p:cNvSpPr/>
          <p:nvPr/>
        </p:nvSpPr>
        <p:spPr>
          <a:xfrm>
            <a:off x="3511296" y="2468880"/>
            <a:ext cx="2560320" cy="34747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FY26  ·  229 added in FY26 alone — fastest expansion year in Zudio’s history</a:t>
            </a:r>
            <a:endParaRPr lang="en-US" sz="950" dirty="0"/>
          </a:p>
        </p:txBody>
      </p:sp>
      <p:sp>
        <p:nvSpPr>
          <p:cNvPr id="12" name="Shape 10"/>
          <p:cNvSpPr/>
          <p:nvPr/>
        </p:nvSpPr>
        <p:spPr>
          <a:xfrm>
            <a:off x="6355080" y="1444752"/>
            <a:ext cx="2816352" cy="1508760"/>
          </a:xfrm>
          <a:prstGeom prst="roundRect">
            <a:avLst>
              <a:gd name="adj" fmla="val 6061"/>
            </a:avLst>
          </a:prstGeom>
          <a:solidFill>
            <a:srgbClr val="263270"/>
          </a:solidFill>
          <a:ln w="6350">
            <a:solidFill>
              <a:srgbClr val="3A4A8A"/>
            </a:solidFill>
            <a:prstDash val="solid"/>
          </a:ln>
        </p:spPr>
      </p:sp>
      <p:sp>
        <p:nvSpPr>
          <p:cNvPr id="13" name="Text 11"/>
          <p:cNvSpPr/>
          <p:nvPr/>
        </p:nvSpPr>
        <p:spPr>
          <a:xfrm>
            <a:off x="6483096" y="1554480"/>
            <a:ext cx="2560320" cy="640080"/>
          </a:xfrm>
          <a:prstGeom prst="rect">
            <a:avLst/>
          </a:prstGeom>
          <a:noFill/>
          <a:ln/>
        </p:spPr>
        <p:txBody>
          <a:bodyPr wrap="square" lIns="0" tIns="0" rIns="0" bIns="0" rtlCol="0" anchor="ctr"/>
          <a:lstStyle/>
          <a:p>
            <a:pPr indent="0" marL="0">
              <a:buNone/>
            </a:pPr>
            <a:r>
              <a:rPr lang="en-US" sz="2800" b="1" dirty="0">
                <a:solidFill>
                  <a:srgbClr val="CADCFC"/>
                </a:solidFill>
                <a:latin typeface="Calibri" pitchFamily="34" charset="0"/>
                <a:ea typeface="Calibri" pitchFamily="34" charset="-122"/>
                <a:cs typeface="Calibri" pitchFamily="34" charset="-120"/>
              </a:rPr>
              <a:t>1.5%</a:t>
            </a:r>
            <a:endParaRPr lang="en-US" sz="2800" dirty="0"/>
          </a:p>
        </p:txBody>
      </p:sp>
      <p:sp>
        <p:nvSpPr>
          <p:cNvPr id="14" name="Text 12"/>
          <p:cNvSpPr/>
          <p:nvPr/>
        </p:nvSpPr>
        <p:spPr>
          <a:xfrm>
            <a:off x="6483096" y="217627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Wallet capture rate</a:t>
            </a:r>
            <a:endParaRPr lang="en-US" sz="1150" dirty="0"/>
          </a:p>
        </p:txBody>
      </p:sp>
      <p:sp>
        <p:nvSpPr>
          <p:cNvPr id="15" name="Text 13"/>
          <p:cNvSpPr/>
          <p:nvPr/>
        </p:nvSpPr>
        <p:spPr>
          <a:xfrm>
            <a:off x="6483096" y="2468880"/>
            <a:ext cx="2560320" cy="34747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Of India’s total apparel+footwear wallet  ·  ₹12,804 Cr ÷ ₹8,67,765 Cr</a:t>
            </a:r>
            <a:endParaRPr lang="en-US" sz="950" dirty="0"/>
          </a:p>
        </p:txBody>
      </p:sp>
      <p:sp>
        <p:nvSpPr>
          <p:cNvPr id="16" name="Shape 14"/>
          <p:cNvSpPr/>
          <p:nvPr/>
        </p:nvSpPr>
        <p:spPr>
          <a:xfrm>
            <a:off x="411480" y="3127248"/>
            <a:ext cx="8394192" cy="1417320"/>
          </a:xfrm>
          <a:prstGeom prst="roundRect">
            <a:avLst>
              <a:gd name="adj" fmla="val 5161"/>
            </a:avLst>
          </a:prstGeom>
          <a:solidFill>
            <a:srgbClr val="263270"/>
          </a:solidFill>
          <a:ln w="6350">
            <a:solidFill>
              <a:srgbClr val="3A4A8A"/>
            </a:solidFill>
            <a:prstDash val="solid"/>
          </a:ln>
        </p:spPr>
      </p:sp>
      <p:sp>
        <p:nvSpPr>
          <p:cNvPr id="17" name="Text 15"/>
          <p:cNvSpPr/>
          <p:nvPr/>
        </p:nvSpPr>
        <p:spPr>
          <a:xfrm>
            <a:off x="566928" y="3236976"/>
            <a:ext cx="8046720" cy="256032"/>
          </a:xfrm>
          <a:prstGeom prst="rect">
            <a:avLst/>
          </a:prstGeom>
          <a:noFill/>
          <a:ln/>
        </p:spPr>
        <p:txBody>
          <a:bodyPr wrap="square" lIns="0" tIns="0" rIns="0" bIns="0" rtlCol="0" anchor="ctr"/>
          <a:lstStyle/>
          <a:p>
            <a:pPr indent="0" marL="0">
              <a:buNone/>
            </a:pPr>
            <a:r>
              <a:rPr lang="en-US" sz="900" b="1" spc="100" kern="0" dirty="0">
                <a:solidFill>
                  <a:srgbClr val="CADCFC"/>
                </a:solidFill>
                <a:latin typeface="Calibri" pitchFamily="34" charset="0"/>
                <a:ea typeface="Calibri" pitchFamily="34" charset="-122"/>
                <a:cs typeface="Calibri" pitchFamily="34" charset="-120"/>
              </a:rPr>
              <a:t>CONTEXT FROM THE FRAMEWORK</a:t>
            </a:r>
            <a:endParaRPr lang="en-US" sz="900" dirty="0"/>
          </a:p>
        </p:txBody>
      </p:sp>
      <p:sp>
        <p:nvSpPr>
          <p:cNvPr id="18" name="Text 16"/>
          <p:cNvSpPr/>
          <p:nvPr/>
        </p:nvSpPr>
        <p:spPr>
          <a:xfrm>
            <a:off x="566928" y="3529584"/>
            <a:ext cx="8046720" cy="2560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Only 2 national players in value fashion — the segment with the largest wallet and lowest penetration</a:t>
            </a:r>
            <a:endParaRPr lang="en-US" sz="1050" dirty="0"/>
          </a:p>
        </p:txBody>
      </p:sp>
      <p:sp>
        <p:nvSpPr>
          <p:cNvPr id="19" name="Text 17"/>
          <p:cNvSpPr/>
          <p:nvPr/>
        </p:nvSpPr>
        <p:spPr>
          <a:xfrm>
            <a:off x="566928" y="3822192"/>
            <a:ext cx="8046720" cy="2560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85% of the wallet is unorganised — Zudio’s 1.5% capture means 83.5% is still up for grabs at current economics</a:t>
            </a:r>
            <a:endParaRPr lang="en-US" sz="1050" dirty="0"/>
          </a:p>
        </p:txBody>
      </p:sp>
      <p:sp>
        <p:nvSpPr>
          <p:cNvPr id="20" name="Text 18"/>
          <p:cNvSpPr/>
          <p:nvPr/>
        </p:nvSpPr>
        <p:spPr>
          <a:xfrm>
            <a:off x="566928" y="4114800"/>
            <a:ext cx="8046720" cy="256032"/>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The pace of store addition (229 in FY26) is fast relative to history — but our model says it needs to be sustained for over a decade to fill the gap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8× Stores. 7× Revenue. Zero Growth Assumed.</a:t>
            </a:r>
            <a:endParaRPr lang="en-US" sz="2400" dirty="0"/>
          </a:p>
        </p:txBody>
      </p:sp>
      <p:sp>
        <p:nvSpPr>
          <p:cNvPr id="3" name="Text 1"/>
          <p:cNvSpPr/>
          <p:nvPr/>
        </p:nvSpPr>
        <p:spPr>
          <a:xfrm>
            <a:off x="411480" y="777240"/>
            <a:ext cx="832104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INVESTMENT IMPLICATIONS  ·  Runway analysis from the demand-supply framework  ·  Source: Zudio Store Potential workbook + Pincode model</a:t>
            </a:r>
            <a:endParaRPr lang="en-US" sz="950" dirty="0"/>
          </a:p>
        </p:txBody>
      </p:sp>
      <p:sp>
        <p:nvSpPr>
          <p:cNvPr id="4" name="Shape 2"/>
          <p:cNvSpPr/>
          <p:nvPr/>
        </p:nvSpPr>
        <p:spPr>
          <a:xfrm>
            <a:off x="347472" y="1207008"/>
            <a:ext cx="2816352" cy="1481328"/>
          </a:xfrm>
          <a:prstGeom prst="roundRect">
            <a:avLst>
              <a:gd name="adj" fmla="val 6173"/>
            </a:avLst>
          </a:prstGeom>
          <a:solidFill>
            <a:srgbClr val="EAF2FD"/>
          </a:solidFill>
          <a:ln w="6350">
            <a:solidFill>
              <a:srgbClr val="B5D4F4"/>
            </a:solidFill>
            <a:prstDash val="solid"/>
          </a:ln>
          <a:effectLst>
            <a:outerShdw sx="100000" sy="100000" kx="0" ky="0" algn="bl" rotWithShape="0" blurRad="63500" dist="25400" dir="5400000">
              <a:srgbClr val="000000">
                <a:alpha val="7000"/>
              </a:srgbClr>
            </a:outerShdw>
          </a:effectLst>
        </p:spPr>
      </p:sp>
      <p:sp>
        <p:nvSpPr>
          <p:cNvPr id="5" name="Text 3"/>
          <p:cNvSpPr/>
          <p:nvPr/>
        </p:nvSpPr>
        <p:spPr>
          <a:xfrm>
            <a:off x="457200" y="1298448"/>
            <a:ext cx="2606040" cy="640080"/>
          </a:xfrm>
          <a:prstGeom prst="rect">
            <a:avLst/>
          </a:prstGeom>
          <a:noFill/>
          <a:ln/>
        </p:spPr>
        <p:txBody>
          <a:bodyPr wrap="square" lIns="0" tIns="0" rIns="0" bIns="0" rtlCol="0" anchor="ctr"/>
          <a:lstStyle/>
          <a:p>
            <a:pPr indent="0" marL="0">
              <a:buNone/>
            </a:pPr>
            <a:r>
              <a:rPr lang="en-US" sz="2600" b="1" dirty="0">
                <a:solidFill>
                  <a:srgbClr val="1A56A8"/>
                </a:solidFill>
                <a:latin typeface="Calibri" pitchFamily="34" charset="0"/>
                <a:ea typeface="Calibri" pitchFamily="34" charset="-122"/>
                <a:cs typeface="Calibri" pitchFamily="34" charset="-120"/>
              </a:rPr>
              <a:t>₹12,804 Cr</a:t>
            </a:r>
            <a:endParaRPr lang="en-US" sz="2600" dirty="0"/>
          </a:p>
        </p:txBody>
      </p:sp>
      <p:sp>
        <p:nvSpPr>
          <p:cNvPr id="6" name="Text 4"/>
          <p:cNvSpPr/>
          <p:nvPr/>
        </p:nvSpPr>
        <p:spPr>
          <a:xfrm>
            <a:off x="457200" y="1920240"/>
            <a:ext cx="26060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Zudio today</a:t>
            </a:r>
            <a:endParaRPr lang="en-US" sz="1100" dirty="0"/>
          </a:p>
        </p:txBody>
      </p:sp>
      <p:sp>
        <p:nvSpPr>
          <p:cNvPr id="7" name="Text 5"/>
          <p:cNvSpPr/>
          <p:nvPr/>
        </p:nvSpPr>
        <p:spPr>
          <a:xfrm>
            <a:off x="457200" y="2212848"/>
            <a:ext cx="260604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FY26E  ·  pincode model output</a:t>
            </a:r>
            <a:endParaRPr lang="en-US" sz="950" dirty="0"/>
          </a:p>
        </p:txBody>
      </p:sp>
      <p:sp>
        <p:nvSpPr>
          <p:cNvPr id="8" name="Shape 6"/>
          <p:cNvSpPr/>
          <p:nvPr/>
        </p:nvSpPr>
        <p:spPr>
          <a:xfrm>
            <a:off x="3319272" y="1207008"/>
            <a:ext cx="2816352" cy="1481328"/>
          </a:xfrm>
          <a:prstGeom prst="roundRect">
            <a:avLst>
              <a:gd name="adj" fmla="val 6173"/>
            </a:avLst>
          </a:prstGeom>
          <a:solidFill>
            <a:srgbClr val="FEF4E6"/>
          </a:solidFill>
          <a:ln w="6350">
            <a:solidFill>
              <a:srgbClr val="F7C97C"/>
            </a:solidFill>
            <a:prstDash val="solid"/>
          </a:ln>
          <a:effectLst>
            <a:outerShdw sx="100000" sy="100000" kx="0" ky="0" algn="bl" rotWithShape="0" blurRad="63500" dist="25400" dir="5400000">
              <a:srgbClr val="000000">
                <a:alpha val="7000"/>
              </a:srgbClr>
            </a:outerShdw>
          </a:effectLst>
        </p:spPr>
      </p:sp>
      <p:sp>
        <p:nvSpPr>
          <p:cNvPr id="9" name="Text 7"/>
          <p:cNvSpPr/>
          <p:nvPr/>
        </p:nvSpPr>
        <p:spPr>
          <a:xfrm>
            <a:off x="3429000" y="1298448"/>
            <a:ext cx="2606040" cy="640080"/>
          </a:xfrm>
          <a:prstGeom prst="rect">
            <a:avLst/>
          </a:prstGeom>
          <a:noFill/>
          <a:ln/>
        </p:spPr>
        <p:txBody>
          <a:bodyPr wrap="square" lIns="0" tIns="0" rIns="0" bIns="0" rtlCol="0" anchor="ctr"/>
          <a:lstStyle/>
          <a:p>
            <a:pPr indent="0" marL="0">
              <a:buNone/>
            </a:pPr>
            <a:r>
              <a:rPr lang="en-US" sz="2600" b="1" dirty="0">
                <a:solidFill>
                  <a:srgbClr val="BA7517"/>
                </a:solidFill>
                <a:latin typeface="Calibri" pitchFamily="34" charset="0"/>
                <a:ea typeface="Calibri" pitchFamily="34" charset="-122"/>
                <a:cs typeface="Calibri" pitchFamily="34" charset="-120"/>
              </a:rPr>
              <a:t>₹88,723 Cr</a:t>
            </a:r>
            <a:endParaRPr lang="en-US" sz="2600" dirty="0"/>
          </a:p>
        </p:txBody>
      </p:sp>
      <p:sp>
        <p:nvSpPr>
          <p:cNvPr id="10" name="Text 8"/>
          <p:cNvSpPr/>
          <p:nvPr/>
        </p:nvSpPr>
        <p:spPr>
          <a:xfrm>
            <a:off x="3429000" y="1920240"/>
            <a:ext cx="26060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Revenue runway identified</a:t>
            </a:r>
            <a:endParaRPr lang="en-US" sz="1100" dirty="0"/>
          </a:p>
        </p:txBody>
      </p:sp>
      <p:sp>
        <p:nvSpPr>
          <p:cNvPr id="11" name="Text 9"/>
          <p:cNvSpPr/>
          <p:nvPr/>
        </p:nvSpPr>
        <p:spPr>
          <a:xfrm>
            <a:off x="3429000" y="2212848"/>
            <a:ext cx="260604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At current MPCE  ·  No growth assumed  ·  Column N sum</a:t>
            </a:r>
            <a:endParaRPr lang="en-US" sz="950" dirty="0"/>
          </a:p>
        </p:txBody>
      </p:sp>
      <p:sp>
        <p:nvSpPr>
          <p:cNvPr id="12" name="Shape 10"/>
          <p:cNvSpPr/>
          <p:nvPr/>
        </p:nvSpPr>
        <p:spPr>
          <a:xfrm>
            <a:off x="6291072" y="1207008"/>
            <a:ext cx="2816352" cy="1481328"/>
          </a:xfrm>
          <a:prstGeom prst="roundRect">
            <a:avLst>
              <a:gd name="adj" fmla="val 6173"/>
            </a:avLst>
          </a:prstGeom>
          <a:solidFill>
            <a:srgbClr val="F0EFFF"/>
          </a:solidFill>
          <a:ln w="6350">
            <a:solidFill>
              <a:srgbClr val="C4BDFF"/>
            </a:solidFill>
            <a:prstDash val="solid"/>
          </a:ln>
          <a:effectLst>
            <a:outerShdw sx="100000" sy="100000" kx="0" ky="0" algn="bl" rotWithShape="0" blurRad="63500" dist="25400" dir="5400000">
              <a:srgbClr val="000000">
                <a:alpha val="7000"/>
              </a:srgbClr>
            </a:outerShdw>
          </a:effectLst>
        </p:spPr>
      </p:sp>
      <p:sp>
        <p:nvSpPr>
          <p:cNvPr id="13" name="Text 11"/>
          <p:cNvSpPr/>
          <p:nvPr/>
        </p:nvSpPr>
        <p:spPr>
          <a:xfrm>
            <a:off x="6400800" y="1298448"/>
            <a:ext cx="2606040" cy="640080"/>
          </a:xfrm>
          <a:prstGeom prst="rect">
            <a:avLst/>
          </a:prstGeom>
          <a:noFill/>
          <a:ln/>
        </p:spPr>
        <p:txBody>
          <a:bodyPr wrap="square" lIns="0" tIns="0" rIns="0" bIns="0" rtlCol="0" anchor="ctr"/>
          <a:lstStyle/>
          <a:p>
            <a:pPr indent="0" marL="0">
              <a:buNone/>
            </a:pPr>
            <a:r>
              <a:rPr lang="en-US" sz="2600" b="1" dirty="0">
                <a:solidFill>
                  <a:srgbClr val="6D5FD4"/>
                </a:solidFill>
                <a:latin typeface="Calibri" pitchFamily="34" charset="0"/>
                <a:ea typeface="Calibri" pitchFamily="34" charset="-122"/>
                <a:cs typeface="Calibri" pitchFamily="34" charset="-120"/>
              </a:rPr>
              <a:t>7×</a:t>
            </a:r>
            <a:endParaRPr lang="en-US" sz="2600" dirty="0"/>
          </a:p>
        </p:txBody>
      </p:sp>
      <p:sp>
        <p:nvSpPr>
          <p:cNvPr id="14" name="Text 12"/>
          <p:cNvSpPr/>
          <p:nvPr/>
        </p:nvSpPr>
        <p:spPr>
          <a:xfrm>
            <a:off x="6400800" y="1920240"/>
            <a:ext cx="26060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Revenue multiple</a:t>
            </a:r>
            <a:endParaRPr lang="en-US" sz="1100" dirty="0"/>
          </a:p>
        </p:txBody>
      </p:sp>
      <p:sp>
        <p:nvSpPr>
          <p:cNvPr id="15" name="Text 13"/>
          <p:cNvSpPr/>
          <p:nvPr/>
        </p:nvSpPr>
        <p:spPr>
          <a:xfrm>
            <a:off x="6400800" y="2212848"/>
            <a:ext cx="260604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Runway is 7× current revenue at today’s economics</a:t>
            </a:r>
            <a:endParaRPr lang="en-US" sz="950" dirty="0"/>
          </a:p>
        </p:txBody>
      </p:sp>
      <p:graphicFrame>
        <p:nvGraphicFramePr>
          <p:cNvPr id="16" name="Chart 0" descr=""/>
          <p:cNvGraphicFramePr/>
          <p:nvPr/>
        </p:nvGraphicFramePr>
        <p:xfrm>
          <a:off x="347472" y="2834640"/>
          <a:ext cx="6766560" cy="196596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315200" y="2834640"/>
            <a:ext cx="1572768" cy="1965960"/>
          </a:xfrm>
          <a:prstGeom prst="roundRect">
            <a:avLst>
              <a:gd name="adj" fmla="val 5814"/>
            </a:avLst>
          </a:prstGeom>
          <a:solidFill>
            <a:srgbClr val="EEF3FF"/>
          </a:solidFill>
          <a:ln w="6350">
            <a:solidFill>
              <a:srgbClr val="CADCFC"/>
            </a:solidFill>
            <a:prstDash val="solid"/>
          </a:ln>
        </p:spPr>
      </p:sp>
      <p:sp>
        <p:nvSpPr>
          <p:cNvPr id="18" name="Text 15"/>
          <p:cNvSpPr/>
          <p:nvPr/>
        </p:nvSpPr>
        <p:spPr>
          <a:xfrm>
            <a:off x="7388352" y="2944368"/>
            <a:ext cx="1426464" cy="173736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7,522</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stores</a:t>
            </a:r>
            <a:endParaRPr lang="en-US" sz="1200" dirty="0"/>
          </a:p>
          <a:p>
            <a:pPr algn="ctr" indent="0" marL="0">
              <a:buNone/>
            </a:pP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8×</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headroom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rtlCol="0" anchor="ctr"/>
          <a:lstStyle/>
          <a:p>
            <a:pPr indent="0" marL="0">
              <a:buNone/>
            </a:pPr>
            <a:r>
              <a:rPr lang="en-US" sz="850" spc="200" kern="0" dirty="0">
                <a:solidFill>
                  <a:srgbClr val="CADCFC"/>
                </a:solidFill>
                <a:latin typeface="Calibri" pitchFamily="34" charset="0"/>
                <a:ea typeface="Calibri" pitchFamily="34" charset="-122"/>
                <a:cs typeface="Calibri" pitchFamily="34" charset="-120"/>
              </a:rPr>
              <a:t>CONCLUSION  ·  THE DIRECTION</a:t>
            </a:r>
            <a:endParaRPr lang="en-US" sz="850" dirty="0"/>
          </a:p>
        </p:txBody>
      </p:sp>
      <p:sp>
        <p:nvSpPr>
          <p:cNvPr id="3" name="Text 1"/>
          <p:cNvSpPr/>
          <p:nvPr/>
        </p:nvSpPr>
        <p:spPr>
          <a:xfrm>
            <a:off x="457200" y="548640"/>
            <a:ext cx="77724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Direction This Analysis Points</a:t>
            </a:r>
            <a:endParaRPr lang="en-US" sz="2800" dirty="0"/>
          </a:p>
        </p:txBody>
      </p:sp>
      <p:sp>
        <p:nvSpPr>
          <p:cNvPr id="4" name="Shape 2"/>
          <p:cNvSpPr/>
          <p:nvPr/>
        </p:nvSpPr>
        <p:spPr>
          <a:xfrm>
            <a:off x="457200" y="1280160"/>
            <a:ext cx="4114800" cy="0"/>
          </a:xfrm>
          <a:prstGeom prst="line">
            <a:avLst/>
          </a:prstGeom>
          <a:noFill/>
          <a:ln w="12700">
            <a:solidFill>
              <a:srgbClr val="CADCFC"/>
            </a:solidFill>
            <a:prstDash val="solid"/>
          </a:ln>
        </p:spPr>
      </p:sp>
      <p:sp>
        <p:nvSpPr>
          <p:cNvPr id="5" name="Text 3"/>
          <p:cNvSpPr/>
          <p:nvPr/>
        </p:nvSpPr>
        <p:spPr>
          <a:xfrm>
            <a:off x="457200" y="1371600"/>
            <a:ext cx="1554480" cy="53035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₹8.68L Cr</a:t>
            </a:r>
            <a:endParaRPr lang="en-US" sz="1400" dirty="0"/>
          </a:p>
        </p:txBody>
      </p:sp>
      <p:sp>
        <p:nvSpPr>
          <p:cNvPr id="6" name="Text 4"/>
          <p:cNvSpPr/>
          <p:nvPr/>
        </p:nvSpPr>
        <p:spPr>
          <a:xfrm>
            <a:off x="2057400" y="1417320"/>
            <a:ext cx="6839712" cy="457200"/>
          </a:xfrm>
          <a:prstGeom prst="rect">
            <a:avLst/>
          </a:prstGeom>
          <a:noFill/>
          <a:ln/>
        </p:spPr>
        <p:txBody>
          <a:bodyPr wrap="square" lIns="0" tIns="0" rIns="0" bIns="0" rtlCol="0" anchor="ctr"/>
          <a:lstStyle/>
          <a:p>
            <a:pPr indent="0" marL="0">
              <a:buNone/>
            </a:pPr>
            <a:r>
              <a:rPr lang="en-US" sz="1050" dirty="0">
                <a:solidFill>
                  <a:srgbClr val="B8C7E8"/>
                </a:solidFill>
                <a:latin typeface="Calibri" pitchFamily="34" charset="0"/>
                <a:ea typeface="Calibri" pitchFamily="34" charset="-122"/>
                <a:cs typeface="Calibri" pitchFamily="34" charset="-120"/>
              </a:rPr>
              <a:t>India’s apparel+footwear wallet, calculated ground-up from 19,694 pincodes. Bigger than top-down implies for the full market.</a:t>
            </a:r>
            <a:endParaRPr lang="en-US" sz="1050" dirty="0"/>
          </a:p>
        </p:txBody>
      </p:sp>
      <p:sp>
        <p:nvSpPr>
          <p:cNvPr id="7" name="Text 5"/>
          <p:cNvSpPr/>
          <p:nvPr/>
        </p:nvSpPr>
        <p:spPr>
          <a:xfrm>
            <a:off x="457200" y="2029968"/>
            <a:ext cx="1554480" cy="53035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85%</a:t>
            </a:r>
            <a:endParaRPr lang="en-US" sz="1400" dirty="0"/>
          </a:p>
        </p:txBody>
      </p:sp>
      <p:sp>
        <p:nvSpPr>
          <p:cNvPr id="8" name="Text 6"/>
          <p:cNvSpPr/>
          <p:nvPr/>
        </p:nvSpPr>
        <p:spPr>
          <a:xfrm>
            <a:off x="2057400" y="2075688"/>
            <a:ext cx="6839712" cy="457200"/>
          </a:xfrm>
          <a:prstGeom prst="rect">
            <a:avLst/>
          </a:prstGeom>
          <a:noFill/>
          <a:ln/>
        </p:spPr>
        <p:txBody>
          <a:bodyPr wrap="square" lIns="0" tIns="0" rIns="0" bIns="0" rtlCol="0" anchor="ctr"/>
          <a:lstStyle/>
          <a:p>
            <a:pPr indent="0" marL="0">
              <a:buNone/>
            </a:pPr>
            <a:r>
              <a:rPr lang="en-US" sz="1050" dirty="0">
                <a:solidFill>
                  <a:srgbClr val="B8C7E8"/>
                </a:solidFill>
                <a:latin typeface="Calibri" pitchFamily="34" charset="0"/>
                <a:ea typeface="Calibri" pitchFamily="34" charset="-122"/>
                <a:cs typeface="Calibri" pitchFamily="34" charset="-120"/>
              </a:rPr>
              <a:t>of that wallet is unorganised — not because consumers prefer it, but because organised supply hasn’t arrived. Secular structural shift ahead.</a:t>
            </a:r>
            <a:endParaRPr lang="en-US" sz="1050" dirty="0"/>
          </a:p>
        </p:txBody>
      </p:sp>
      <p:sp>
        <p:nvSpPr>
          <p:cNvPr id="9" name="Text 7"/>
          <p:cNvSpPr/>
          <p:nvPr/>
        </p:nvSpPr>
        <p:spPr>
          <a:xfrm>
            <a:off x="457200" y="2688336"/>
            <a:ext cx="1554480" cy="53035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Tier inversion</a:t>
            </a:r>
            <a:endParaRPr lang="en-US" sz="1400" dirty="0"/>
          </a:p>
        </p:txBody>
      </p:sp>
      <p:sp>
        <p:nvSpPr>
          <p:cNvPr id="10" name="Text 8"/>
          <p:cNvSpPr/>
          <p:nvPr/>
        </p:nvSpPr>
        <p:spPr>
          <a:xfrm>
            <a:off x="2057400" y="2734056"/>
            <a:ext cx="6839712" cy="457200"/>
          </a:xfrm>
          <a:prstGeom prst="rect">
            <a:avLst/>
          </a:prstGeom>
          <a:noFill/>
          <a:ln/>
        </p:spPr>
        <p:txBody>
          <a:bodyPr wrap="square" lIns="0" tIns="0" rIns="0" bIns="0" rtlCol="0" anchor="ctr"/>
          <a:lstStyle/>
          <a:p>
            <a:pPr indent="0" marL="0">
              <a:buNone/>
            </a:pPr>
            <a:r>
              <a:rPr lang="en-US" sz="1050" dirty="0">
                <a:solidFill>
                  <a:srgbClr val="B8C7E8"/>
                </a:solidFill>
                <a:latin typeface="Calibri" pitchFamily="34" charset="0"/>
                <a:ea typeface="Calibri" pitchFamily="34" charset="-122"/>
                <a:cs typeface="Calibri" pitchFamily="34" charset="-120"/>
              </a:rPr>
              <a:t>Metro is over-stored relative to wallet share. T3/T4 hold 32% of wallet but only 22% of organised stores. Supply needs to follow the money.</a:t>
            </a:r>
            <a:endParaRPr lang="en-US" sz="1050" dirty="0"/>
          </a:p>
        </p:txBody>
      </p:sp>
      <p:sp>
        <p:nvSpPr>
          <p:cNvPr id="11" name="Text 9"/>
          <p:cNvSpPr/>
          <p:nvPr/>
        </p:nvSpPr>
        <p:spPr>
          <a:xfrm>
            <a:off x="457200" y="3346704"/>
            <a:ext cx="1554480" cy="53035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1.5%</a:t>
            </a:r>
            <a:endParaRPr lang="en-US" sz="1400" dirty="0"/>
          </a:p>
        </p:txBody>
      </p:sp>
      <p:sp>
        <p:nvSpPr>
          <p:cNvPr id="12" name="Text 10"/>
          <p:cNvSpPr/>
          <p:nvPr/>
        </p:nvSpPr>
        <p:spPr>
          <a:xfrm>
            <a:off x="2057400" y="3392424"/>
            <a:ext cx="6839712" cy="457200"/>
          </a:xfrm>
          <a:prstGeom prst="rect">
            <a:avLst/>
          </a:prstGeom>
          <a:noFill/>
          <a:ln/>
        </p:spPr>
        <p:txBody>
          <a:bodyPr wrap="square" lIns="0" tIns="0" rIns="0" bIns="0" rtlCol="0" anchor="ctr"/>
          <a:lstStyle/>
          <a:p>
            <a:pPr indent="0" marL="0">
              <a:buNone/>
            </a:pPr>
            <a:r>
              <a:rPr lang="en-US" sz="1050" dirty="0">
                <a:solidFill>
                  <a:srgbClr val="B8C7E8"/>
                </a:solidFill>
                <a:latin typeface="Calibri" pitchFamily="34" charset="0"/>
                <a:ea typeface="Calibri" pitchFamily="34" charset="-122"/>
                <a:cs typeface="Calibri" pitchFamily="34" charset="-120"/>
              </a:rPr>
              <a:t>of total wallet Zudio captures today. Rs.88,723 Cr of runway identified at current MPCE. Seven times current revenue. No growth assumed.</a:t>
            </a:r>
            <a:endParaRPr lang="en-US" sz="1050" dirty="0"/>
          </a:p>
        </p:txBody>
      </p:sp>
      <p:sp>
        <p:nvSpPr>
          <p:cNvPr id="13" name="Text 11"/>
          <p:cNvSpPr/>
          <p:nvPr/>
        </p:nvSpPr>
        <p:spPr>
          <a:xfrm>
            <a:off x="457200" y="4005072"/>
            <a:ext cx="1554480" cy="53035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8×</a:t>
            </a:r>
            <a:endParaRPr lang="en-US" sz="1400" dirty="0"/>
          </a:p>
        </p:txBody>
      </p:sp>
      <p:sp>
        <p:nvSpPr>
          <p:cNvPr id="14" name="Text 12"/>
          <p:cNvSpPr/>
          <p:nvPr/>
        </p:nvSpPr>
        <p:spPr>
          <a:xfrm>
            <a:off x="2057400" y="4050792"/>
            <a:ext cx="6839712" cy="457200"/>
          </a:xfrm>
          <a:prstGeom prst="rect">
            <a:avLst/>
          </a:prstGeom>
          <a:noFill/>
          <a:ln/>
        </p:spPr>
        <p:txBody>
          <a:bodyPr wrap="square" lIns="0" tIns="0" rIns="0" bIns="0" rtlCol="0" anchor="ctr"/>
          <a:lstStyle/>
          <a:p>
            <a:pPr indent="0" marL="0">
              <a:buNone/>
            </a:pPr>
            <a:r>
              <a:rPr lang="en-US" sz="1050" dirty="0">
                <a:solidFill>
                  <a:srgbClr val="B8C7E8"/>
                </a:solidFill>
                <a:latin typeface="Calibri" pitchFamily="34" charset="0"/>
                <a:ea typeface="Calibri" pitchFamily="34" charset="-122"/>
                <a:cs typeface="Calibri" pitchFamily="34" charset="-120"/>
              </a:rPr>
              <a:t>Zudio store potential over current footprint. The expansion story is at the beginning. The pace of store addition is the primary variable to watch.</a:t>
            </a:r>
            <a:endParaRPr lang="en-US" sz="1050" dirty="0"/>
          </a:p>
        </p:txBody>
      </p:sp>
      <p:sp>
        <p:nvSpPr>
          <p:cNvPr id="15" name="Shape 13"/>
          <p:cNvSpPr/>
          <p:nvPr/>
        </p:nvSpPr>
        <p:spPr>
          <a:xfrm>
            <a:off x="457200" y="4590288"/>
            <a:ext cx="8412480" cy="347472"/>
          </a:xfrm>
          <a:prstGeom prst="roundRect">
            <a:avLst>
              <a:gd name="adj" fmla="val 13158"/>
            </a:avLst>
          </a:prstGeom>
          <a:solidFill>
            <a:srgbClr val="263070"/>
          </a:solidFill>
          <a:ln w="6350">
            <a:solidFill>
              <a:srgbClr val="CADCFC"/>
            </a:solidFill>
            <a:prstDash val="solid"/>
          </a:ln>
        </p:spPr>
      </p:sp>
      <p:sp>
        <p:nvSpPr>
          <p:cNvPr id="16" name="Text 14"/>
          <p:cNvSpPr/>
          <p:nvPr/>
        </p:nvSpPr>
        <p:spPr>
          <a:xfrm>
            <a:off x="530352" y="4626864"/>
            <a:ext cx="822960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The framework says: India’s organised fashion retail is not near its ceiling. It is near its floor. Zudio is the best-positioned vehicle to capture the transition. Thank you.</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Apparel &amp; Fashion — A Ground-Up Demand-Supply Framework</dc:title>
  <dc:subject>PptxGenJS Presentation</dc:subject>
  <dc:creator>Bernstein Equity Research</dc:creator>
  <cp:lastModifiedBy>Bernstein Equity Research</cp:lastModifiedBy>
  <cp:revision>1</cp:revision>
  <dcterms:created xsi:type="dcterms:W3CDTF">2026-06-22T13:03:46Z</dcterms:created>
  <dcterms:modified xsi:type="dcterms:W3CDTF">2026-06-22T13:03:46Z</dcterms:modified>
</cp:coreProperties>
</file>