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09728"/>
            <a:ext cx="8631936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56032" y="548640"/>
            <a:ext cx="863193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 used in the ground-up demand-supply framework — organised by source type and application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1A56A8"/>
          </a:solidFill>
          <a:ln w="6350">
            <a:solidFill>
              <a:srgbClr val="1A56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41248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DATA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450592" y="841248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5B4FBE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841248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REPORTS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645152" y="841248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0D6E4F"/>
          </a:solidFill>
          <a:ln w="6350">
            <a:solidFill>
              <a:srgbClr val="0D6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841248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FILINGS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39712" y="841248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915A00"/>
          </a:solidFill>
          <a:ln w="6350">
            <a:solidFill>
              <a:srgbClr val="91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841248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/ BUILT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2103120" cy="448056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261872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AF2F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261872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HCES 2023-24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" y="14996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Consumer Expenditure Survey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" y="170078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Statistics &amp; PI (MoSPI)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State-level MPCE for all states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20848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Apparel &amp; footwear category spending shares (5-6% and 0.8-1%)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Urban vs rural income differential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24505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Clothing &amp; footwear share of PFCE (5.1% in FY2023-24)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" y="2688336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2761488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AF2F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761488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PFCE Data Series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29992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Final Consumption Expenditure by Category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" y="320040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MoSPI — National Accounts Statistics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3401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Clothing &amp; footwear PFCE share trend: 7.1% (FY14) → 5.1% (FY24)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35844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Context: fashion losing wallet share to services &amp; transport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9184" y="3822192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895344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AF2F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3895344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GSDP Data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" y="41330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State Domestic Product per capita — district level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" y="43342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Economic Surveys (Maharashtra, UP, Rajasthan &amp; others)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453542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GSDP adjustment factor per district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7472" y="47183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Scaling state MPCE to pincode level (core methodology step)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" y="4956048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" y="5029200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AF2F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5029200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of India / Pincode DB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9184" y="52669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data + pincode-to-district-tier mapping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9184" y="54681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Registrar General of India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50592" y="1188720"/>
            <a:ext cx="2103120" cy="448056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3744" y="1261872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0EFFF"/>
          </a:solidFill>
          <a:ln w="6350">
            <a:solidFill>
              <a:srgbClr val="C4BD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3744" y="1261872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Wazir Advisors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23744" y="14996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Apparel Market Review: Dynamics &amp; Direction 2020–2025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23744" y="170078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42032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Value fashion: 18%→24% organised revenue share FY20-25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42032" y="20848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Organised market size: ₹74,000 Cr (FY20) → ₹1,34,500 Cr (FY25)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542032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Value fashion CAGR 24% | PAT trajectory FY20-25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542032" y="24505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Market fragmentation: 5,200+ players &lt; ₹100 Cr revenue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542032" y="26334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Strategic insight: distribution saturation in non-value segments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23744" y="2871216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23744" y="2944368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0EFFF"/>
          </a:solidFill>
          <a:ln w="6350">
            <a:solidFill>
              <a:srgbClr val="C4BD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3744" y="2944368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Bazaar Style Retail DRHP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23744" y="318211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Red Herring Prospectus — Industry Overview Section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23744" y="338328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Filing, 2023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542032" y="35844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Organised apparel penetration cross-validation (~15%)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42032" y="37673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Value fashion market sizing &amp; organised share benchmarks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23744" y="4005072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23744" y="4078224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0EFFF"/>
          </a:solidFill>
          <a:ln w="6350">
            <a:solidFill>
              <a:srgbClr val="C4BD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23744" y="4078224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Tracxn / Funding Data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523744" y="43159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funding data — Indian apparel sector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23744" y="45171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in Wazir Advisors Report, 2026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542032" y="47183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USD 959 Mn raised in Indian apparel since 2020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542032" y="4901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275 funding rounds — signals investor conviction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45152" y="1188720"/>
            <a:ext cx="2103120" cy="448056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8304" y="1261872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6FA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1261872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 Annual Report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718304" y="14996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 Limited Annual Report FY24 / FY25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18304" y="170078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 Limited (BSE/NSE Listed)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736592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Zudio store count, revenue, and tier distribution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736592" y="20848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Average revenue per store benchmarks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736592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Zudio revenue premium vs value fashion peers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736592" y="24505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Store addition run-rate and expansion strategy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18304" y="2688336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61488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6FA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18304" y="2761488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Store Data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718304" y="29992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store-level data — brand, pincode, tier, city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18304" y="320040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&amp; structured — Supply census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736592" y="3401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Zudio current network: 958 stores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736592" y="35844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Tier distribution: Metro 361, T1 192, T2 130, T3 111, Other 114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736592" y="37673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Penetration rate: 12% of T3 potential filled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718304" y="4005072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18304" y="4078224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E6FA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18304" y="4078224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Fashion Brand Data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718304" y="43159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retail supply census — all major brands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718304" y="45171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&amp; structured — Bernstein team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736592" y="47183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31,803 total organised stores mapped across India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736592" y="4901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Brand-wise, tier-wise, pincode-wise store presence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736592" y="50840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Listed vs unlisted player store &amp; revenue split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839712" y="1188720"/>
            <a:ext cx="2103120" cy="448056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12864" y="1261872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EF4E6"/>
          </a:solidFill>
          <a:ln w="6350">
            <a:solidFill>
              <a:srgbClr val="F7C97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12864" y="1261872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1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Ground-Up Wallet Model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912864" y="14996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Pincode-level apparel &amp; footwear wallet calculation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912864" y="170078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 Equity Research — Original Analysis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931152" y="19019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₹8.68 lakh crore total India wallet (19,742 pincodes)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931152" y="20848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GSDP-adjusted MPCE per pincode × category share × population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931152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Tier-wise wallet: Metro ₹1.91L Cr to Rural ₹0.61L Cr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931152" y="24505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Validated: within 2% of HCES national aggregate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912864" y="2688336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12864" y="2761488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EF4E6"/>
          </a:solidFill>
          <a:ln w="6350">
            <a:solidFill>
              <a:srgbClr val="F7C97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12864" y="2761488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1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Demand-Supply Match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912864" y="29992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Pincode-level gap analysis — wallet vs organised revenue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912864" y="320040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 Equity Research — Original Analysis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931152" y="3401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₹7.38 lakh crore gap (85% unorganised)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931152" y="35844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Penetration by wallet bracket × tier (RED/GREEN/YELLOW matrix)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931152" y="37673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15,637 pincodes with identified runway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931152" y="39502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Runway wallet: ₹3-4 lakh crore addressable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912864" y="4187952"/>
            <a:ext cx="19568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12864" y="4261104"/>
            <a:ext cx="1956816" cy="201168"/>
          </a:xfrm>
          <a:prstGeom prst="roundRect">
            <a:avLst>
              <a:gd name="adj" fmla="val 45455"/>
            </a:avLst>
          </a:prstGeom>
          <a:solidFill>
            <a:srgbClr val="FEF4E6"/>
          </a:solidFill>
          <a:ln w="6350">
            <a:solidFill>
              <a:srgbClr val="F7C97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12864" y="4261104"/>
            <a:ext cx="1956816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1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Store Potential Model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912864" y="44988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store &amp; revenue potential for Zudio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912864" y="47000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 Equity Research — Original Analysis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6931152" y="4901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EBO saturation % by tier (Metro 65-70% → T4 20-25%)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931152" y="50840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Tier revenue multipliers (1.3× to 0.5×)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6931152" y="526694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2,962 viable Zudio stores · ₹47,316 Cr total potential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6931152" y="544982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Pace analysis: 233–467 stores/year needed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56032" y="5742432"/>
            <a:ext cx="8631936" cy="274320"/>
          </a:xfrm>
          <a:prstGeom prst="roundRect">
            <a:avLst>
              <a:gd name="adj" fmla="val 16667"/>
            </a:avLst>
          </a:prstGeom>
          <a:solidFill>
            <a:srgbClr val="EEF3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47472" y="5742432"/>
            <a:ext cx="84490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government data is publicly available. Store-level supply data was independently scraped and structured. No third-party market research estimates were used as model inputs — all numbers are either official statistics or original calculations.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2026-06-26T17:02:25Z</dcterms:created>
  <dcterms:modified xsi:type="dcterms:W3CDTF">2026-06-26T17:02:25Z</dcterms:modified>
</cp:coreProperties>
</file>