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032" y="118872"/>
            <a:ext cx="8631936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Calculated Total Potential Stores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56032" y="621792"/>
            <a:ext cx="2267712" cy="228600"/>
          </a:xfrm>
          <a:prstGeom prst="roundRect">
            <a:avLst>
              <a:gd name="adj" fmla="val 48000"/>
            </a:avLst>
          </a:prstGeom>
          <a:solidFill>
            <a:srgbClr val="EAF2FD"/>
          </a:solidFill>
          <a:ln w="7620">
            <a:solidFill>
              <a:srgbClr val="1A56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21792"/>
            <a:ext cx="22311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5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 —  MARKET-LEVEL POTENTIAL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56032" y="3913632"/>
            <a:ext cx="2011680" cy="228600"/>
          </a:xfrm>
          <a:prstGeom prst="roundRect">
            <a:avLst>
              <a:gd name="adj" fmla="val 48000"/>
            </a:avLst>
          </a:prstGeom>
          <a:solidFill>
            <a:srgbClr val="F0EFFF"/>
          </a:solidFill>
          <a:ln w="7620">
            <a:solidFill>
              <a:srgbClr val="5B4F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3913632"/>
            <a:ext cx="197510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4F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2  —  ZUDIO DEEP DIVE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914400"/>
            <a:ext cx="1609344" cy="1280160"/>
          </a:xfrm>
          <a:prstGeom prst="roundRect">
            <a:avLst>
              <a:gd name="adj" fmla="val 5714"/>
            </a:avLst>
          </a:prstGeom>
          <a:solidFill>
            <a:srgbClr val="EAF2FD"/>
          </a:solidFill>
          <a:ln w="7620">
            <a:solidFill>
              <a:srgbClr val="B5D4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996696"/>
            <a:ext cx="274320" cy="274320"/>
          </a:xfrm>
          <a:prstGeom prst="ellipse">
            <a:avLst/>
          </a:prstGeom>
          <a:solidFill>
            <a:srgbClr val="1A56A8"/>
          </a:solidFill>
          <a:ln w="12700">
            <a:solidFill>
              <a:srgbClr val="1A56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996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30759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5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Pincode Inputs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609344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per pincode (₹ Cr)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organised revenue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classification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74520" y="1554480"/>
            <a:ext cx="82296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56816" y="914400"/>
            <a:ext cx="1609344" cy="1280160"/>
          </a:xfrm>
          <a:prstGeom prst="roundRect">
            <a:avLst>
              <a:gd name="adj" fmla="val 5714"/>
            </a:avLst>
          </a:prstGeom>
          <a:solidFill>
            <a:srgbClr val="E6FAF8"/>
          </a:solidFill>
          <a:ln w="7620">
            <a:solidFill>
              <a:srgbClr val="9FE1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48256" y="99669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48256" y="996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66544" y="130759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EBO Saturation 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66544" y="1609344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organised EBO wallet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at maturity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(ecommerce removed)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575304" y="1554480"/>
            <a:ext cx="82296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14400"/>
            <a:ext cx="1609344" cy="1280160"/>
          </a:xfrm>
          <a:prstGeom prst="roundRect">
            <a:avLst>
              <a:gd name="adj" fmla="val 5714"/>
            </a:avLst>
          </a:prstGeom>
          <a:solidFill>
            <a:srgbClr val="FEF4E6"/>
          </a:solidFill>
          <a:ln w="7620">
            <a:solidFill>
              <a:srgbClr val="F7C9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996696"/>
            <a:ext cx="274320" cy="27432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996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767328" y="130759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67328" y="1609344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(Wallet × Saturation%)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Current Revenue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Rupee gap / pincode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276088" y="1554480"/>
            <a:ext cx="82296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58384" y="914400"/>
            <a:ext cx="1609344" cy="128016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49824" y="996696"/>
            <a:ext cx="274320" cy="2743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9824" y="996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68112" y="130759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 Rev / Store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68112" y="1609344"/>
            <a:ext cx="14081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 (National avg rev/store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Tier multiplier)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Potential stores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059168" y="914400"/>
            <a:ext cx="1042416" cy="1280160"/>
          </a:xfrm>
          <a:prstGeom prst="roundRect">
            <a:avLst>
              <a:gd name="adj" fmla="val 8772"/>
            </a:avLst>
          </a:prstGeom>
          <a:solidFill>
            <a:srgbClr val="1E2761"/>
          </a:solidFill>
          <a:ln w="762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95744" y="1005840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A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077456" y="1207008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~84,000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95744" y="1627632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viable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organised stores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095744" y="1975104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31,013 today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976872" y="1554480"/>
            <a:ext cx="82296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" y="2304288"/>
            <a:ext cx="8631936" cy="1261872"/>
          </a:xfrm>
          <a:prstGeom prst="roundRect">
            <a:avLst>
              <a:gd name="adj" fmla="val 4348"/>
            </a:avLst>
          </a:prstGeom>
          <a:solidFill>
            <a:srgbClr val="F8FAFD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" y="23957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ASSUMPTIONS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65760" y="2624328"/>
            <a:ext cx="1561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Saturation EBO %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65760" y="2889504"/>
            <a:ext cx="15617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 65-70%  ·  T1 55-60%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40-45%  ·  T3 30-35%  ·  T4 20-25%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018995" y="2414016"/>
            <a:ext cx="0" cy="106070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92147" y="2624328"/>
            <a:ext cx="1561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multipliers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092147" y="2889504"/>
            <a:ext cx="15617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Metro 1.3×  ·  T1 1.1×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0.9×  ·  T3 0.7×  ·  T4 0.5×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745382" y="2414016"/>
            <a:ext cx="0" cy="106070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18534" y="2624328"/>
            <a:ext cx="1561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fashion %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818534" y="2889504"/>
            <a:ext cx="15617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~28-30% of organised EBO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saturation (share held constant)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71770" y="2414016"/>
            <a:ext cx="0" cy="106070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44922" y="2624328"/>
            <a:ext cx="1561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Zudio rev premium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544922" y="2889504"/>
            <a:ext cx="15617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Zudio avg rev/store &gt; value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fashion peer avg · Trent AR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198157" y="2414016"/>
            <a:ext cx="0" cy="106070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71309" y="2624328"/>
            <a:ext cx="15617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base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271309" y="2889504"/>
            <a:ext cx="15617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at current FY26 MPCE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growth assumed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462272" y="2194560"/>
            <a:ext cx="0" cy="1920240"/>
          </a:xfrm>
          <a:prstGeom prst="line">
            <a:avLst/>
          </a:prstGeom>
          <a:noFill/>
          <a:ln w="13970">
            <a:solidFill>
              <a:srgbClr val="94A3B8"/>
            </a:solidFill>
            <a:prstDash val="sysDash"/>
          </a:ln>
        </p:spPr>
      </p:sp>
      <p:sp>
        <p:nvSpPr>
          <p:cNvPr id="53" name="Shape 51"/>
          <p:cNvSpPr/>
          <p:nvPr/>
        </p:nvSpPr>
        <p:spPr>
          <a:xfrm>
            <a:off x="3657600" y="4114800"/>
            <a:ext cx="804672" cy="0"/>
          </a:xfrm>
          <a:prstGeom prst="line">
            <a:avLst/>
          </a:prstGeom>
          <a:noFill/>
          <a:ln w="13970">
            <a:solidFill>
              <a:srgbClr val="94A3B8"/>
            </a:solidFill>
            <a:prstDash val="sysDash"/>
          </a:ln>
        </p:spPr>
      </p:sp>
      <p:sp>
        <p:nvSpPr>
          <p:cNvPr id="54" name="Text 52"/>
          <p:cNvSpPr/>
          <p:nvPr/>
        </p:nvSpPr>
        <p:spPr>
          <a:xfrm>
            <a:off x="4517136" y="22860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runway → filter for</a:t>
            </a:r>
            <a:endParaRPr lang="en-US" sz="750" dirty="0"/>
          </a:p>
          <a:p>
            <a:pPr algn="l"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fashion only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657600" y="4078224"/>
            <a:ext cx="1408176" cy="1261872"/>
          </a:xfrm>
          <a:prstGeom prst="roundRect">
            <a:avLst>
              <a:gd name="adj" fmla="val 5797"/>
            </a:avLst>
          </a:prstGeom>
          <a:solidFill>
            <a:srgbClr val="F0EFFF"/>
          </a:solidFill>
          <a:ln w="7620">
            <a:solidFill>
              <a:srgbClr val="C4BD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749040" y="4160520"/>
            <a:ext cx="274320" cy="274320"/>
          </a:xfrm>
          <a:prstGeom prst="ellipse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49040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767328" y="447141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4F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Fashion %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767328" y="4754880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~28-30% of organised EBO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→ value fashion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runway in rupees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074920" y="4709160"/>
            <a:ext cx="73152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148072" y="4078224"/>
            <a:ext cx="1408176" cy="1261872"/>
          </a:xfrm>
          <a:prstGeom prst="roundRect">
            <a:avLst>
              <a:gd name="adj" fmla="val 5797"/>
            </a:avLst>
          </a:prstGeom>
          <a:solidFill>
            <a:srgbClr val="F0EFFF"/>
          </a:solidFill>
          <a:ln w="7620">
            <a:solidFill>
              <a:srgbClr val="C4BD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39512" y="4160520"/>
            <a:ext cx="274320" cy="274320"/>
          </a:xfrm>
          <a:prstGeom prst="ellipse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39512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257800" y="447141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4F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Zudio Store Share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257800" y="4754880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Zudio current store share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value fashion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applied to VF potential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565392" y="4709160"/>
            <a:ext cx="73152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638544" y="4078224"/>
            <a:ext cx="1408176" cy="1261872"/>
          </a:xfrm>
          <a:prstGeom prst="roundRect">
            <a:avLst>
              <a:gd name="adj" fmla="val 5797"/>
            </a:avLst>
          </a:prstGeom>
          <a:solidFill>
            <a:srgbClr val="F0EFFF"/>
          </a:solidFill>
          <a:ln w="7620">
            <a:solidFill>
              <a:srgbClr val="C4BD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729984" y="4160520"/>
            <a:ext cx="274320" cy="274320"/>
          </a:xfrm>
          <a:prstGeom prst="ellipse">
            <a:avLst/>
          </a:prstGeom>
          <a:solidFill>
            <a:srgbClr val="5B4FBE"/>
          </a:solidFill>
          <a:ln w="12700">
            <a:solidFill>
              <a:srgbClr val="5B4FB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29984" y="4160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748272" y="447141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4F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Premium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748272" y="4754880"/>
            <a:ext cx="1207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Zudio avg rev/store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peer avg → revenue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 adjusts up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8129016" y="4078224"/>
            <a:ext cx="1207008" cy="1261872"/>
          </a:xfrm>
          <a:prstGeom prst="roundRect">
            <a:avLst>
              <a:gd name="adj" fmla="val 7576"/>
            </a:avLst>
          </a:prstGeom>
          <a:solidFill>
            <a:srgbClr val="5B4FBE"/>
          </a:solidFill>
          <a:ln w="7620">
            <a:solidFill>
              <a:srgbClr val="5B4FB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165592" y="415137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D4D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B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8165592" y="4370832"/>
            <a:ext cx="1170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2,962</a:t>
            </a:r>
            <a:endParaRPr lang="en-US" sz="2200" dirty="0"/>
          </a:p>
        </p:txBody>
      </p:sp>
      <p:sp>
        <p:nvSpPr>
          <p:cNvPr id="75" name="Text 73"/>
          <p:cNvSpPr/>
          <p:nvPr/>
        </p:nvSpPr>
        <p:spPr>
          <a:xfrm>
            <a:off x="8165592" y="4773168"/>
            <a:ext cx="1170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D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Zudio stores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8165592" y="5038344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D4D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₹47,316 Cr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D4D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potential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8055864" y="4709160"/>
            <a:ext cx="73152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56032" y="5468112"/>
            <a:ext cx="8631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Bernstein ground-up model  ·  Pincode Level 2nd Approach workbook  ·  Zudio Store Potential workbook  ·  Trent Annual Report FY25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2026-06-25T15:10:20Z</dcterms:created>
  <dcterms:modified xsi:type="dcterms:W3CDTF">2026-06-25T15:10:20Z</dcterms:modified>
</cp:coreProperties>
</file>