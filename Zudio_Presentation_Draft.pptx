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10.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4.xml" ContentType="application/vnd.openxmlformats-officedocument.drawingml.chart+xml"/>
  <Override PartName="/ppt/charts/chart1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8.xml" ContentType="application/vnd.openxmlformats-officedocument.drawingml.chart+xml"/>
  <Override PartName="/ppt/charts/chart1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1.xml" ContentType="application/vnd.openxmlformats-officedocument.drawingml.chart+xml"/>
  <Override PartName="/ppt/charts/chart2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Net Store Additions — Industry-Wide</a:t>
            </a:r>
          </a:p>
        </c:rich>
      </c:tx>
      <c:layout/>
      <c:overlay val="0"/>
    </c:title>
    <c:autoTitleDeleted val="0"/>
    <c:plotArea>
      <c:layout/>
      <c:barChart>
        <c:barDir val="col"/>
        <c:grouping val="clustered"/>
        <c:varyColors val="0"/>
        <c:ser>
          <c:idx val="0"/>
          <c:order val="0"/>
          <c:tx>
            <c:strRef>
              <c:f>Sheet1!$B$1</c:f>
              <c:strCache>
                <c:ptCount val="1"/>
                <c:pt idx="0">
                  <c:v>Net Store Additions</c:v>
                </c:pt>
              </c:strCache>
            </c:strRef>
          </c:tx>
          <c:spPr>
            <a:solidFill>
              <a:srgbClr val="185FA5"/>
            </a:solidFill>
            <a:effectLst/>
          </c:spPr>
          <c:invertIfNegative val="0"/>
          <c:dLbls>
            <c:numFmt formatCode="#,##0" sourceLinked="0"/>
            <c:txPr>
              <a:bodyPr/>
              <a:lstStyle/>
              <a:p>
                <a:pPr>
                  <a:defRPr b="1" i="0" strike="noStrike" sz="1000" u="none">
                    <a:solidFill>
                      <a:srgbClr val="1A2B4A"/>
                    </a:solidFill>
                    <a:latin typeface="Arial"/>
                  </a:defRPr>
                </a:pPr>
              </a:p>
            </c:txPr>
            <c:showLegendKey val="0"/>
            <c:showVal val="1"/>
            <c:showCatName val="0"/>
            <c:showSerName val="0"/>
            <c:showPercent val="0"/>
            <c:showBubbleSize val="0"/>
            <c:showLeaderLines val="0"/>
          </c:dLbls>
          <c:dPt>
            <c:idx val="0"/>
            <c:invertIfNegative val="0"/>
            <c:bubble3D val="0"/>
            <c:spPr>
              <a:solidFill>
                <a:srgbClr val="185FA5"/>
              </a:solidFill>
              <a:effectLst/>
            </c:spPr>
          </c:dPt>
          <c:dPt>
            <c:idx val="1"/>
            <c:invertIfNegative val="0"/>
            <c:bubble3D val="0"/>
            <c:spPr>
              <a:solidFill>
                <a:srgbClr val="00A896"/>
              </a:solidFill>
              <a:effectLst/>
            </c:spPr>
          </c:dPt>
          <c:dPt>
            <c:idx val="2"/>
            <c:invertIfNegative val="0"/>
            <c:bubble3D val="0"/>
            <c:spPr>
              <a:solidFill>
                <a:srgbClr val="185FA5"/>
              </a:solidFill>
              <a:effectLst/>
            </c:spPr>
          </c:dPt>
          <c:cat>
            <c:multiLvlStrRef>
              <c:f>Sheet1!$A$2:$A$4</c:f>
              <c:multiLvlStrCache>
                <c:ptCount val="3"/>
                <c:lvl>
                  <c:pt idx="0">
                    <c:v>FY 24</c:v>
                  </c:pt>
                  <c:pt idx="1">
                    <c:v>FY 25</c:v>
                  </c:pt>
                  <c:pt idx="2">
                    <c:v>FY 26</c:v>
                  </c:pt>
                </c:lvl>
              </c:multiLvlStrCache>
            </c:multiLvlStrRef>
          </c:cat>
          <c:val>
            <c:numRef>
              <c:f>Sheet1!$B$2:$B$4</c:f>
              <c:numCache>
                <c:formatCode>General</c:formatCode>
                <c:ptCount val="3"/>
                <c:pt idx="0">
                  <c:v>808</c:v>
                </c:pt>
                <c:pt idx="1">
                  <c:v>1571</c:v>
                </c:pt>
                <c:pt idx="2">
                  <c:v>1320</c:v>
                </c:pt>
              </c:numCache>
            </c:numRef>
          </c:val>
        </c:ser>
        <c:dLbls>
          <c:numFmt formatCode="#,##0" sourceLinked="0"/>
          <c:txPr>
            <a:bodyPr/>
            <a:lstStyle/>
            <a:p>
              <a:pPr>
                <a:defRPr b="1" i="0" strike="noStrike" sz="10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Total Market (₹ Lakh Cr) &amp; Organised Share (%)</a:t>
            </a:r>
          </a:p>
        </c:rich>
      </c:tx>
      <c:layout/>
      <c:overlay val="0"/>
    </c:title>
    <c:autoTitleDeleted val="0"/>
    <c:plotArea>
      <c:layout/>
      <c:barChart>
        <c:barDir val="col"/>
        <c:grouping val="clustered"/>
        <c:varyColors val="0"/>
        <c:ser>
          <c:idx val="0"/>
          <c:order val="0"/>
          <c:tx>
            <c:strRef>
              <c:f>Sheet1!$B$1</c:f>
              <c:strCache>
                <c:ptCount val="1"/>
                <c:pt idx="0">
                  <c:v>Total Apparel+Footwear (₹ Lakh Cr)</c:v>
                </c:pt>
              </c:strCache>
            </c:strRef>
          </c:tx>
          <c:spPr>
            <a:solidFill>
              <a:srgbClr val="185FA5"/>
            </a:solidFill>
            <a:effectLst/>
          </c:spPr>
          <c:invertIfNegative val="0"/>
          <c:dLbls>
            <c:numFmt formatCode="#,##0" sourceLinked="0"/>
            <c:txPr>
              <a:bodyPr/>
              <a:lstStyle/>
              <a:p>
                <a:pPr>
                  <a:defRPr b="0" i="0" strike="noStrike" sz="900" u="none">
                    <a:solidFill>
                      <a:srgbClr val="1A2B4A"/>
                    </a:solidFill>
                    <a:latin typeface="Arial"/>
                  </a:defRPr>
                </a:pPr>
              </a:p>
            </c:txPr>
            <c:showLegendKey val="0"/>
            <c:showVal val="1"/>
            <c:showCatName val="0"/>
            <c:showSerName val="0"/>
            <c:showPercent val="0"/>
            <c:showBubbleSize val="0"/>
            <c:showLeaderLines val="0"/>
          </c:dLbls>
          <c:cat>
            <c:multiLvlStrRef>
              <c:f>Sheet1!$A$2:$A$6</c:f>
              <c:multiLvlStrCache>
                <c:ptCount val="5"/>
                <c:lvl>
                  <c:pt idx="0">
                    <c:v>FY23</c:v>
                  </c:pt>
                  <c:pt idx="1">
                    <c:v>FY24</c:v>
                  </c:pt>
                  <c:pt idx="2">
                    <c:v>FY25</c:v>
                  </c:pt>
                  <c:pt idx="3">
                    <c:v>FY26</c:v>
                  </c:pt>
                  <c:pt idx="4">
                    <c:v>FY27P</c:v>
                  </c:pt>
                </c:lvl>
              </c:multiLvlStrCache>
            </c:multiLvlStrRef>
          </c:cat>
          <c:val>
            <c:numRef>
              <c:f>Sheet1!$B$2:$B$6</c:f>
              <c:numCache>
                <c:formatCode>General</c:formatCode>
                <c:ptCount val="5"/>
                <c:pt idx="0">
                  <c:v>6.24</c:v>
                </c:pt>
                <c:pt idx="1">
                  <c:v>7.57</c:v>
                </c:pt>
                <c:pt idx="2">
                  <c:v>8.71</c:v>
                </c:pt>
                <c:pt idx="3">
                  <c:v>10.38</c:v>
                </c:pt>
                <c:pt idx="4">
                  <c:v>12.17</c:v>
                </c:pt>
              </c:numCache>
            </c:numRef>
          </c:val>
        </c:ser>
        <c:dLbls>
          <c:numFmt formatCode="#,##0" sourceLinked="0"/>
          <c:txPr>
            <a:bodyPr/>
            <a:lstStyle/>
            <a:p>
              <a:pPr>
                <a:defRPr b="0" i="0" strike="noStrike" sz="9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Organised %</c:v>
                </c:pt>
              </c:strCache>
            </c:strRef>
          </c:tx>
          <c:spPr>
            <a:solidFill>
              <a:srgbClr val="00A896"/>
            </a:solidFill>
            <a:ln w="31750" cap="flat">
              <a:solidFill>
                <a:srgbClr val="00A896"/>
              </a:solidFill>
              <a:prstDash val="solid"/>
              <a:round/>
            </a:ln>
            <a:effectLst/>
          </c:spPr>
          <c:invertIfNegative val="0"/>
          <c:dLbls>
            <c:numFmt formatCode="#,##0" sourceLinked="0"/>
            <c:txPr>
              <a:bodyPr/>
              <a:lstStyle/>
              <a:p>
                <a:pPr>
                  <a:defRPr b="0" i="0" strike="noStrike" sz="850" u="none">
                    <a:solidFill>
                      <a:srgbClr val="00A896"/>
                    </a:solidFill>
                    <a:latin typeface="Arial"/>
                  </a:defRPr>
                </a:pPr>
              </a:p>
            </c:txPr>
            <c:showLegendKey val="0"/>
            <c:showVal val="1"/>
            <c:showCatName val="0"/>
            <c:showSerName val="0"/>
            <c:showPercent val="0"/>
            <c:showBubbleSize val="0"/>
            <c:showLeaderLines val="0"/>
          </c:dLbls>
          <c:marker>
            <c:symbol val="circle"/>
            <c:size val="6"/>
            <c:spPr>
              <a:solidFill>
                <a:srgbClr val="00A896"/>
              </a:solidFill>
              <a:ln w="9525" cap="flat">
                <a:solidFill>
                  <a:srgbClr val="00A896"/>
                </a:solidFill>
                <a:prstDash val="solid"/>
                <a:round/>
              </a:ln>
              <a:effectLst/>
            </c:spPr>
          </c:marker>
          <c:cat>
            <c:multiLvlStrRef>
              <c:f>Sheet1!$A$2:$A$6</c:f>
              <c:multiLvlStrCache>
                <c:ptCount val="5"/>
                <c:lvl>
                  <c:pt idx="0">
                    <c:v>FY23</c:v>
                  </c:pt>
                  <c:pt idx="1">
                    <c:v>FY24</c:v>
                  </c:pt>
                  <c:pt idx="2">
                    <c:v>FY25</c:v>
                  </c:pt>
                  <c:pt idx="3">
                    <c:v>FY26</c:v>
                  </c:pt>
                  <c:pt idx="4">
                    <c:v>FY27P</c:v>
                  </c:pt>
                </c:lvl>
              </c:multiLvlStrCache>
            </c:multiLvlStrRef>
          </c:cat>
          <c:val>
            <c:numRef>
              <c:f>Sheet1!$C$2:$C$6</c:f>
              <c:numCache>
                <c:formatCode>General</c:formatCode>
                <c:ptCount val="5"/>
                <c:pt idx="0">
                  <c:v>38</c:v>
                </c:pt>
                <c:pt idx="1">
                  <c:v>40</c:v>
                </c:pt>
                <c:pt idx="2">
                  <c:v>42</c:v>
                </c:pt>
                <c:pt idx="3">
                  <c:v>45</c:v>
                </c:pt>
                <c:pt idx="4">
                  <c:v>48</c:v>
                </c:pt>
              </c:numCache>
            </c:numRef>
          </c:val>
          <c:smooth val="0"/>
        </c:ser>
        <c:dLbls>
          <c:numFmt formatCode="#,##0" sourceLinked="0"/>
          <c:txPr>
            <a:bodyPr/>
            <a:lstStyle/>
            <a:p>
              <a:pPr>
                <a:defRPr b="0" i="0" strike="noStrike" sz="850" u="none">
                  <a:solidFill>
                    <a:srgbClr val="00A896"/>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Store Additions: Value Fashion vs Total</a:t>
            </a:r>
          </a:p>
        </c:rich>
      </c:tx>
      <c:layout/>
      <c:overlay val="0"/>
    </c:title>
    <c:autoTitleDeleted val="0"/>
    <c:plotArea>
      <c:layout/>
      <c:barChart>
        <c:barDir val="col"/>
        <c:grouping val="clustered"/>
        <c:varyColors val="0"/>
        <c:ser>
          <c:idx val="0"/>
          <c:order val="0"/>
          <c:tx>
            <c:strRef>
              <c:f>Sheet1!$B$1</c:f>
              <c:strCache>
                <c:ptCount val="1"/>
                <c:pt idx="0">
                  <c:v>Value Fashion Additions</c:v>
                </c:pt>
              </c:strCache>
            </c:strRef>
          </c:tx>
          <c:spPr>
            <a:solidFill>
              <a:srgbClr val="00A896"/>
            </a:solidFill>
            <a:effectLst/>
          </c:spPr>
          <c:invertIfNegative val="0"/>
          <c:dLbls>
            <c:numFmt formatCode="#,##0" sourceLinked="0"/>
            <c:txPr>
              <a:bodyPr/>
              <a:lstStyle/>
              <a:p>
                <a:pPr>
                  <a:defRPr b="0" i="0" strike="noStrike" sz="850" u="none">
                    <a:solidFill>
                      <a:srgbClr val="1A2B4A"/>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FY24</c:v>
                  </c:pt>
                  <c:pt idx="1">
                    <c:v>FY25</c:v>
                  </c:pt>
                  <c:pt idx="2">
                    <c:v>FY26</c:v>
                  </c:pt>
                </c:lvl>
              </c:multiLvlStrCache>
            </c:multiLvlStrRef>
          </c:cat>
          <c:val>
            <c:numRef>
              <c:f>Sheet1!$B$2:$B$4</c:f>
              <c:numCache>
                <c:formatCode>General</c:formatCode>
                <c:ptCount val="3"/>
                <c:pt idx="0">
                  <c:v>313</c:v>
                </c:pt>
                <c:pt idx="1">
                  <c:v>525</c:v>
                </c:pt>
                <c:pt idx="2">
                  <c:v>581</c:v>
                </c:pt>
              </c:numCache>
            </c:numRef>
          </c:val>
        </c:ser>
        <c:ser>
          <c:idx val="1"/>
          <c:order val="1"/>
          <c:tx>
            <c:strRef>
              <c:f>Sheet1!$C$1</c:f>
              <c:strCache>
                <c:ptCount val="1"/>
                <c:pt idx="0">
                  <c:v>Total Store Additions</c:v>
                </c:pt>
              </c:strCache>
            </c:strRef>
          </c:tx>
          <c:spPr>
            <a:solidFill>
              <a:srgbClr val="185FA5"/>
            </a:solidFill>
            <a:effectLst/>
          </c:spPr>
          <c:invertIfNegative val="0"/>
          <c:dLbls>
            <c:numFmt formatCode="#,##0" sourceLinked="0"/>
            <c:txPr>
              <a:bodyPr/>
              <a:lstStyle/>
              <a:p>
                <a:pPr>
                  <a:defRPr b="0" i="0" strike="noStrike" sz="850" u="none">
                    <a:solidFill>
                      <a:srgbClr val="1A2B4A"/>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FY24</c:v>
                  </c:pt>
                  <c:pt idx="1">
                    <c:v>FY25</c:v>
                  </c:pt>
                  <c:pt idx="2">
                    <c:v>FY26</c:v>
                  </c:pt>
                </c:lvl>
              </c:multiLvlStrCache>
            </c:multiLvlStrRef>
          </c:cat>
          <c:val>
            <c:numRef>
              <c:f>Sheet1!$C$2:$C$4</c:f>
              <c:numCache>
                <c:formatCode>General</c:formatCode>
                <c:ptCount val="3"/>
                <c:pt idx="0">
                  <c:v>808</c:v>
                </c:pt>
                <c:pt idx="1">
                  <c:v>1571</c:v>
                </c:pt>
                <c:pt idx="2">
                  <c:v>1320</c:v>
                </c:pt>
              </c:numCache>
            </c:numRef>
          </c:val>
        </c:ser>
        <c:dLbls>
          <c:numFmt formatCode="#,##0" sourceLinked="0"/>
          <c:txPr>
            <a:bodyPr/>
            <a:lstStyle/>
            <a:p>
              <a:pPr>
                <a:defRPr b="0" i="0" strike="noStrike" sz="85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Clothing Spending Share (%) by City Tier</a:t>
            </a:r>
          </a:p>
        </c:rich>
      </c:tx>
      <c:layout/>
      <c:overlay val="0"/>
    </c:title>
    <c:autoTitleDeleted val="0"/>
    <c:plotArea>
      <c:layout/>
      <c:barChart>
        <c:barDir val="col"/>
        <c:grouping val="clustered"/>
        <c:varyColors val="0"/>
        <c:ser>
          <c:idx val="0"/>
          <c:order val="0"/>
          <c:tx>
            <c:strRef>
              <c:f>Sheet1!$B$1</c:f>
              <c:strCache>
                <c:ptCount val="1"/>
                <c:pt idx="0">
                  <c:v>Apparel Wallet Share (%)</c:v>
                </c:pt>
              </c:strCache>
            </c:strRef>
          </c:tx>
          <c:spPr>
            <a:solidFill>
              <a:srgbClr val="185FA5"/>
            </a:solidFill>
            <a:effectLst/>
          </c:spPr>
          <c:invertIfNegative val="0"/>
          <c:dLbls>
            <c:numFmt formatCode="#,##0" sourceLinked="0"/>
            <c:txPr>
              <a:bodyPr/>
              <a:lstStyle/>
              <a:p>
                <a:pPr>
                  <a:defRPr b="1" i="0" strike="noStrike" sz="1100" u="none">
                    <a:solidFill>
                      <a:srgbClr val="1A2B4A"/>
                    </a:solidFill>
                    <a:latin typeface="Arial"/>
                  </a:defRPr>
                </a:pPr>
              </a:p>
            </c:txPr>
            <c:showLegendKey val="0"/>
            <c:showVal val="1"/>
            <c:showCatName val="0"/>
            <c:showSerName val="0"/>
            <c:showPercent val="0"/>
            <c:showBubbleSize val="0"/>
            <c:showLeaderLines val="0"/>
          </c:dLbls>
          <c:dPt>
            <c:idx val="0"/>
            <c:invertIfNegative val="0"/>
            <c:bubble3D val="0"/>
            <c:spPr>
              <a:solidFill>
                <a:srgbClr val="185FA5"/>
              </a:solidFill>
              <a:effectLst/>
            </c:spPr>
          </c:dPt>
          <c:dPt>
            <c:idx val="1"/>
            <c:invertIfNegative val="0"/>
            <c:bubble3D val="0"/>
            <c:spPr>
              <a:solidFill>
                <a:srgbClr val="185FA5"/>
              </a:solidFill>
              <a:effectLst/>
            </c:spPr>
          </c:dPt>
          <c:dPt>
            <c:idx val="2"/>
            <c:invertIfNegative val="0"/>
            <c:bubble3D val="0"/>
            <c:spPr>
              <a:solidFill>
                <a:srgbClr val="185FA5"/>
              </a:solidFill>
              <a:effectLst/>
            </c:spPr>
          </c:dPt>
          <c:dPt>
            <c:idx val="3"/>
            <c:invertIfNegative val="0"/>
            <c:bubble3D val="0"/>
            <c:spPr>
              <a:solidFill>
                <a:srgbClr val="185FA5"/>
              </a:solidFill>
              <a:effectLst/>
            </c:spPr>
          </c:dPt>
          <c:dPt>
            <c:idx val="4"/>
            <c:invertIfNegative val="0"/>
            <c:bubble3D val="0"/>
            <c:spPr>
              <a:solidFill>
                <a:srgbClr val="00A896"/>
              </a:solidFill>
              <a:effectLst/>
            </c:spPr>
          </c:dPt>
          <c:cat>
            <c:multiLvlStrRef>
              <c:f>Sheet1!$A$2:$A$6</c:f>
              <c:multiLvlStrCache>
                <c:ptCount val="5"/>
                <c:lvl>
                  <c:pt idx="0">
                    <c:v>Metro</c:v>
                  </c:pt>
                  <c:pt idx="1">
                    <c:v>T1</c:v>
                  </c:pt>
                  <c:pt idx="2">
                    <c:v>T2</c:v>
                  </c:pt>
                  <c:pt idx="3">
                    <c:v>T3</c:v>
                  </c:pt>
                  <c:pt idx="4">
                    <c:v>T4+</c:v>
                  </c:pt>
                </c:lvl>
              </c:multiLvlStrCache>
            </c:multiLvlStrRef>
          </c:cat>
          <c:val>
            <c:numRef>
              <c:f>Sheet1!$B$2:$B$6</c:f>
              <c:numCache>
                <c:formatCode>General</c:formatCode>
                <c:ptCount val="5"/>
                <c:pt idx="0">
                  <c:v>15</c:v>
                </c:pt>
                <c:pt idx="1">
                  <c:v>10</c:v>
                </c:pt>
                <c:pt idx="2">
                  <c:v>17</c:v>
                </c:pt>
                <c:pt idx="3">
                  <c:v>24</c:v>
                </c:pt>
                <c:pt idx="4">
                  <c:v>35</c:v>
                </c:pt>
              </c:numCache>
            </c:numRef>
          </c:val>
        </c:ser>
        <c:dLbls>
          <c:numFmt formatCode="#,##0" sourceLinked="0"/>
          <c:txPr>
            <a:bodyPr/>
            <a:lstStyle/>
            <a:p>
              <a:pPr>
                <a:defRPr b="1" i="0" strike="noStrike" sz="11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Population Share (%) by City Tier</a:t>
            </a:r>
          </a:p>
        </c:rich>
      </c:tx>
      <c:layout/>
      <c:overlay val="0"/>
    </c:title>
    <c:autoTitleDeleted val="0"/>
    <c:plotArea>
      <c:layout/>
      <c:barChart>
        <c:barDir val="col"/>
        <c:grouping val="clustered"/>
        <c:varyColors val="0"/>
        <c:ser>
          <c:idx val="0"/>
          <c:order val="0"/>
          <c:tx>
            <c:strRef>
              <c:f>Sheet1!$B$1</c:f>
              <c:strCache>
                <c:ptCount val="1"/>
                <c:pt idx="0">
                  <c:v>Population Share (%)</c:v>
                </c:pt>
              </c:strCache>
            </c:strRef>
          </c:tx>
          <c:spPr>
            <a:solidFill>
              <a:srgbClr val="95A5A6"/>
            </a:solidFill>
            <a:effectLst/>
          </c:spPr>
          <c:invertIfNegative val="0"/>
          <c:dLbls>
            <c:numFmt formatCode="#,##0" sourceLinked="0"/>
            <c:txPr>
              <a:bodyPr/>
              <a:lstStyle/>
              <a:p>
                <a:pPr>
                  <a:defRPr b="1" i="0" strike="noStrike" sz="1100" u="none">
                    <a:solidFill>
                      <a:srgbClr val="1A2B4A"/>
                    </a:solidFill>
                    <a:latin typeface="Arial"/>
                  </a:defRPr>
                </a:pPr>
              </a:p>
            </c:txPr>
            <c:showLegendKey val="0"/>
            <c:showVal val="1"/>
            <c:showCatName val="0"/>
            <c:showSerName val="0"/>
            <c:showPercent val="0"/>
            <c:showBubbleSize val="0"/>
            <c:showLeaderLines val="0"/>
          </c:dLbls>
          <c:dPt>
            <c:idx val="0"/>
            <c:invertIfNegative val="0"/>
            <c:bubble3D val="0"/>
            <c:spPr>
              <a:solidFill>
                <a:srgbClr val="95A5A6"/>
              </a:solidFill>
              <a:effectLst/>
            </c:spPr>
          </c:dPt>
          <c:dPt>
            <c:idx val="1"/>
            <c:invertIfNegative val="0"/>
            <c:bubble3D val="0"/>
            <c:spPr>
              <a:solidFill>
                <a:srgbClr val="95A5A6"/>
              </a:solidFill>
              <a:effectLst/>
            </c:spPr>
          </c:dPt>
          <c:dPt>
            <c:idx val="2"/>
            <c:invertIfNegative val="0"/>
            <c:bubble3D val="0"/>
            <c:spPr>
              <a:solidFill>
                <a:srgbClr val="95A5A6"/>
              </a:solidFill>
              <a:effectLst/>
            </c:spPr>
          </c:dPt>
          <c:dPt>
            <c:idx val="3"/>
            <c:invertIfNegative val="0"/>
            <c:bubble3D val="0"/>
            <c:spPr>
              <a:solidFill>
                <a:srgbClr val="95A5A6"/>
              </a:solidFill>
              <a:effectLst/>
            </c:spPr>
          </c:dPt>
          <c:dPt>
            <c:idx val="4"/>
            <c:invertIfNegative val="0"/>
            <c:bubble3D val="0"/>
            <c:spPr>
              <a:solidFill>
                <a:srgbClr val="95A5A6"/>
              </a:solidFill>
              <a:effectLst/>
            </c:spPr>
          </c:dPt>
          <c:cat>
            <c:multiLvlStrRef>
              <c:f>Sheet1!$A$2:$A$6</c:f>
              <c:multiLvlStrCache>
                <c:ptCount val="5"/>
                <c:lvl>
                  <c:pt idx="0">
                    <c:v>Metro</c:v>
                  </c:pt>
                  <c:pt idx="1">
                    <c:v>T1</c:v>
                  </c:pt>
                  <c:pt idx="2">
                    <c:v>T2</c:v>
                  </c:pt>
                  <c:pt idx="3">
                    <c:v>T3</c:v>
                  </c:pt>
                  <c:pt idx="4">
                    <c:v>T4+</c:v>
                  </c:pt>
                </c:lvl>
              </c:multiLvlStrCache>
            </c:multiLvlStrRef>
          </c:cat>
          <c:val>
            <c:numRef>
              <c:f>Sheet1!$B$2:$B$6</c:f>
              <c:numCache>
                <c:formatCode>General</c:formatCode>
                <c:ptCount val="5"/>
                <c:pt idx="0">
                  <c:v>10</c:v>
                </c:pt>
                <c:pt idx="1">
                  <c:v>18</c:v>
                </c:pt>
                <c:pt idx="2">
                  <c:v>25</c:v>
                </c:pt>
                <c:pt idx="3">
                  <c:v>37</c:v>
                </c:pt>
                <c:pt idx="4">
                  <c:v>10</c:v>
                </c:pt>
              </c:numCache>
            </c:numRef>
          </c:val>
        </c:ser>
        <c:dLbls>
          <c:numFmt formatCode="#,##0" sourceLinked="0"/>
          <c:txPr>
            <a:bodyPr/>
            <a:lstStyle/>
            <a:p>
              <a:pPr>
                <a:defRPr b="1" i="0" strike="noStrike" sz="11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Total Apparel Market Split by Segment (%)</a:t>
            </a:r>
          </a:p>
        </c:rich>
      </c:tx>
      <c:layout/>
      <c:overlay val="0"/>
    </c:title>
    <c:autoTitleDeleted val="0"/>
    <c:plotArea>
      <c:layout/>
      <c:barChart>
        <c:barDir val="col"/>
        <c:grouping val="stacked"/>
        <c:varyColors val="0"/>
        <c:ser>
          <c:idx val="0"/>
          <c:order val="0"/>
          <c:tx>
            <c:strRef>
              <c:f>Sheet1!$B$1</c:f>
              <c:strCache>
                <c:ptCount val="1"/>
                <c:pt idx="0">
                  <c:v>Value</c:v>
                </c:pt>
              </c:strCache>
            </c:strRef>
          </c:tx>
          <c:spPr>
            <a:solidFill>
              <a:srgbClr val="00A896"/>
            </a:solidFill>
            <a:effectLst/>
          </c:spPr>
          <c:invertIfNegative val="0"/>
          <c:dLbls>
            <c:numFmt formatCode="#,##0" sourceLinked="0"/>
            <c:txPr>
              <a:bodyPr/>
              <a:lstStyle/>
              <a:p>
                <a:pPr>
                  <a:defRPr b="0" i="0" strike="noStrike" sz="900" u="none">
                    <a:solidFill>
                      <a:srgbClr val="1A2B4A"/>
                    </a:solidFill>
                    <a:latin typeface="Arial"/>
                  </a:defRPr>
                </a:pPr>
              </a:p>
            </c:txPr>
            <c:showLegendKey val="0"/>
            <c:showVal val="0"/>
            <c:showCatName val="0"/>
            <c:showSerName val="0"/>
            <c:showPercent val="0"/>
            <c:showBubbleSize val="0"/>
            <c:showLeaderLines val="0"/>
          </c:dLbls>
          <c:cat>
            <c:multiLvlStrRef>
              <c:f>Sheet1!$A$2:$A$8</c:f>
              <c:multiLvlStrCache>
                <c:ptCount val="7"/>
                <c:lvl>
                  <c:pt idx="0">
                    <c:v>FY21</c:v>
                  </c:pt>
                  <c:pt idx="1">
                    <c:v>FY22</c:v>
                  </c:pt>
                  <c:pt idx="2">
                    <c:v>FY23</c:v>
                  </c:pt>
                  <c:pt idx="3">
                    <c:v>FY24P</c:v>
                  </c:pt>
                  <c:pt idx="4">
                    <c:v>FY25P</c:v>
                  </c:pt>
                  <c:pt idx="5">
                    <c:v>FY26P</c:v>
                  </c:pt>
                  <c:pt idx="6">
                    <c:v>FY27P</c:v>
                  </c:pt>
                </c:lvl>
              </c:multiLvlStrCache>
            </c:multiLvlStrRef>
          </c:cat>
          <c:val>
            <c:numRef>
              <c:f>Sheet1!$B$2:$B$8</c:f>
              <c:numCache>
                <c:formatCode>General</c:formatCode>
                <c:ptCount val="7"/>
                <c:pt idx="0">
                  <c:v>28</c:v>
                </c:pt>
                <c:pt idx="1">
                  <c:v>28</c:v>
                </c:pt>
                <c:pt idx="2">
                  <c:v>27</c:v>
                </c:pt>
                <c:pt idx="3">
                  <c:v>29</c:v>
                </c:pt>
                <c:pt idx="4">
                  <c:v>29</c:v>
                </c:pt>
                <c:pt idx="5">
                  <c:v>28</c:v>
                </c:pt>
                <c:pt idx="6">
                  <c:v>27</c:v>
                </c:pt>
              </c:numCache>
            </c:numRef>
          </c:val>
        </c:ser>
        <c:ser>
          <c:idx val="1"/>
          <c:order val="1"/>
          <c:tx>
            <c:strRef>
              <c:f>Sheet1!$C$1</c:f>
              <c:strCache>
                <c:ptCount val="1"/>
                <c:pt idx="0">
                  <c:v>Economy</c:v>
                </c:pt>
              </c:strCache>
            </c:strRef>
          </c:tx>
          <c:spPr>
            <a:solidFill>
              <a:srgbClr val="2ECC71"/>
            </a:solidFill>
            <a:effectLst/>
          </c:spPr>
          <c:invertIfNegative val="0"/>
          <c:dLbls>
            <c:numFmt formatCode="#,##0" sourceLinked="0"/>
            <c:txPr>
              <a:bodyPr/>
              <a:lstStyle/>
              <a:p>
                <a:pPr>
                  <a:defRPr b="0" i="0" strike="noStrike" sz="900" u="none">
                    <a:solidFill>
                      <a:srgbClr val="1A2B4A"/>
                    </a:solidFill>
                    <a:latin typeface="Arial"/>
                  </a:defRPr>
                </a:pPr>
              </a:p>
            </c:txPr>
            <c:showLegendKey val="0"/>
            <c:showVal val="0"/>
            <c:showCatName val="0"/>
            <c:showSerName val="0"/>
            <c:showPercent val="0"/>
            <c:showBubbleSize val="0"/>
            <c:showLeaderLines val="0"/>
          </c:dLbls>
          <c:cat>
            <c:multiLvlStrRef>
              <c:f>Sheet1!$A$2:$A$8</c:f>
              <c:multiLvlStrCache>
                <c:ptCount val="7"/>
                <c:lvl>
                  <c:pt idx="0">
                    <c:v>FY21</c:v>
                  </c:pt>
                  <c:pt idx="1">
                    <c:v>FY22</c:v>
                  </c:pt>
                  <c:pt idx="2">
                    <c:v>FY23</c:v>
                  </c:pt>
                  <c:pt idx="3">
                    <c:v>FY24P</c:v>
                  </c:pt>
                  <c:pt idx="4">
                    <c:v>FY25P</c:v>
                  </c:pt>
                  <c:pt idx="5">
                    <c:v>FY26P</c:v>
                  </c:pt>
                  <c:pt idx="6">
                    <c:v>FY27P</c:v>
                  </c:pt>
                </c:lvl>
              </c:multiLvlStrCache>
            </c:multiLvlStrRef>
          </c:cat>
          <c:val>
            <c:numRef>
              <c:f>Sheet1!$C$2:$C$8</c:f>
              <c:numCache>
                <c:formatCode>General</c:formatCode>
                <c:ptCount val="7"/>
                <c:pt idx="0">
                  <c:v>29</c:v>
                </c:pt>
                <c:pt idx="1">
                  <c:v>29</c:v>
                </c:pt>
                <c:pt idx="2">
                  <c:v>30</c:v>
                </c:pt>
                <c:pt idx="3">
                  <c:v>31</c:v>
                </c:pt>
                <c:pt idx="4">
                  <c:v>31</c:v>
                </c:pt>
                <c:pt idx="5">
                  <c:v>30</c:v>
                </c:pt>
                <c:pt idx="6">
                  <c:v>29</c:v>
                </c:pt>
              </c:numCache>
            </c:numRef>
          </c:val>
        </c:ser>
        <c:ser>
          <c:idx val="2"/>
          <c:order val="2"/>
          <c:tx>
            <c:strRef>
              <c:f>Sheet1!$D$1</c:f>
              <c:strCache>
                <c:ptCount val="1"/>
                <c:pt idx="0">
                  <c:v>Mid-Market</c:v>
                </c:pt>
              </c:strCache>
            </c:strRef>
          </c:tx>
          <c:spPr>
            <a:solidFill>
              <a:srgbClr val="3498DB"/>
            </a:solidFill>
            <a:effectLst/>
          </c:spPr>
          <c:invertIfNegative val="0"/>
          <c:dLbls>
            <c:numFmt formatCode="#,##0" sourceLinked="0"/>
            <c:txPr>
              <a:bodyPr/>
              <a:lstStyle/>
              <a:p>
                <a:pPr>
                  <a:defRPr b="0" i="0" strike="noStrike" sz="900" u="none">
                    <a:solidFill>
                      <a:srgbClr val="1A2B4A"/>
                    </a:solidFill>
                    <a:latin typeface="Arial"/>
                  </a:defRPr>
                </a:pPr>
              </a:p>
            </c:txPr>
            <c:showLegendKey val="0"/>
            <c:showVal val="0"/>
            <c:showCatName val="0"/>
            <c:showSerName val="0"/>
            <c:showPercent val="0"/>
            <c:showBubbleSize val="0"/>
            <c:showLeaderLines val="0"/>
          </c:dLbls>
          <c:cat>
            <c:multiLvlStrRef>
              <c:f>Sheet1!$A$2:$A$8</c:f>
              <c:multiLvlStrCache>
                <c:ptCount val="7"/>
                <c:lvl>
                  <c:pt idx="0">
                    <c:v>FY21</c:v>
                  </c:pt>
                  <c:pt idx="1">
                    <c:v>FY22</c:v>
                  </c:pt>
                  <c:pt idx="2">
                    <c:v>FY23</c:v>
                  </c:pt>
                  <c:pt idx="3">
                    <c:v>FY24P</c:v>
                  </c:pt>
                  <c:pt idx="4">
                    <c:v>FY25P</c:v>
                  </c:pt>
                  <c:pt idx="5">
                    <c:v>FY26P</c:v>
                  </c:pt>
                  <c:pt idx="6">
                    <c:v>FY27P</c:v>
                  </c:pt>
                </c:lvl>
              </c:multiLvlStrCache>
            </c:multiLvlStrRef>
          </c:cat>
          <c:val>
            <c:numRef>
              <c:f>Sheet1!$D$2:$D$8</c:f>
              <c:numCache>
                <c:formatCode>General</c:formatCode>
                <c:ptCount val="7"/>
                <c:pt idx="0">
                  <c:v>28</c:v>
                </c:pt>
                <c:pt idx="1">
                  <c:v>28</c:v>
                </c:pt>
                <c:pt idx="2">
                  <c:v>28</c:v>
                </c:pt>
                <c:pt idx="3">
                  <c:v>27</c:v>
                </c:pt>
                <c:pt idx="4">
                  <c:v>27</c:v>
                </c:pt>
                <c:pt idx="5">
                  <c:v>28</c:v>
                </c:pt>
                <c:pt idx="6">
                  <c:v>20</c:v>
                </c:pt>
              </c:numCache>
            </c:numRef>
          </c:val>
        </c:ser>
        <c:ser>
          <c:idx val="3"/>
          <c:order val="3"/>
          <c:tx>
            <c:strRef>
              <c:f>Sheet1!$E$1</c:f>
              <c:strCache>
                <c:ptCount val="1"/>
                <c:pt idx="0">
                  <c:v>Premium</c:v>
                </c:pt>
              </c:strCache>
            </c:strRef>
          </c:tx>
          <c:spPr>
            <a:solidFill>
              <a:srgbClr val="1A2B4A"/>
            </a:solidFill>
            <a:effectLst/>
          </c:spPr>
          <c:invertIfNegative val="0"/>
          <c:dLbls>
            <c:numFmt formatCode="#,##0" sourceLinked="0"/>
            <c:txPr>
              <a:bodyPr/>
              <a:lstStyle/>
              <a:p>
                <a:pPr>
                  <a:defRPr b="0" i="0" strike="noStrike" sz="900" u="none">
                    <a:solidFill>
                      <a:srgbClr val="1A2B4A"/>
                    </a:solidFill>
                    <a:latin typeface="Arial"/>
                  </a:defRPr>
                </a:pPr>
              </a:p>
            </c:txPr>
            <c:showLegendKey val="0"/>
            <c:showVal val="0"/>
            <c:showCatName val="0"/>
            <c:showSerName val="0"/>
            <c:showPercent val="0"/>
            <c:showBubbleSize val="0"/>
            <c:showLeaderLines val="0"/>
          </c:dLbls>
          <c:cat>
            <c:multiLvlStrRef>
              <c:f>Sheet1!$A$2:$A$8</c:f>
              <c:multiLvlStrCache>
                <c:ptCount val="7"/>
                <c:lvl>
                  <c:pt idx="0">
                    <c:v>FY21</c:v>
                  </c:pt>
                  <c:pt idx="1">
                    <c:v>FY22</c:v>
                  </c:pt>
                  <c:pt idx="2">
                    <c:v>FY23</c:v>
                  </c:pt>
                  <c:pt idx="3">
                    <c:v>FY24P</c:v>
                  </c:pt>
                  <c:pt idx="4">
                    <c:v>FY25P</c:v>
                  </c:pt>
                  <c:pt idx="5">
                    <c:v>FY26P</c:v>
                  </c:pt>
                  <c:pt idx="6">
                    <c:v>FY27P</c:v>
                  </c:pt>
                </c:lvl>
              </c:multiLvlStrCache>
            </c:multiLvlStrRef>
          </c:cat>
          <c:val>
            <c:numRef>
              <c:f>Sheet1!$E$2:$E$8</c:f>
              <c:numCache>
                <c:formatCode>General</c:formatCode>
                <c:ptCount val="7"/>
                <c:pt idx="0">
                  <c:v>12</c:v>
                </c:pt>
                <c:pt idx="1">
                  <c:v>12</c:v>
                </c:pt>
                <c:pt idx="2">
                  <c:v>12</c:v>
                </c:pt>
                <c:pt idx="3">
                  <c:v>11</c:v>
                </c:pt>
                <c:pt idx="4">
                  <c:v>11</c:v>
                </c:pt>
                <c:pt idx="5">
                  <c:v>12</c:v>
                </c:pt>
                <c:pt idx="6">
                  <c:v>13</c:v>
                </c:pt>
              </c:numCache>
            </c:numRef>
          </c:val>
        </c:ser>
        <c:ser>
          <c:idx val="4"/>
          <c:order val="4"/>
          <c:tx>
            <c:strRef>
              <c:f>Sheet1!$F$1</c:f>
              <c:strCache>
                <c:ptCount val="1"/>
                <c:pt idx="0">
                  <c:v>Luxury</c:v>
                </c:pt>
              </c:strCache>
            </c:strRef>
          </c:tx>
          <c:spPr>
            <a:solidFill>
              <a:srgbClr val="2C3E50"/>
            </a:solidFill>
            <a:effectLst/>
          </c:spPr>
          <c:invertIfNegative val="0"/>
          <c:dLbls>
            <c:numFmt formatCode="#,##0" sourceLinked="0"/>
            <c:txPr>
              <a:bodyPr/>
              <a:lstStyle/>
              <a:p>
                <a:pPr>
                  <a:defRPr b="0" i="0" strike="noStrike" sz="900" u="none">
                    <a:solidFill>
                      <a:srgbClr val="1A2B4A"/>
                    </a:solidFill>
                    <a:latin typeface="Arial"/>
                  </a:defRPr>
                </a:pPr>
              </a:p>
            </c:txPr>
            <c:showLegendKey val="0"/>
            <c:showVal val="0"/>
            <c:showCatName val="0"/>
            <c:showSerName val="0"/>
            <c:showPercent val="0"/>
            <c:showBubbleSize val="0"/>
            <c:showLeaderLines val="0"/>
          </c:dLbls>
          <c:cat>
            <c:multiLvlStrRef>
              <c:f>Sheet1!$A$2:$A$8</c:f>
              <c:multiLvlStrCache>
                <c:ptCount val="7"/>
                <c:lvl>
                  <c:pt idx="0">
                    <c:v>FY21</c:v>
                  </c:pt>
                  <c:pt idx="1">
                    <c:v>FY22</c:v>
                  </c:pt>
                  <c:pt idx="2">
                    <c:v>FY23</c:v>
                  </c:pt>
                  <c:pt idx="3">
                    <c:v>FY24P</c:v>
                  </c:pt>
                  <c:pt idx="4">
                    <c:v>FY25P</c:v>
                  </c:pt>
                  <c:pt idx="5">
                    <c:v>FY26P</c:v>
                  </c:pt>
                  <c:pt idx="6">
                    <c:v>FY27P</c:v>
                  </c:pt>
                </c:lvl>
              </c:multiLvlStrCache>
            </c:multiLvlStrRef>
          </c:cat>
          <c:val>
            <c:numRef>
              <c:f>Sheet1!$F$2:$F$8</c:f>
              <c:numCache>
                <c:formatCode>General</c:formatCode>
                <c:ptCount val="7"/>
                <c:pt idx="0">
                  <c:v>3</c:v>
                </c:pt>
                <c:pt idx="1">
                  <c:v>3</c:v>
                </c:pt>
                <c:pt idx="2">
                  <c:v>3</c:v>
                </c:pt>
                <c:pt idx="3">
                  <c:v>2</c:v>
                </c:pt>
                <c:pt idx="4">
                  <c:v>2</c:v>
                </c:pt>
                <c:pt idx="5">
                  <c:v>2</c:v>
                </c:pt>
                <c:pt idx="6">
                  <c:v>11</c:v>
                </c:pt>
              </c:numCache>
            </c:numRef>
          </c:val>
        </c:ser>
        <c:dLbls>
          <c:numFmt formatCode="#,##0" sourceLinked="0"/>
          <c:txPr>
            <a:bodyPr/>
            <a:lstStyle/>
            <a:p>
              <a:pPr>
                <a:defRPr b="0" i="0" strike="noStrike" sz="900" u="none">
                  <a:solidFill>
                    <a:srgbClr val="1A2B4A"/>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Organised Value Fashion Revenue (₹ Cr)</a:t>
            </a:r>
          </a:p>
        </c:rich>
      </c:tx>
      <c:layout/>
      <c:overlay val="0"/>
    </c:title>
    <c:autoTitleDeleted val="0"/>
    <c:plotArea>
      <c:layout/>
      <c:barChart>
        <c:barDir val="col"/>
        <c:grouping val="clustered"/>
        <c:varyColors val="0"/>
        <c:ser>
          <c:idx val="0"/>
          <c:order val="0"/>
          <c:tx>
            <c:strRef>
              <c:f>Sheet1!$B$1</c:f>
              <c:strCache>
                <c:ptCount val="1"/>
                <c:pt idx="0">
                  <c:v>Organised Value Fashion Revenue (₹ Cr)</c:v>
                </c:pt>
              </c:strCache>
            </c:strRef>
          </c:tx>
          <c:spPr>
            <a:solidFill>
              <a:srgbClr val="185FA5"/>
            </a:solidFill>
            <a:effectLst/>
          </c:spPr>
          <c:invertIfNegative val="0"/>
          <c:dLbls>
            <c:numFmt formatCode="#,##0" sourceLinked="0"/>
            <c:txPr>
              <a:bodyPr/>
              <a:lstStyle/>
              <a:p>
                <a:pPr>
                  <a:defRPr b="1" i="0" strike="noStrike" sz="900" u="none">
                    <a:solidFill>
                      <a:srgbClr val="1A2B4A"/>
                    </a:solidFill>
                    <a:latin typeface="Arial"/>
                  </a:defRPr>
                </a:pPr>
              </a:p>
            </c:txPr>
            <c:showLegendKey val="0"/>
            <c:showVal val="1"/>
            <c:showCatName val="0"/>
            <c:showSerName val="0"/>
            <c:showPercent val="0"/>
            <c:showBubbleSize val="0"/>
            <c:showLeaderLines val="0"/>
          </c:dLbls>
          <c:dPt>
            <c:idx val="0"/>
            <c:invertIfNegative val="0"/>
            <c:bubble3D val="0"/>
            <c:spPr>
              <a:solidFill>
                <a:srgbClr val="185FA5"/>
              </a:solidFill>
              <a:effectLst/>
            </c:spPr>
          </c:dPt>
          <c:dPt>
            <c:idx val="1"/>
            <c:invertIfNegative val="0"/>
            <c:bubble3D val="0"/>
            <c:spPr>
              <a:solidFill>
                <a:srgbClr val="00A896"/>
              </a:solidFill>
              <a:effectLst/>
            </c:spPr>
          </c:dPt>
          <c:cat>
            <c:multiLvlStrRef>
              <c:f>Sheet1!$A$2:$A$3</c:f>
              <c:multiLvlStrCache>
                <c:ptCount val="2"/>
                <c:lvl>
                  <c:pt idx="0">
                    <c:v>FY25</c:v>
                  </c:pt>
                  <c:pt idx="1">
                    <c:v>FY26</c:v>
                  </c:pt>
                </c:lvl>
              </c:multiLvlStrCache>
            </c:multiLvlStrRef>
          </c:cat>
          <c:val>
            <c:numRef>
              <c:f>Sheet1!$B$2:$B$3</c:f>
              <c:numCache>
                <c:formatCode>General</c:formatCode>
                <c:ptCount val="2"/>
                <c:pt idx="0">
                  <c:v>30938</c:v>
                </c:pt>
                <c:pt idx="1">
                  <c:v>37888</c:v>
                </c:pt>
              </c:numCache>
            </c:numRef>
          </c:val>
        </c:ser>
        <c:dLbls>
          <c:numFmt formatCode="#,##0" sourceLinked="0"/>
          <c:txPr>
            <a:bodyPr/>
            <a:lstStyle/>
            <a:p>
              <a:pPr>
                <a:defRPr b="1" i="0" strike="noStrike" sz="9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Number of Brands Competing Per Segment</a:t>
            </a:r>
          </a:p>
        </c:rich>
      </c:tx>
      <c:layout/>
      <c:overlay val="0"/>
    </c:title>
    <c:autoTitleDeleted val="0"/>
    <c:plotArea>
      <c:layout/>
      <c:barChart>
        <c:barDir val="col"/>
        <c:grouping val="clustered"/>
        <c:varyColors val="0"/>
        <c:ser>
          <c:idx val="0"/>
          <c:order val="0"/>
          <c:tx>
            <c:strRef>
              <c:f>Sheet1!$B$1</c:f>
              <c:strCache>
                <c:ptCount val="1"/>
                <c:pt idx="0">
                  <c:v>Brands</c:v>
                </c:pt>
              </c:strCache>
            </c:strRef>
          </c:tx>
          <c:spPr>
            <a:solidFill>
              <a:srgbClr val="00A896"/>
            </a:solidFill>
            <a:effectLst/>
          </c:spPr>
          <c:invertIfNegative val="0"/>
          <c:dLbls>
            <c:numFmt formatCode="#,##0" sourceLinked="0"/>
            <c:txPr>
              <a:bodyPr/>
              <a:lstStyle/>
              <a:p>
                <a:pPr>
                  <a:defRPr b="1" i="0" strike="noStrike" sz="1200" u="none">
                    <a:solidFill>
                      <a:srgbClr val="1A2B4A"/>
                    </a:solidFill>
                    <a:latin typeface="Arial"/>
                  </a:defRPr>
                </a:pPr>
              </a:p>
            </c:txPr>
            <c:showLegendKey val="0"/>
            <c:showVal val="1"/>
            <c:showCatName val="0"/>
            <c:showSerName val="0"/>
            <c:showPercent val="0"/>
            <c:showBubbleSize val="0"/>
            <c:showLeaderLines val="0"/>
          </c:dLbls>
          <c:dPt>
            <c:idx val="0"/>
            <c:invertIfNegative val="0"/>
            <c:bubble3D val="0"/>
            <c:spPr>
              <a:solidFill>
                <a:srgbClr val="00A896"/>
              </a:solidFill>
              <a:effectLst/>
            </c:spPr>
          </c:dPt>
          <c:dPt>
            <c:idx val="1"/>
            <c:invertIfNegative val="0"/>
            <c:bubble3D val="0"/>
            <c:spPr>
              <a:solidFill>
                <a:srgbClr val="185FA5"/>
              </a:solidFill>
              <a:effectLst/>
            </c:spPr>
          </c:dPt>
          <c:dPt>
            <c:idx val="2"/>
            <c:invertIfNegative val="0"/>
            <c:bubble3D val="0"/>
            <c:spPr>
              <a:solidFill>
                <a:srgbClr val="C0392B"/>
              </a:solidFill>
              <a:effectLst/>
            </c:spPr>
          </c:dPt>
          <c:dPt>
            <c:idx val="3"/>
            <c:invertIfNegative val="0"/>
            <c:bubble3D val="0"/>
            <c:spPr>
              <a:solidFill>
                <a:srgbClr val="185FA5"/>
              </a:solidFill>
              <a:effectLst/>
            </c:spPr>
          </c:dPt>
          <c:cat>
            <c:multiLvlStrRef>
              <c:f>Sheet1!$A$2:$A$5</c:f>
              <c:multiLvlStrCache>
                <c:ptCount val="4"/>
                <c:lvl>
                  <c:pt idx="0">
                    <c:v>Value</c:v>
                  </c:pt>
                  <c:pt idx="1">
                    <c:v>Economy</c:v>
                  </c:pt>
                  <c:pt idx="2">
                    <c:v>Mid-Market</c:v>
                  </c:pt>
                  <c:pt idx="3">
                    <c:v>Premium</c:v>
                  </c:pt>
                </c:lvl>
              </c:multiLvlStrCache>
            </c:multiLvlStrRef>
          </c:cat>
          <c:val>
            <c:numRef>
              <c:f>Sheet1!$B$2:$B$5</c:f>
              <c:numCache>
                <c:formatCode>General</c:formatCode>
                <c:ptCount val="4"/>
                <c:pt idx="0">
                  <c:v>15</c:v>
                </c:pt>
                <c:pt idx="1">
                  <c:v>13</c:v>
                </c:pt>
                <c:pt idx="2">
                  <c:v>42</c:v>
                </c:pt>
                <c:pt idx="3">
                  <c:v>38</c:v>
                </c:pt>
              </c:numCache>
            </c:numRef>
          </c:val>
        </c:ser>
        <c:dLbls>
          <c:numFmt formatCode="#,##0" sourceLinked="0"/>
          <c:txPr>
            <a:bodyPr/>
            <a:lstStyle/>
            <a:p>
              <a:pPr>
                <a:defRPr b="1" i="0" strike="noStrike" sz="12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Listed vs Unlisted: Revenue &amp; Stores Split (%)</a:t>
            </a:r>
          </a:p>
        </c:rich>
      </c:tx>
      <c:layout/>
      <c:overlay val="0"/>
    </c:title>
    <c:autoTitleDeleted val="0"/>
    <c:plotArea>
      <c:layout/>
      <c:barChart>
        <c:barDir val="col"/>
        <c:grouping val="stacked"/>
        <c:varyColors val="0"/>
        <c:ser>
          <c:idx val="0"/>
          <c:order val="0"/>
          <c:tx>
            <c:strRef>
              <c:f>Sheet1!$B$1</c:f>
              <c:strCache>
                <c:ptCount val="1"/>
                <c:pt idx="0">
                  <c:v>Listed %</c:v>
                </c:pt>
              </c:strCache>
            </c:strRef>
          </c:tx>
          <c:spPr>
            <a:solidFill>
              <a:srgbClr val="1A2B4A"/>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Value Stores</c:v>
                  </c:pt>
                  <c:pt idx="1">
                    <c:v>All Stores</c:v>
                  </c:pt>
                  <c:pt idx="2">
                    <c:v>Value Revenue</c:v>
                  </c:pt>
                  <c:pt idx="3">
                    <c:v>All Revenue</c:v>
                  </c:pt>
                </c:lvl>
              </c:multiLvlStrCache>
            </c:multiLvlStrRef>
          </c:cat>
          <c:val>
            <c:numRef>
              <c:f>Sheet1!$B$2:$B$5</c:f>
              <c:numCache>
                <c:formatCode>General</c:formatCode>
                <c:ptCount val="4"/>
                <c:pt idx="0">
                  <c:v>83</c:v>
                </c:pt>
                <c:pt idx="1">
                  <c:v>74</c:v>
                </c:pt>
                <c:pt idx="2">
                  <c:v>75</c:v>
                </c:pt>
                <c:pt idx="3">
                  <c:v>86</c:v>
                </c:pt>
              </c:numCache>
            </c:numRef>
          </c:val>
        </c:ser>
        <c:ser>
          <c:idx val="1"/>
          <c:order val="1"/>
          <c:tx>
            <c:strRef>
              <c:f>Sheet1!$C$1</c:f>
              <c:strCache>
                <c:ptCount val="1"/>
                <c:pt idx="0">
                  <c:v>Unlisted %</c:v>
                </c:pt>
              </c:strCache>
            </c:strRef>
          </c:tx>
          <c:spPr>
            <a:solidFill>
              <a:srgbClr val="ECF0F1"/>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Value Stores</c:v>
                  </c:pt>
                  <c:pt idx="1">
                    <c:v>All Stores</c:v>
                  </c:pt>
                  <c:pt idx="2">
                    <c:v>Value Revenue</c:v>
                  </c:pt>
                  <c:pt idx="3">
                    <c:v>All Revenue</c:v>
                  </c:pt>
                </c:lvl>
              </c:multiLvlStrCache>
            </c:multiLvlStrRef>
          </c:cat>
          <c:val>
            <c:numRef>
              <c:f>Sheet1!$C$2:$C$5</c:f>
              <c:numCache>
                <c:formatCode>General</c:formatCode>
                <c:ptCount val="4"/>
                <c:pt idx="0">
                  <c:v>17</c:v>
                </c:pt>
                <c:pt idx="1">
                  <c:v>26</c:v>
                </c:pt>
                <c:pt idx="2">
                  <c:v>25</c:v>
                </c:pt>
                <c:pt idx="3">
                  <c:v>14</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Wallet %</c:v>
                </c:pt>
              </c:strCache>
            </c:strRef>
          </c:tx>
          <c:spPr>
            <a:solidFill>
              <a:srgbClr val="00A896"/>
            </a:solidFill>
            <a:effectLst/>
          </c:spPr>
          <c:invertIfNegative val="0"/>
          <c:dLbls>
            <c:numFmt formatCode="#,##0" sourceLinked="0"/>
            <c:txPr>
              <a:bodyPr/>
              <a:lstStyle/>
              <a:p>
                <a:pPr>
                  <a:defRPr b="0" i="0" strike="noStrike" sz="950" u="none">
                    <a:solidFill>
                      <a:srgbClr val="1A2B4A"/>
                    </a:solidFill>
                    <a:latin typeface="Arial"/>
                  </a:defRPr>
                </a:pPr>
              </a:p>
            </c:txPr>
            <c:showLegendKey val="0"/>
            <c:showVal val="1"/>
            <c:showCatName val="0"/>
            <c:showSerName val="0"/>
            <c:showPercent val="0"/>
            <c:showBubbleSize val="0"/>
            <c:showLeaderLines val="0"/>
          </c:dLbls>
          <c:cat>
            <c:multiLvlStrRef>
              <c:f>Sheet1!$A$2:$A$6</c:f>
              <c:multiLvlStrCache>
                <c:ptCount val="5"/>
                <c:lvl>
                  <c:pt idx="0">
                    <c:v>Metro</c:v>
                  </c:pt>
                  <c:pt idx="1">
                    <c:v>T1</c:v>
                  </c:pt>
                  <c:pt idx="2">
                    <c:v>T2</c:v>
                  </c:pt>
                  <c:pt idx="3">
                    <c:v>T3</c:v>
                  </c:pt>
                  <c:pt idx="4">
                    <c:v>Rural</c:v>
                  </c:pt>
                </c:lvl>
              </c:multiLvlStrCache>
            </c:multiLvlStrRef>
          </c:cat>
          <c:val>
            <c:numRef>
              <c:f>Sheet1!$B$2:$B$6</c:f>
              <c:numCache>
                <c:formatCode>General</c:formatCode>
                <c:ptCount val="5"/>
                <c:pt idx="0">
                  <c:v>15</c:v>
                </c:pt>
                <c:pt idx="1">
                  <c:v>10</c:v>
                </c:pt>
                <c:pt idx="2">
                  <c:v>17</c:v>
                </c:pt>
                <c:pt idx="3">
                  <c:v>24</c:v>
                </c:pt>
                <c:pt idx="4">
                  <c:v>11</c:v>
                </c:pt>
              </c:numCache>
            </c:numRef>
          </c:val>
        </c:ser>
        <c:ser>
          <c:idx val="1"/>
          <c:order val="1"/>
          <c:tx>
            <c:strRef>
              <c:f>Sheet1!$C$1</c:f>
              <c:strCache>
                <c:ptCount val="1"/>
                <c:pt idx="0">
                  <c:v>Stores %</c:v>
                </c:pt>
              </c:strCache>
            </c:strRef>
          </c:tx>
          <c:spPr>
            <a:solidFill>
              <a:srgbClr val="1A2B4A"/>
            </a:solidFill>
            <a:effectLst/>
          </c:spPr>
          <c:invertIfNegative val="0"/>
          <c:dLbls>
            <c:numFmt formatCode="#,##0" sourceLinked="0"/>
            <c:txPr>
              <a:bodyPr/>
              <a:lstStyle/>
              <a:p>
                <a:pPr>
                  <a:defRPr b="0" i="0" strike="noStrike" sz="950" u="none">
                    <a:solidFill>
                      <a:srgbClr val="1A2B4A"/>
                    </a:solidFill>
                    <a:latin typeface="Arial"/>
                  </a:defRPr>
                </a:pPr>
              </a:p>
            </c:txPr>
            <c:showLegendKey val="0"/>
            <c:showVal val="1"/>
            <c:showCatName val="0"/>
            <c:showSerName val="0"/>
            <c:showPercent val="0"/>
            <c:showBubbleSize val="0"/>
            <c:showLeaderLines val="0"/>
          </c:dLbls>
          <c:cat>
            <c:multiLvlStrRef>
              <c:f>Sheet1!$A$2:$A$6</c:f>
              <c:multiLvlStrCache>
                <c:ptCount val="5"/>
                <c:lvl>
                  <c:pt idx="0">
                    <c:v>Metro</c:v>
                  </c:pt>
                  <c:pt idx="1">
                    <c:v>T1</c:v>
                  </c:pt>
                  <c:pt idx="2">
                    <c:v>T2</c:v>
                  </c:pt>
                  <c:pt idx="3">
                    <c:v>T3</c:v>
                  </c:pt>
                  <c:pt idx="4">
                    <c:v>Rural</c:v>
                  </c:pt>
                </c:lvl>
              </c:multiLvlStrCache>
            </c:multiLvlStrRef>
          </c:cat>
          <c:val>
            <c:numRef>
              <c:f>Sheet1!$C$2:$C$6</c:f>
              <c:numCache>
                <c:formatCode>General</c:formatCode>
                <c:ptCount val="5"/>
                <c:pt idx="0">
                  <c:v>32</c:v>
                </c:pt>
                <c:pt idx="1">
                  <c:v>20</c:v>
                </c:pt>
                <c:pt idx="2">
                  <c:v>21</c:v>
                </c:pt>
                <c:pt idx="3">
                  <c:v>16</c:v>
                </c:pt>
                <c:pt idx="4">
                  <c:v>9</c:v>
                </c:pt>
              </c:numCache>
            </c:numRef>
          </c:val>
        </c:ser>
        <c:ser>
          <c:idx val="2"/>
          <c:order val="2"/>
          <c:tx>
            <c:strRef>
              <c:f>Sheet1!$D$1</c:f>
              <c:strCache>
                <c:ptCount val="1"/>
                <c:pt idx="0">
                  <c:v>Revenue via EBO %</c:v>
                </c:pt>
              </c:strCache>
            </c:strRef>
          </c:tx>
          <c:spPr>
            <a:solidFill>
              <a:srgbClr val="185FA5"/>
            </a:solidFill>
            <a:effectLst/>
          </c:spPr>
          <c:invertIfNegative val="0"/>
          <c:dLbls>
            <c:numFmt formatCode="#,##0" sourceLinked="0"/>
            <c:txPr>
              <a:bodyPr/>
              <a:lstStyle/>
              <a:p>
                <a:pPr>
                  <a:defRPr b="0" i="0" strike="noStrike" sz="950" u="none">
                    <a:solidFill>
                      <a:srgbClr val="1A2B4A"/>
                    </a:solidFill>
                    <a:latin typeface="Arial"/>
                  </a:defRPr>
                </a:pPr>
              </a:p>
            </c:txPr>
            <c:showLegendKey val="0"/>
            <c:showVal val="1"/>
            <c:showCatName val="0"/>
            <c:showSerName val="0"/>
            <c:showPercent val="0"/>
            <c:showBubbleSize val="0"/>
            <c:showLeaderLines val="0"/>
          </c:dLbls>
          <c:cat>
            <c:multiLvlStrRef>
              <c:f>Sheet1!$A$2:$A$6</c:f>
              <c:multiLvlStrCache>
                <c:ptCount val="5"/>
                <c:lvl>
                  <c:pt idx="0">
                    <c:v>Metro</c:v>
                  </c:pt>
                  <c:pt idx="1">
                    <c:v>T1</c:v>
                  </c:pt>
                  <c:pt idx="2">
                    <c:v>T2</c:v>
                  </c:pt>
                  <c:pt idx="3">
                    <c:v>T3</c:v>
                  </c:pt>
                  <c:pt idx="4">
                    <c:v>Rural</c:v>
                  </c:pt>
                </c:lvl>
              </c:multiLvlStrCache>
            </c:multiLvlStrRef>
          </c:cat>
          <c:val>
            <c:numRef>
              <c:f>Sheet1!$D$2:$D$6</c:f>
              <c:numCache>
                <c:formatCode>General</c:formatCode>
                <c:ptCount val="5"/>
                <c:pt idx="0">
                  <c:v>32</c:v>
                </c:pt>
                <c:pt idx="1">
                  <c:v>19</c:v>
                </c:pt>
                <c:pt idx="2">
                  <c:v>22</c:v>
                </c:pt>
                <c:pt idx="3">
                  <c:v>18</c:v>
                </c:pt>
                <c:pt idx="4">
                  <c:v>35</c:v>
                </c:pt>
              </c:numCache>
            </c:numRef>
          </c:val>
        </c:ser>
        <c:dLbls>
          <c:numFmt formatCode="#,##0" sourceLinked="0"/>
          <c:txPr>
            <a:bodyPr/>
            <a:lstStyle/>
            <a:p>
              <a:pPr>
                <a:defRPr b="0" i="0" strike="noStrike" sz="95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Stores Per ₹1,000 Cr Wallet  vs  Wallet Per Capita (₹)</a:t>
            </a:r>
          </a:p>
        </c:rich>
      </c:tx>
      <c:layout/>
      <c:overlay val="0"/>
    </c:title>
    <c:autoTitleDeleted val="0"/>
    <c:plotArea>
      <c:layout/>
      <c:scatterChart>
        <c:scatterStyle val="lineMarker"/>
        <c:varyColors val="0"/>
        <c:ser>
          <c:idx val="0"/>
          <c:order val="0"/>
          <c:tx>
            <c:strRef>
              <c:f>Sheet1!$B$1</c:f>
              <c:strCache>
                <c:ptCount val="1"/>
                <c:pt idx="0">
                  <c:v>T1</c:v>
                </c:pt>
              </c:strCache>
            </c:strRef>
          </c:tx>
          <c:spPr>
            <a:solidFill>
              <a:srgbClr val="1A2B4A"/>
            </a:solidFill>
            <a:ln w="25400" cap="flat">
              <a:solidFill>
                <a:srgbClr val="1A2B4A"/>
              </a:solidFill>
              <a:prstDash val="solid"/>
              <a:round/>
            </a:ln>
            <a:effectLst/>
          </c:spPr>
          <c:marker>
            <c:symbol val="circle"/>
            <c:size val="6"/>
            <c:spPr>
              <a:solidFill>
                <a:srgbClr val="1A2B4A"/>
              </a:solidFill>
              <a:ln w="9525" cap="flat">
                <a:solidFill>
                  <a:srgbClr val="1A2B4A"/>
                </a:solidFill>
                <a:prstDash val="solid"/>
                <a:round/>
              </a:ln>
              <a:effectLst/>
            </c:spPr>
          </c:marker>
          <c:xVal>
            <c:numRef>
              <c:f>Sheet1!$A$2:$A$2</c:f>
              <c:numCache>
                <c:formatCode>General</c:formatCode>
                <c:ptCount val="1"/>
                <c:pt idx="0">
                  <c:v>45</c:v>
                </c:pt>
              </c:numCache>
            </c:numRef>
          </c:xVal>
          <c:yVal>
            <c:numRef>
              <c:f>Sheet1!$B$2:$B$2</c:f>
              <c:numCache>
                <c:formatCode>General</c:formatCode>
                <c:ptCount val="1"/>
                <c:pt idx="0">
                  <c:v>28</c:v>
                </c:pt>
              </c:numCache>
            </c:numRef>
          </c:yVal>
          <c:smooth val="0"/>
        </c:ser>
        <c:ser>
          <c:idx val="1"/>
          <c:order val="1"/>
          <c:tx>
            <c:strRef>
              <c:f>Sheet1!$C$1</c:f>
              <c:strCache>
                <c:ptCount val="1"/>
                <c:pt idx="0">
                  <c:v>T2</c:v>
                </c:pt>
              </c:strCache>
            </c:strRef>
          </c:tx>
          <c:spPr>
            <a:solidFill>
              <a:srgbClr val="185FA5"/>
            </a:solidFill>
            <a:ln w="25400" cap="flat">
              <a:solidFill>
                <a:srgbClr val="185FA5"/>
              </a:solidFill>
              <a:prstDash val="solid"/>
              <a:round/>
            </a:ln>
            <a:effectLst/>
          </c:spPr>
          <c:marker>
            <c:symbol val="circle"/>
            <c:size val="6"/>
            <c:spPr>
              <a:solidFill>
                <a:srgbClr val="185FA5"/>
              </a:solidFill>
              <a:ln w="9525" cap="flat">
                <a:solidFill>
                  <a:srgbClr val="185FA5"/>
                </a:solidFill>
                <a:prstDash val="solid"/>
                <a:round/>
              </a:ln>
              <a:effectLst/>
            </c:spPr>
          </c:marker>
          <c:xVal>
            <c:numRef>
              <c:f>Sheet1!$A$2:$A$2</c:f>
              <c:numCache>
                <c:formatCode>General</c:formatCode>
                <c:ptCount val="1"/>
                <c:pt idx="0">
                  <c:v>45</c:v>
                </c:pt>
              </c:numCache>
            </c:numRef>
          </c:xVal>
          <c:yVal>
            <c:numRef>
              <c:f>Sheet1!$C$2:$C$2</c:f>
              <c:numCache>
                <c:formatCode>General</c:formatCode>
                <c:ptCount val="1"/>
                <c:pt idx="0">
                  <c:v>25</c:v>
                </c:pt>
              </c:numCache>
            </c:numRef>
          </c:yVal>
          <c:smooth val="0"/>
        </c:ser>
        <c:ser>
          <c:idx val="2"/>
          <c:order val="2"/>
          <c:tx>
            <c:strRef>
              <c:f>Sheet1!$D$1</c:f>
              <c:strCache>
                <c:ptCount val="1"/>
                <c:pt idx="0">
                  <c:v>T3</c:v>
                </c:pt>
              </c:strCache>
            </c:strRef>
          </c:tx>
          <c:spPr>
            <a:solidFill>
              <a:srgbClr val="00A896"/>
            </a:solidFill>
            <a:ln w="25400" cap="flat">
              <a:solidFill>
                <a:srgbClr val="00A896"/>
              </a:solidFill>
              <a:prstDash val="solid"/>
              <a:round/>
            </a:ln>
            <a:effectLst/>
          </c:spPr>
          <c:marker>
            <c:symbol val="circle"/>
            <c:size val="6"/>
            <c:spPr>
              <a:solidFill>
                <a:srgbClr val="00A896"/>
              </a:solidFill>
              <a:ln w="9525" cap="flat">
                <a:solidFill>
                  <a:srgbClr val="00A896"/>
                </a:solidFill>
                <a:prstDash val="solid"/>
                <a:round/>
              </a:ln>
              <a:effectLst/>
            </c:spPr>
          </c:marker>
          <c:xVal>
            <c:numRef>
              <c:f>Sheet1!$A$2:$A$2</c:f>
              <c:numCache>
                <c:formatCode>General</c:formatCode>
                <c:ptCount val="1"/>
                <c:pt idx="0">
                  <c:v>45</c:v>
                </c:pt>
              </c:numCache>
            </c:numRef>
          </c:xVal>
          <c:yVal>
            <c:numRef>
              <c:f>Sheet1!$D$2:$D$2</c:f>
              <c:numCache>
                <c:formatCode>General</c:formatCode>
                <c:ptCount val="1"/>
                <c:pt idx="0">
                  <c:v>11</c:v>
                </c:pt>
              </c:numCache>
            </c:numRef>
          </c:yVal>
          <c:smooth val="0"/>
        </c:ser>
        <c:ser>
          <c:idx val="3"/>
          <c:order val="3"/>
          <c:tx>
            <c:strRef>
              <c:f>Sheet1!$E$1</c:f>
              <c:strCache>
                <c:ptCount val="1"/>
                <c:pt idx="0">
                  <c:v>Rural</c:v>
                </c:pt>
              </c:strCache>
            </c:strRef>
          </c:tx>
          <c:spPr>
            <a:solidFill>
              <a:srgbClr val="2ECC71"/>
            </a:solidFill>
            <a:ln w="25400" cap="flat">
              <a:solidFill>
                <a:srgbClr val="2ECC71"/>
              </a:solidFill>
              <a:prstDash val="solid"/>
              <a:round/>
            </a:ln>
            <a:effectLst/>
          </c:spPr>
          <c:marker>
            <c:symbol val="circle"/>
            <c:size val="6"/>
            <c:spPr>
              <a:solidFill>
                <a:srgbClr val="2ECC71"/>
              </a:solidFill>
              <a:ln w="9525" cap="flat">
                <a:solidFill>
                  <a:srgbClr val="2ECC71"/>
                </a:solidFill>
                <a:prstDash val="solid"/>
                <a:round/>
              </a:ln>
              <a:effectLst/>
            </c:spPr>
          </c:marker>
          <c:xVal>
            <c:numRef>
              <c:f>Sheet1!$A$2:$A$2</c:f>
              <c:numCache>
                <c:formatCode>General</c:formatCode>
                <c:ptCount val="1"/>
                <c:pt idx="0">
                  <c:v>45</c:v>
                </c:pt>
              </c:numCache>
            </c:numRef>
          </c:xVal>
          <c:yVal>
            <c:numRef>
              <c:f>Sheet1!$E$2:$E$2</c:f>
              <c:numCache>
                <c:formatCode>General</c:formatCode>
                <c:ptCount val="1"/>
                <c:pt idx="0">
                  <c:v>8</c:v>
                </c:pt>
              </c:numCache>
            </c:numRef>
          </c:yVal>
          <c:smooth val="0"/>
        </c:ser>
        <c:ser>
          <c:idx val="4"/>
          <c:order val="4"/>
          <c:tx>
            <c:strRef>
              <c:f>Sheet1!$F$1</c:f>
              <c:strCache>
                <c:ptCount val="1"/>
                <c:pt idx="0">
                  <c:v>India Avg</c:v>
                </c:pt>
              </c:strCache>
            </c:strRef>
          </c:tx>
          <c:spPr>
            <a:solidFill>
              <a:srgbClr val="95A5A6"/>
            </a:solidFill>
            <a:ln w="25400" cap="flat">
              <a:solidFill>
                <a:srgbClr val="95A5A6"/>
              </a:solidFill>
              <a:prstDash val="solid"/>
              <a:round/>
            </a:ln>
            <a:effectLst/>
          </c:spPr>
          <c:marker>
            <c:symbol val="circle"/>
            <c:size val="6"/>
            <c:spPr>
              <a:solidFill>
                <a:srgbClr val="95A5A6"/>
              </a:solidFill>
              <a:ln w="9525" cap="flat">
                <a:solidFill>
                  <a:srgbClr val="95A5A6"/>
                </a:solidFill>
                <a:prstDash val="solid"/>
                <a:round/>
              </a:ln>
              <a:effectLst/>
            </c:spPr>
          </c:marker>
          <c:xVal>
            <c:numRef>
              <c:f>Sheet1!$A$2:$A$2</c:f>
              <c:numCache>
                <c:formatCode>General</c:formatCode>
                <c:ptCount val="1"/>
                <c:pt idx="0">
                  <c:v>45</c:v>
                </c:pt>
              </c:numCache>
            </c:numRef>
          </c:xVal>
          <c:yVal>
            <c:numRef>
              <c:f>Sheet1!$F$2:$F$2</c:f>
              <c:numCache>
                <c:formatCode>General</c:formatCode>
                <c:ptCount val="1"/>
                <c:pt idx="0">
                  <c:v>40</c:v>
                </c:pt>
              </c:numCache>
            </c:numRef>
          </c:yVal>
          <c:smooth val="0"/>
        </c:ser>
        <c:dLbls>
          <c:numFmt formatCode="General" sourceLinked="0"/>
          <c:txPr>
            <a:bodyPr/>
            <a:lstStyle/>
            <a:p>
              <a:pPr>
                <a:defRPr b="0" i="0" strike="noStrike" sz="900" u="none">
                  <a:solidFill>
                    <a:srgbClr val="1A2B4A"/>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midCat"/>
      </c:valAx>
      <c:spPr>
        <a:noFill/>
        <a:ln>
          <a:noFill/>
        </a:ln>
        <a:effectLst/>
      </c:spPr>
    </c:plotArea>
    <c:legend>
      <c:legendPos val="r"/>
      <c:overlay val="0"/>
      <c:txPr>
        <a:bodyPr/>
        <a:lstStyle/>
        <a:p>
          <a:pPr>
            <a:defRPr sz="900">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Organised vs Unorganised Wallet Share (%) by Tier</a:t>
            </a:r>
          </a:p>
        </c:rich>
      </c:tx>
      <c:layout/>
      <c:overlay val="0"/>
    </c:title>
    <c:autoTitleDeleted val="0"/>
    <c:plotArea>
      <c:layout/>
      <c:barChart>
        <c:barDir val="col"/>
        <c:grouping val="stacked"/>
        <c:varyColors val="0"/>
        <c:ser>
          <c:idx val="0"/>
          <c:order val="0"/>
          <c:tx>
            <c:strRef>
              <c:f>Sheet1!$B$1</c:f>
              <c:strCache>
                <c:ptCount val="1"/>
                <c:pt idx="0">
                  <c:v>Brand EBOs</c:v>
                </c:pt>
              </c:strCache>
            </c:strRef>
          </c:tx>
          <c:spPr>
            <a:solidFill>
              <a:srgbClr val="1A2B4A"/>
            </a:solidFill>
            <a:effectLst/>
          </c:spPr>
          <c:invertIfNegative val="0"/>
          <c:dLbls>
            <c:numFmt formatCode="#,##0" sourceLinked="0"/>
            <c:txPr>
              <a:bodyPr/>
              <a:lstStyle/>
              <a:p>
                <a:pPr>
                  <a:defRPr b="0" i="0" strike="noStrike" sz="85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Metro</c:v>
                  </c:pt>
                  <c:pt idx="1">
                    <c:v>T1</c:v>
                  </c:pt>
                  <c:pt idx="2">
                    <c:v>T2</c:v>
                  </c:pt>
                  <c:pt idx="3">
                    <c:v>T3</c:v>
                  </c:pt>
                  <c:pt idx="4">
                    <c:v>Rural</c:v>
                  </c:pt>
                  <c:pt idx="5">
                    <c:v>India</c:v>
                  </c:pt>
                </c:lvl>
              </c:multiLvlStrCache>
            </c:multiLvlStrRef>
          </c:cat>
          <c:val>
            <c:numRef>
              <c:f>Sheet1!$B$2:$B$7</c:f>
              <c:numCache>
                <c:formatCode>General</c:formatCode>
                <c:ptCount val="6"/>
                <c:pt idx="0">
                  <c:v>32</c:v>
                </c:pt>
                <c:pt idx="1">
                  <c:v>29</c:v>
                </c:pt>
                <c:pt idx="2">
                  <c:v>19</c:v>
                </c:pt>
                <c:pt idx="3">
                  <c:v>11</c:v>
                </c:pt>
                <c:pt idx="4">
                  <c:v>4</c:v>
                </c:pt>
                <c:pt idx="5">
                  <c:v>15</c:v>
                </c:pt>
              </c:numCache>
            </c:numRef>
          </c:val>
        </c:ser>
        <c:ser>
          <c:idx val="1"/>
          <c:order val="1"/>
          <c:tx>
            <c:strRef>
              <c:f>Sheet1!$C$1</c:f>
              <c:strCache>
                <c:ptCount val="1"/>
                <c:pt idx="0">
                  <c:v>Ecommerce + MBO</c:v>
                </c:pt>
              </c:strCache>
            </c:strRef>
          </c:tx>
          <c:spPr>
            <a:solidFill>
              <a:srgbClr val="185FA5"/>
            </a:solidFill>
            <a:effectLst/>
          </c:spPr>
          <c:invertIfNegative val="0"/>
          <c:dLbls>
            <c:numFmt formatCode="#,##0" sourceLinked="0"/>
            <c:txPr>
              <a:bodyPr/>
              <a:lstStyle/>
              <a:p>
                <a:pPr>
                  <a:defRPr b="0" i="0" strike="noStrike" sz="85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Metro</c:v>
                  </c:pt>
                  <c:pt idx="1">
                    <c:v>T1</c:v>
                  </c:pt>
                  <c:pt idx="2">
                    <c:v>T2</c:v>
                  </c:pt>
                  <c:pt idx="3">
                    <c:v>T3</c:v>
                  </c:pt>
                  <c:pt idx="4">
                    <c:v>Rural</c:v>
                  </c:pt>
                  <c:pt idx="5">
                    <c:v>India</c:v>
                  </c:pt>
                </c:lvl>
              </c:multiLvlStrCache>
            </c:multiLvlStrRef>
          </c:cat>
          <c:val>
            <c:numRef>
              <c:f>Sheet1!$C$2:$C$7</c:f>
              <c:numCache>
                <c:formatCode>General</c:formatCode>
                <c:ptCount val="6"/>
                <c:pt idx="0">
                  <c:v>13</c:v>
                </c:pt>
                <c:pt idx="1">
                  <c:v>12</c:v>
                </c:pt>
                <c:pt idx="2">
                  <c:v>4</c:v>
                </c:pt>
                <c:pt idx="3">
                  <c:v>4</c:v>
                </c:pt>
                <c:pt idx="4">
                  <c:v>0</c:v>
                </c:pt>
                <c:pt idx="5">
                  <c:v>5</c:v>
                </c:pt>
              </c:numCache>
            </c:numRef>
          </c:val>
        </c:ser>
        <c:ser>
          <c:idx val="2"/>
          <c:order val="2"/>
          <c:tx>
            <c:strRef>
              <c:f>Sheet1!$D$1</c:f>
              <c:strCache>
                <c:ptCount val="1"/>
                <c:pt idx="0">
                  <c:v>Unorganised</c:v>
                </c:pt>
              </c:strCache>
            </c:strRef>
          </c:tx>
          <c:spPr>
            <a:solidFill>
              <a:srgbClr val="ECF0F1"/>
            </a:solidFill>
            <a:effectLst/>
          </c:spPr>
          <c:invertIfNegative val="0"/>
          <c:dLbls>
            <c:numFmt formatCode="#,##0" sourceLinked="0"/>
            <c:txPr>
              <a:bodyPr/>
              <a:lstStyle/>
              <a:p>
                <a:pPr>
                  <a:defRPr b="0" i="0" strike="noStrike" sz="85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Metro</c:v>
                  </c:pt>
                  <c:pt idx="1">
                    <c:v>T1</c:v>
                  </c:pt>
                  <c:pt idx="2">
                    <c:v>T2</c:v>
                  </c:pt>
                  <c:pt idx="3">
                    <c:v>T3</c:v>
                  </c:pt>
                  <c:pt idx="4">
                    <c:v>Rural</c:v>
                  </c:pt>
                  <c:pt idx="5">
                    <c:v>India</c:v>
                  </c:pt>
                </c:lvl>
              </c:multiLvlStrCache>
            </c:multiLvlStrRef>
          </c:cat>
          <c:val>
            <c:numRef>
              <c:f>Sheet1!$D$2:$D$7</c:f>
              <c:numCache>
                <c:formatCode>General</c:formatCode>
                <c:ptCount val="6"/>
                <c:pt idx="0">
                  <c:v>55</c:v>
                </c:pt>
                <c:pt idx="1">
                  <c:v>59</c:v>
                </c:pt>
                <c:pt idx="2">
                  <c:v>77</c:v>
                </c:pt>
                <c:pt idx="3">
                  <c:v>85</c:v>
                </c:pt>
                <c:pt idx="4">
                  <c:v>96</c:v>
                </c:pt>
                <c:pt idx="5">
                  <c:v>80</c:v>
                </c:pt>
              </c:numCache>
            </c:numRef>
          </c:val>
        </c:ser>
        <c:dLbls>
          <c:numFmt formatCode="#,##0" sourceLinked="0"/>
          <c:txPr>
            <a:bodyPr/>
            <a:lstStyle/>
            <a:p>
              <a:pPr>
                <a:defRPr b="0" i="0" strike="noStrike" sz="85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Pincodes with/without Stores by Spending Size</a:t>
            </a:r>
          </a:p>
        </c:rich>
      </c:tx>
      <c:layout/>
      <c:overlay val="0"/>
    </c:title>
    <c:autoTitleDeleted val="0"/>
    <c:plotArea>
      <c:layout/>
      <c:barChart>
        <c:barDir val="col"/>
        <c:grouping val="stacked"/>
        <c:varyColors val="0"/>
        <c:ser>
          <c:idx val="0"/>
          <c:order val="0"/>
          <c:tx>
            <c:strRef>
              <c:f>Sheet1!$B$1</c:f>
              <c:strCache>
                <c:ptCount val="1"/>
                <c:pt idx="0">
                  <c:v>Pins with Stores</c:v>
                </c:pt>
              </c:strCache>
            </c:strRef>
          </c:tx>
          <c:spPr>
            <a:solidFill>
              <a:srgbClr val="00A896"/>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0–10Cr</c:v>
                  </c:pt>
                  <c:pt idx="1">
                    <c:v>10–30Cr</c:v>
                  </c:pt>
                  <c:pt idx="2">
                    <c:v>30–50Cr</c:v>
                  </c:pt>
                  <c:pt idx="3">
                    <c:v>50–100Cr</c:v>
                  </c:pt>
                  <c:pt idx="4">
                    <c:v>100–300Cr</c:v>
                  </c:pt>
                  <c:pt idx="5">
                    <c:v>300Cr+</c:v>
                  </c:pt>
                </c:lvl>
              </c:multiLvlStrCache>
            </c:multiLvlStrRef>
          </c:cat>
          <c:val>
            <c:numRef>
              <c:f>Sheet1!$B$2:$B$7</c:f>
              <c:numCache>
                <c:formatCode>General</c:formatCode>
                <c:ptCount val="6"/>
                <c:pt idx="0">
                  <c:v>13</c:v>
                </c:pt>
                <c:pt idx="1">
                  <c:v>16</c:v>
                </c:pt>
                <c:pt idx="2">
                  <c:v>21</c:v>
                </c:pt>
                <c:pt idx="3">
                  <c:v>25</c:v>
                </c:pt>
                <c:pt idx="4">
                  <c:v>33</c:v>
                </c:pt>
                <c:pt idx="5">
                  <c:v>41</c:v>
                </c:pt>
              </c:numCache>
            </c:numRef>
          </c:val>
        </c:ser>
        <c:ser>
          <c:idx val="1"/>
          <c:order val="1"/>
          <c:tx>
            <c:strRef>
              <c:f>Sheet1!$C$1</c:f>
              <c:strCache>
                <c:ptCount val="1"/>
                <c:pt idx="0">
                  <c:v>Pins with No Stores</c:v>
                </c:pt>
              </c:strCache>
            </c:strRef>
          </c:tx>
          <c:spPr>
            <a:solidFill>
              <a:srgbClr val="ECF0F1"/>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0–10Cr</c:v>
                  </c:pt>
                  <c:pt idx="1">
                    <c:v>10–30Cr</c:v>
                  </c:pt>
                  <c:pt idx="2">
                    <c:v>30–50Cr</c:v>
                  </c:pt>
                  <c:pt idx="3">
                    <c:v>50–100Cr</c:v>
                  </c:pt>
                  <c:pt idx="4">
                    <c:v>100–300Cr</c:v>
                  </c:pt>
                  <c:pt idx="5">
                    <c:v>300Cr+</c:v>
                  </c:pt>
                </c:lvl>
              </c:multiLvlStrCache>
            </c:multiLvlStrRef>
          </c:cat>
          <c:val>
            <c:numRef>
              <c:f>Sheet1!$C$2:$C$7</c:f>
              <c:numCache>
                <c:formatCode>General</c:formatCode>
                <c:ptCount val="6"/>
                <c:pt idx="0">
                  <c:v>87</c:v>
                </c:pt>
                <c:pt idx="1">
                  <c:v>84</c:v>
                </c:pt>
                <c:pt idx="2">
                  <c:v>79</c:v>
                </c:pt>
                <c:pt idx="3">
                  <c:v>75</c:v>
                </c:pt>
                <c:pt idx="4">
                  <c:v>67</c:v>
                </c:pt>
                <c:pt idx="5">
                  <c:v>59</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Pincodes by Number of Organised Stores Present</a:t>
            </a:r>
          </a:p>
        </c:rich>
      </c:tx>
      <c:layout/>
      <c:overlay val="0"/>
    </c:title>
    <c:autoTitleDeleted val="0"/>
    <c:plotArea>
      <c:layout/>
      <c:barChart>
        <c:barDir val="col"/>
        <c:grouping val="clustered"/>
        <c:varyColors val="0"/>
        <c:ser>
          <c:idx val="0"/>
          <c:order val="0"/>
          <c:tx>
            <c:strRef>
              <c:f>Sheet1!$B$1</c:f>
              <c:strCache>
                <c:ptCount val="1"/>
                <c:pt idx="0">
                  <c:v># Pincodes</c:v>
                </c:pt>
              </c:strCache>
            </c:strRef>
          </c:tx>
          <c:spPr>
            <a:solidFill>
              <a:srgbClr val="00A896"/>
            </a:solidFill>
            <a:effectLst/>
          </c:spPr>
          <c:invertIfNegative val="0"/>
          <c:dLbls>
            <c:numFmt formatCode="#,##0" sourceLinked="0"/>
            <c:txPr>
              <a:bodyPr/>
              <a:lstStyle/>
              <a:p>
                <a:pPr>
                  <a:defRPr b="1" i="0" strike="noStrike" sz="1000" u="none">
                    <a:solidFill>
                      <a:srgbClr val="1A2B4A"/>
                    </a:solidFill>
                    <a:latin typeface="Arial"/>
                  </a:defRPr>
                </a:pPr>
              </a:p>
            </c:txPr>
            <c:showLegendKey val="0"/>
            <c:showVal val="1"/>
            <c:showCatName val="0"/>
            <c:showSerName val="0"/>
            <c:showPercent val="0"/>
            <c:showBubbleSize val="0"/>
            <c:showLeaderLines val="0"/>
          </c:dLbls>
          <c:dPt>
            <c:idx val="0"/>
            <c:invertIfNegative val="0"/>
            <c:bubble3D val="0"/>
            <c:spPr>
              <a:solidFill>
                <a:srgbClr val="00A896"/>
              </a:solidFill>
              <a:effectLst/>
            </c:spPr>
          </c:dPt>
          <c:dPt>
            <c:idx val="1"/>
            <c:invertIfNegative val="0"/>
            <c:bubble3D val="0"/>
            <c:spPr>
              <a:solidFill>
                <a:srgbClr val="185FA5"/>
              </a:solidFill>
              <a:effectLst/>
            </c:spPr>
          </c:dPt>
          <c:dPt>
            <c:idx val="2"/>
            <c:invertIfNegative val="0"/>
            <c:bubble3D val="0"/>
            <c:spPr>
              <a:solidFill>
                <a:srgbClr val="1A2B4A"/>
              </a:solidFill>
              <a:effectLst/>
            </c:spPr>
          </c:dPt>
          <c:dPt>
            <c:idx val="3"/>
            <c:invertIfNegative val="0"/>
            <c:bubble3D val="0"/>
            <c:spPr>
              <a:solidFill>
                <a:srgbClr val="3D566E"/>
              </a:solidFill>
              <a:effectLst/>
            </c:spPr>
          </c:dPt>
          <c:dPt>
            <c:idx val="4"/>
            <c:invertIfNegative val="0"/>
            <c:bubble3D val="0"/>
            <c:spPr>
              <a:solidFill>
                <a:srgbClr val="2C3E50"/>
              </a:solidFill>
              <a:effectLst/>
            </c:spPr>
          </c:dPt>
          <c:cat>
            <c:multiLvlStrRef>
              <c:f>Sheet1!$A$2:$A$6</c:f>
              <c:multiLvlStrCache>
                <c:ptCount val="5"/>
                <c:lvl>
                  <c:pt idx="0">
                    <c:v>Moat
(1 store)</c:v>
                  </c:pt>
                  <c:pt idx="1">
                    <c:v>Light
(2–4)</c:v>
                  </c:pt>
                  <c:pt idx="2">
                    <c:v>Comp
(5–9)</c:v>
                  </c:pt>
                  <c:pt idx="3">
                    <c:v>Crowd
(10–19)</c:v>
                  </c:pt>
                  <c:pt idx="4">
                    <c:v>Sat
(20+)</c:v>
                  </c:pt>
                </c:lvl>
              </c:multiLvlStrCache>
            </c:multiLvlStrRef>
          </c:cat>
          <c:val>
            <c:numRef>
              <c:f>Sheet1!$B$2:$B$6</c:f>
              <c:numCache>
                <c:formatCode>General</c:formatCode>
                <c:ptCount val="5"/>
                <c:pt idx="0">
                  <c:v>1325</c:v>
                </c:pt>
                <c:pt idx="1">
                  <c:v>1165</c:v>
                </c:pt>
                <c:pt idx="2">
                  <c:v>574</c:v>
                </c:pt>
                <c:pt idx="3">
                  <c:v>444</c:v>
                </c:pt>
                <c:pt idx="4">
                  <c:v>421</c:v>
                </c:pt>
              </c:numCache>
            </c:numRef>
          </c:val>
        </c:ser>
        <c:dLbls>
          <c:numFmt formatCode="#,##0" sourceLinked="0"/>
          <c:txPr>
            <a:bodyPr/>
            <a:lstStyle/>
            <a:p>
              <a:pPr>
                <a:defRPr b="1" i="0" strike="noStrike" sz="10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Competitive Landscape by Tier (%)</a:t>
            </a:r>
          </a:p>
        </c:rich>
      </c:tx>
      <c:layout/>
      <c:overlay val="0"/>
    </c:title>
    <c:autoTitleDeleted val="0"/>
    <c:plotArea>
      <c:layout/>
      <c:barChart>
        <c:barDir val="col"/>
        <c:grouping val="stacked"/>
        <c:varyColors val="0"/>
        <c:ser>
          <c:idx val="0"/>
          <c:order val="0"/>
          <c:tx>
            <c:strRef>
              <c:f>Sheet1!$B$1</c:f>
              <c:strCache>
                <c:ptCount val="1"/>
                <c:pt idx="0">
                  <c:v>Moat (1)</c:v>
                </c:pt>
              </c:strCache>
            </c:strRef>
          </c:tx>
          <c:spPr>
            <a:solidFill>
              <a:srgbClr val="00A896"/>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Metro</c:v>
                  </c:pt>
                  <c:pt idx="1">
                    <c:v>T1</c:v>
                  </c:pt>
                  <c:pt idx="2">
                    <c:v>T2</c:v>
                  </c:pt>
                  <c:pt idx="3">
                    <c:v>T3</c:v>
                  </c:pt>
                  <c:pt idx="4">
                    <c:v>Other</c:v>
                  </c:pt>
                </c:lvl>
              </c:multiLvlStrCache>
            </c:multiLvlStrRef>
          </c:cat>
          <c:val>
            <c:numRef>
              <c:f>Sheet1!$B$2:$B$6</c:f>
              <c:numCache>
                <c:formatCode>General</c:formatCode>
                <c:ptCount val="5"/>
                <c:pt idx="0">
                  <c:v>11</c:v>
                </c:pt>
                <c:pt idx="1">
                  <c:v>17</c:v>
                </c:pt>
                <c:pt idx="2">
                  <c:v>21</c:v>
                </c:pt>
                <c:pt idx="3">
                  <c:v>21</c:v>
                </c:pt>
                <c:pt idx="4">
                  <c:v>39</c:v>
                </c:pt>
              </c:numCache>
            </c:numRef>
          </c:val>
        </c:ser>
        <c:ser>
          <c:idx val="1"/>
          <c:order val="1"/>
          <c:tx>
            <c:strRef>
              <c:f>Sheet1!$C$1</c:f>
              <c:strCache>
                <c:ptCount val="1"/>
                <c:pt idx="0">
                  <c:v>Light (2–4)</c:v>
                </c:pt>
              </c:strCache>
            </c:strRef>
          </c:tx>
          <c:spPr>
            <a:solidFill>
              <a:srgbClr val="185FA5"/>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Metro</c:v>
                  </c:pt>
                  <c:pt idx="1">
                    <c:v>T1</c:v>
                  </c:pt>
                  <c:pt idx="2">
                    <c:v>T2</c:v>
                  </c:pt>
                  <c:pt idx="3">
                    <c:v>T3</c:v>
                  </c:pt>
                  <c:pt idx="4">
                    <c:v>Other</c:v>
                  </c:pt>
                </c:lvl>
              </c:multiLvlStrCache>
            </c:multiLvlStrRef>
          </c:cat>
          <c:val>
            <c:numRef>
              <c:f>Sheet1!$C$2:$C$6</c:f>
              <c:numCache>
                <c:formatCode>General</c:formatCode>
                <c:ptCount val="5"/>
                <c:pt idx="0">
                  <c:v>23</c:v>
                </c:pt>
                <c:pt idx="1">
                  <c:v>12</c:v>
                </c:pt>
                <c:pt idx="2">
                  <c:v>14</c:v>
                </c:pt>
                <c:pt idx="3">
                  <c:v>21</c:v>
                </c:pt>
                <c:pt idx="4">
                  <c:v>33</c:v>
                </c:pt>
              </c:numCache>
            </c:numRef>
          </c:val>
        </c:ser>
        <c:ser>
          <c:idx val="2"/>
          <c:order val="2"/>
          <c:tx>
            <c:strRef>
              <c:f>Sheet1!$D$1</c:f>
              <c:strCache>
                <c:ptCount val="1"/>
                <c:pt idx="0">
                  <c:v>Comp (5–9)</c:v>
                </c:pt>
              </c:strCache>
            </c:strRef>
          </c:tx>
          <c:spPr>
            <a:solidFill>
              <a:srgbClr val="1A2B4A"/>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Metro</c:v>
                  </c:pt>
                  <c:pt idx="1">
                    <c:v>T1</c:v>
                  </c:pt>
                  <c:pt idx="2">
                    <c:v>T2</c:v>
                  </c:pt>
                  <c:pt idx="3">
                    <c:v>T3</c:v>
                  </c:pt>
                  <c:pt idx="4">
                    <c:v>Other</c:v>
                  </c:pt>
                </c:lvl>
              </c:multiLvlStrCache>
            </c:multiLvlStrRef>
          </c:cat>
          <c:val>
            <c:numRef>
              <c:f>Sheet1!$D$2:$D$6</c:f>
              <c:numCache>
                <c:formatCode>General</c:formatCode>
                <c:ptCount val="5"/>
                <c:pt idx="0">
                  <c:v>23</c:v>
                </c:pt>
                <c:pt idx="1">
                  <c:v>14</c:v>
                </c:pt>
                <c:pt idx="2">
                  <c:v>16</c:v>
                </c:pt>
                <c:pt idx="3">
                  <c:v>16</c:v>
                </c:pt>
                <c:pt idx="4">
                  <c:v>9</c:v>
                </c:pt>
              </c:numCache>
            </c:numRef>
          </c:val>
        </c:ser>
        <c:ser>
          <c:idx val="3"/>
          <c:order val="3"/>
          <c:tx>
            <c:strRef>
              <c:f>Sheet1!$E$1</c:f>
              <c:strCache>
                <c:ptCount val="1"/>
                <c:pt idx="0">
                  <c:v>Crowd (10+)</c:v>
                </c:pt>
              </c:strCache>
            </c:strRef>
          </c:tx>
          <c:spPr>
            <a:solidFill>
              <a:srgbClr val="2C3E50"/>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Metro</c:v>
                  </c:pt>
                  <c:pt idx="1">
                    <c:v>T1</c:v>
                  </c:pt>
                  <c:pt idx="2">
                    <c:v>T2</c:v>
                  </c:pt>
                  <c:pt idx="3">
                    <c:v>T3</c:v>
                  </c:pt>
                  <c:pt idx="4">
                    <c:v>Other</c:v>
                  </c:pt>
                </c:lvl>
              </c:multiLvlStrCache>
            </c:multiLvlStrRef>
          </c:cat>
          <c:val>
            <c:numRef>
              <c:f>Sheet1!$E$2:$E$6</c:f>
              <c:numCache>
                <c:formatCode>General</c:formatCode>
                <c:ptCount val="5"/>
                <c:pt idx="0">
                  <c:v>43</c:v>
                </c:pt>
                <c:pt idx="1">
                  <c:v>57</c:v>
                </c:pt>
                <c:pt idx="2">
                  <c:v>49</c:v>
                </c:pt>
                <c:pt idx="3">
                  <c:v>42</c:v>
                </c:pt>
                <c:pt idx="4">
                  <c:v>19</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Stores</c:v>
                </c:pt>
              </c:strCache>
            </c:strRef>
          </c:tx>
          <c:spPr>
            <a:solidFill>
              <a:srgbClr val="1A2B4A"/>
            </a:solidFill>
            <a:effectLst/>
          </c:spPr>
          <c:invertIfNegative val="0"/>
          <c:dLbls>
            <c:numFmt formatCode="#,##0" sourceLinked="0"/>
            <c:txPr>
              <a:bodyPr/>
              <a:lstStyle/>
              <a:p>
                <a:pPr>
                  <a:defRPr b="0" i="0" strike="noStrike" sz="900" u="none">
                    <a:solidFill>
                      <a:srgbClr val="1A2B4A"/>
                    </a:solidFill>
                    <a:latin typeface="Arial"/>
                  </a:defRPr>
                </a:pPr>
              </a:p>
            </c:txPr>
            <c:showLegendKey val="0"/>
            <c:showVal val="1"/>
            <c:showCatName val="0"/>
            <c:showSerName val="0"/>
            <c:showPercent val="0"/>
            <c:showBubbleSize val="0"/>
            <c:showLeaderLines val="0"/>
          </c:dLbls>
          <c:dPt>
            <c:idx val="0"/>
            <c:invertIfNegative val="0"/>
            <c:bubble3D val="0"/>
            <c:spPr>
              <a:solidFill>
                <a:srgbClr val="1A2B4A"/>
              </a:solidFill>
              <a:effectLst/>
            </c:spPr>
          </c:dPt>
          <c:dPt>
            <c:idx val="1"/>
            <c:invertIfNegative val="0"/>
            <c:bubble3D val="0"/>
            <c:spPr>
              <a:solidFill>
                <a:srgbClr val="185FA5"/>
              </a:solidFill>
              <a:effectLst/>
            </c:spPr>
          </c:dPt>
          <c:dPt>
            <c:idx val="2"/>
            <c:invertIfNegative val="0"/>
            <c:bubble3D val="0"/>
            <c:spPr>
              <a:solidFill>
                <a:srgbClr val="185FA5"/>
              </a:solidFill>
              <a:effectLst/>
            </c:spPr>
          </c:dPt>
          <c:dPt>
            <c:idx val="3"/>
            <c:invertIfNegative val="0"/>
            <c:bubble3D val="0"/>
            <c:spPr>
              <a:solidFill>
                <a:srgbClr val="185FA5"/>
              </a:solidFill>
              <a:effectLst/>
            </c:spPr>
          </c:dPt>
          <c:dPt>
            <c:idx val="4"/>
            <c:invertIfNegative val="0"/>
            <c:bubble3D val="0"/>
            <c:spPr>
              <a:solidFill>
                <a:srgbClr val="00A896"/>
              </a:solidFill>
              <a:effectLst/>
            </c:spPr>
          </c:dPt>
          <c:dPt>
            <c:idx val="5"/>
            <c:invertIfNegative val="0"/>
            <c:bubble3D val="0"/>
            <c:spPr>
              <a:solidFill>
                <a:srgbClr val="95A5A6"/>
              </a:solidFill>
              <a:effectLst/>
            </c:spPr>
          </c:dPt>
          <c:dPt>
            <c:idx val="6"/>
            <c:invertIfNegative val="0"/>
            <c:bubble3D val="0"/>
            <c:spPr>
              <a:solidFill>
                <a:srgbClr val="1E8449"/>
              </a:solidFill>
              <a:effectLst/>
            </c:spPr>
          </c:dPt>
          <c:dPt>
            <c:idx val="7"/>
            <c:invertIfNegative val="0"/>
            <c:bubble3D val="0"/>
            <c:spPr>
              <a:solidFill>
                <a:srgbClr val="1A2B4A"/>
              </a:solidFill>
              <a:effectLst/>
            </c:spPr>
          </c:dPt>
          <c:cat>
            <c:multiLvlStrRef>
              <c:f>Sheet1!$A$2:$A$9</c:f>
              <c:multiLvlStrCache>
                <c:ptCount val="8"/>
                <c:lvl>
                  <c:pt idx="0">
                    <c:v>Current
~31,000</c:v>
                  </c:pt>
                  <c:pt idx="1">
                    <c:v>Metro
+5%</c:v>
                  </c:pt>
                  <c:pt idx="2">
                    <c:v>T1
+2%</c:v>
                  </c:pt>
                  <c:pt idx="3">
                    <c:v>T2
+15%</c:v>
                  </c:pt>
                  <c:pt idx="4">
                    <c:v>T3
+34%</c:v>
                  </c:pt>
                  <c:pt idx="5">
                    <c:v>Other*
+40%</c:v>
                  </c:pt>
                  <c:pt idx="6">
                    <c:v>Total
Additions</c:v>
                  </c:pt>
                  <c:pt idx="7">
                    <c:v>Total
Potential</c:v>
                  </c:pt>
                </c:lvl>
              </c:multiLvlStrCache>
            </c:multiLvlStrRef>
          </c:cat>
          <c:val>
            <c:numRef>
              <c:f>Sheet1!$B$2:$B$9</c:f>
              <c:numCache>
                <c:formatCode>General</c:formatCode>
                <c:ptCount val="8"/>
                <c:pt idx="0">
                  <c:v>31013</c:v>
                </c:pt>
                <c:pt idx="1">
                  <c:v>1551</c:v>
                </c:pt>
                <c:pt idx="2">
                  <c:v>621</c:v>
                </c:pt>
                <c:pt idx="3">
                  <c:v>4651</c:v>
                </c:pt>
                <c:pt idx="4">
                  <c:v>10539</c:v>
                </c:pt>
                <c:pt idx="5">
                  <c:v>12480</c:v>
                </c:pt>
                <c:pt idx="6">
                  <c:v>31147</c:v>
                </c:pt>
                <c:pt idx="7">
                  <c:v>62960</c:v>
                </c:pt>
              </c:numCache>
            </c:numRef>
          </c:val>
        </c:ser>
        <c:dLbls>
          <c:numFmt formatCode="#,##0" sourceLinked="0"/>
          <c:txPr>
            <a:bodyPr/>
            <a:lstStyle/>
            <a:p>
              <a:pPr>
                <a:defRPr b="0" i="0" strike="noStrike" sz="9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Penetrated %</c:v>
                </c:pt>
              </c:strCache>
            </c:strRef>
          </c:tx>
          <c:spPr>
            <a:solidFill>
              <a:srgbClr val="185FA5"/>
            </a:solidFill>
            <a:effectLst/>
          </c:spPr>
          <c:invertIfNegative val="0"/>
          <c:dLbls>
            <c:numFmt formatCode="#,##0" sourceLinked="0"/>
            <c:txPr>
              <a:bodyPr/>
              <a:lstStyle/>
              <a:p>
                <a:pPr>
                  <a:defRPr b="1"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Metro</c:v>
                  </c:pt>
                  <c:pt idx="1">
                    <c:v>T1</c:v>
                  </c:pt>
                  <c:pt idx="2">
                    <c:v>T2</c:v>
                  </c:pt>
                  <c:pt idx="3">
                    <c:v>T3</c:v>
                  </c:pt>
                  <c:pt idx="4">
                    <c:v>Other</c:v>
                  </c:pt>
                </c:lvl>
              </c:multiLvlStrCache>
            </c:multiLvlStrRef>
          </c:cat>
          <c:val>
            <c:numRef>
              <c:f>Sheet1!$B$2:$B$6</c:f>
              <c:numCache>
                <c:formatCode>General</c:formatCode>
                <c:ptCount val="5"/>
                <c:pt idx="0">
                  <c:v>80</c:v>
                </c:pt>
                <c:pt idx="1">
                  <c:v>83</c:v>
                </c:pt>
                <c:pt idx="2">
                  <c:v>44</c:v>
                </c:pt>
                <c:pt idx="3">
                  <c:v>21</c:v>
                </c:pt>
                <c:pt idx="4">
                  <c:v>15</c:v>
                </c:pt>
              </c:numCache>
            </c:numRef>
          </c:val>
        </c:ser>
        <c:ser>
          <c:idx val="1"/>
          <c:order val="1"/>
          <c:tx>
            <c:strRef>
              <c:f>Sheet1!$C$1</c:f>
              <c:strCache>
                <c:ptCount val="1"/>
                <c:pt idx="0">
                  <c:v>Runway %</c:v>
                </c:pt>
              </c:strCache>
            </c:strRef>
          </c:tx>
          <c:spPr>
            <a:solidFill>
              <a:srgbClr val="ECF0F1"/>
            </a:solidFill>
            <a:effectLst/>
          </c:spPr>
          <c:invertIfNegative val="0"/>
          <c:dLbls>
            <c:numFmt formatCode="#,##0" sourceLinked="0"/>
            <c:txPr>
              <a:bodyPr/>
              <a:lstStyle/>
              <a:p>
                <a:pPr>
                  <a:defRPr b="1"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Metro</c:v>
                  </c:pt>
                  <c:pt idx="1">
                    <c:v>T1</c:v>
                  </c:pt>
                  <c:pt idx="2">
                    <c:v>T2</c:v>
                  </c:pt>
                  <c:pt idx="3">
                    <c:v>T3</c:v>
                  </c:pt>
                  <c:pt idx="4">
                    <c:v>Other</c:v>
                  </c:pt>
                </c:lvl>
              </c:multiLvlStrCache>
            </c:multiLvlStrRef>
          </c:cat>
          <c:val>
            <c:numRef>
              <c:f>Sheet1!$C$2:$C$6</c:f>
              <c:numCache>
                <c:formatCode>General</c:formatCode>
                <c:ptCount val="5"/>
                <c:pt idx="0">
                  <c:v>20</c:v>
                </c:pt>
                <c:pt idx="1">
                  <c:v>17</c:v>
                </c:pt>
                <c:pt idx="2">
                  <c:v>56</c:v>
                </c:pt>
                <c:pt idx="3">
                  <c:v>79</c:v>
                </c:pt>
                <c:pt idx="4">
                  <c:v>85</c:v>
                </c:pt>
              </c:numCache>
            </c:numRef>
          </c:val>
        </c:ser>
        <c:dLbls>
          <c:numFmt formatCode="#,##0" sourceLinked="0"/>
          <c:txPr>
            <a:bodyPr/>
            <a:lstStyle/>
            <a:p>
              <a:pPr>
                <a:defRPr b="1" i="0" strike="noStrike" sz="11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Today — Pincodes &amp; Organised Store Count</a:t>
            </a:r>
          </a:p>
        </c:rich>
      </c:tx>
      <c:layout/>
      <c:overlay val="0"/>
    </c:title>
    <c:autoTitleDeleted val="0"/>
    <c:plotArea>
      <c:layout/>
      <c:barChart>
        <c:barDir val="col"/>
        <c:grouping val="clustered"/>
        <c:varyColors val="0"/>
        <c:ser>
          <c:idx val="0"/>
          <c:order val="0"/>
          <c:tx>
            <c:strRef>
              <c:f>Sheet1!$B$1</c:f>
              <c:strCache>
                <c:ptCount val="1"/>
                <c:pt idx="0">
                  <c:v>Current</c:v>
                </c:pt>
              </c:strCache>
            </c:strRef>
          </c:tx>
          <c:spPr>
            <a:solidFill>
              <a:srgbClr val="1A2B4A"/>
            </a:solidFill>
            <a:effectLst/>
          </c:spPr>
          <c:invertIfNegative val="0"/>
          <c:dLbls>
            <c:numFmt formatCode="#,##0" sourceLinked="0"/>
            <c:txPr>
              <a:bodyPr/>
              <a:lstStyle/>
              <a:p>
                <a:pPr>
                  <a:defRPr b="0" i="0" strike="noStrike" sz="900" u="none">
                    <a:solidFill>
                      <a:srgbClr val="1A2B4A"/>
                    </a:solidFill>
                    <a:latin typeface="Arial"/>
                  </a:defRPr>
                </a:pPr>
              </a:p>
            </c:txPr>
            <c:showLegendKey val="0"/>
            <c:showVal val="1"/>
            <c:showCatName val="0"/>
            <c:showSerName val="0"/>
            <c:showPercent val="0"/>
            <c:showBubbleSize val="0"/>
            <c:showLeaderLines val="0"/>
          </c:dLbls>
          <c:dPt>
            <c:idx val="0"/>
            <c:invertIfNegative val="0"/>
            <c:bubble3D val="0"/>
            <c:spPr>
              <a:solidFill>
                <a:srgbClr val="1A2B4A"/>
              </a:solidFill>
              <a:effectLst/>
            </c:spPr>
          </c:dPt>
          <c:dPt>
            <c:idx val="1"/>
            <c:invertIfNegative val="0"/>
            <c:bubble3D val="0"/>
            <c:spPr>
              <a:solidFill>
                <a:srgbClr val="ECF0F1"/>
              </a:solidFill>
              <a:effectLst/>
            </c:spPr>
          </c:dPt>
          <c:dPt>
            <c:idx val="2"/>
            <c:invertIfNegative val="0"/>
            <c:bubble3D val="0"/>
            <c:spPr>
              <a:solidFill>
                <a:srgbClr val="185FA5"/>
              </a:solidFill>
              <a:effectLst/>
            </c:spPr>
          </c:dPt>
          <c:dPt>
            <c:idx val="3"/>
            <c:invertIfNegative val="0"/>
            <c:bubble3D val="0"/>
            <c:spPr>
              <a:solidFill>
                <a:srgbClr val="00A896"/>
              </a:solidFill>
              <a:effectLst/>
            </c:spPr>
          </c:dPt>
          <c:dPt>
            <c:idx val="4"/>
            <c:invertIfNegative val="0"/>
            <c:bubble3D val="0"/>
            <c:spPr>
              <a:solidFill>
                <a:srgbClr val="1E8449"/>
              </a:solidFill>
              <a:effectLst/>
            </c:spPr>
          </c:dPt>
          <c:cat>
            <c:multiLvlStrRef>
              <c:f>Sheet1!$A$2:$A$6</c:f>
              <c:multiLvlStrCache>
                <c:ptCount val="5"/>
                <c:lvl>
                  <c:pt idx="0">
                    <c:v>Total
Pincodes</c:v>
                  </c:pt>
                  <c:pt idx="1">
                    <c:v>No
Organised</c:v>
                  </c:pt>
                  <c:pt idx="2">
                    <c:v>At Least 1</c:v>
                  </c:pt>
                  <c:pt idx="3">
                    <c:v>5 or Fewer
Stores</c:v>
                  </c:pt>
                  <c:pt idx="4">
                    <c:v>More than
5 Stores</c:v>
                  </c:pt>
                </c:lvl>
              </c:multiLvlStrCache>
            </c:multiLvlStrRef>
          </c:cat>
          <c:val>
            <c:numRef>
              <c:f>Sheet1!$B$2:$B$6</c:f>
              <c:numCache>
                <c:formatCode>General</c:formatCode>
                <c:ptCount val="5"/>
                <c:pt idx="0">
                  <c:v>19742</c:v>
                </c:pt>
                <c:pt idx="1">
                  <c:v>15794</c:v>
                </c:pt>
                <c:pt idx="2">
                  <c:v>3948</c:v>
                </c:pt>
                <c:pt idx="3">
                  <c:v>2568</c:v>
                </c:pt>
                <c:pt idx="4">
                  <c:v>1185</c:v>
                </c:pt>
              </c:numCache>
            </c:numRef>
          </c:val>
        </c:ser>
        <c:dLbls>
          <c:numFmt formatCode="#,##0" sourceLinked="0"/>
          <c:txPr>
            <a:bodyPr/>
            <a:lstStyle/>
            <a:p>
              <a:pPr>
                <a:defRPr b="0" i="0" strike="noStrike" sz="9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At Full Potential — Pincodes &amp; Organised Store Count</a:t>
            </a:r>
          </a:p>
        </c:rich>
      </c:tx>
      <c:layout/>
      <c:overlay val="0"/>
    </c:title>
    <c:autoTitleDeleted val="0"/>
    <c:plotArea>
      <c:layout/>
      <c:barChart>
        <c:barDir val="col"/>
        <c:grouping val="clustered"/>
        <c:varyColors val="0"/>
        <c:ser>
          <c:idx val="0"/>
          <c:order val="0"/>
          <c:tx>
            <c:strRef>
              <c:f>Sheet1!$B$1</c:f>
              <c:strCache>
                <c:ptCount val="1"/>
                <c:pt idx="0">
                  <c:v>Potential</c:v>
                </c:pt>
              </c:strCache>
            </c:strRef>
          </c:tx>
          <c:spPr>
            <a:solidFill>
              <a:srgbClr val="1A2B4A"/>
            </a:solidFill>
            <a:effectLst/>
          </c:spPr>
          <c:invertIfNegative val="0"/>
          <c:dLbls>
            <c:numFmt formatCode="#,##0" sourceLinked="0"/>
            <c:txPr>
              <a:bodyPr/>
              <a:lstStyle/>
              <a:p>
                <a:pPr>
                  <a:defRPr b="0" i="0" strike="noStrike" sz="900" u="none">
                    <a:solidFill>
                      <a:srgbClr val="1A2B4A"/>
                    </a:solidFill>
                    <a:latin typeface="Arial"/>
                  </a:defRPr>
                </a:pPr>
              </a:p>
            </c:txPr>
            <c:showLegendKey val="0"/>
            <c:showVal val="1"/>
            <c:showCatName val="0"/>
            <c:showSerName val="0"/>
            <c:showPercent val="0"/>
            <c:showBubbleSize val="0"/>
            <c:showLeaderLines val="0"/>
          </c:dLbls>
          <c:dPt>
            <c:idx val="0"/>
            <c:invertIfNegative val="0"/>
            <c:bubble3D val="0"/>
            <c:spPr>
              <a:solidFill>
                <a:srgbClr val="1A2B4A"/>
              </a:solidFill>
              <a:effectLst/>
            </c:spPr>
          </c:dPt>
          <c:dPt>
            <c:idx val="1"/>
            <c:invertIfNegative val="0"/>
            <c:bubble3D val="0"/>
            <c:spPr>
              <a:solidFill>
                <a:srgbClr val="ECF0F1"/>
              </a:solidFill>
              <a:effectLst/>
            </c:spPr>
          </c:dPt>
          <c:dPt>
            <c:idx val="2"/>
            <c:invertIfNegative val="0"/>
            <c:bubble3D val="0"/>
            <c:spPr>
              <a:solidFill>
                <a:srgbClr val="185FA5"/>
              </a:solidFill>
              <a:effectLst/>
            </c:spPr>
          </c:dPt>
          <c:dPt>
            <c:idx val="3"/>
            <c:invertIfNegative val="0"/>
            <c:bubble3D val="0"/>
            <c:spPr>
              <a:solidFill>
                <a:srgbClr val="00A896"/>
              </a:solidFill>
              <a:effectLst/>
            </c:spPr>
          </c:dPt>
          <c:dPt>
            <c:idx val="4"/>
            <c:invertIfNegative val="0"/>
            <c:bubble3D val="0"/>
            <c:spPr>
              <a:solidFill>
                <a:srgbClr val="1E8449"/>
              </a:solidFill>
              <a:effectLst/>
            </c:spPr>
          </c:dPt>
          <c:cat>
            <c:multiLvlStrRef>
              <c:f>Sheet1!$A$2:$A$6</c:f>
              <c:multiLvlStrCache>
                <c:ptCount val="5"/>
                <c:lvl>
                  <c:pt idx="0">
                    <c:v>Total
Pincodes</c:v>
                  </c:pt>
                  <c:pt idx="1">
                    <c:v>No
Organised</c:v>
                  </c:pt>
                  <c:pt idx="2">
                    <c:v>At Least 1</c:v>
                  </c:pt>
                  <c:pt idx="3">
                    <c:v>5 or Fewer
Stores</c:v>
                  </c:pt>
                  <c:pt idx="4">
                    <c:v>More than
5 Stores</c:v>
                  </c:pt>
                </c:lvl>
              </c:multiLvlStrCache>
            </c:multiLvlStrRef>
          </c:cat>
          <c:val>
            <c:numRef>
              <c:f>Sheet1!$B$2:$B$6</c:f>
              <c:numCache>
                <c:formatCode>General</c:formatCode>
                <c:ptCount val="5"/>
                <c:pt idx="0">
                  <c:v>19742</c:v>
                </c:pt>
                <c:pt idx="1">
                  <c:v>2962</c:v>
                </c:pt>
                <c:pt idx="2">
                  <c:v>16780</c:v>
                </c:pt>
                <c:pt idx="3">
                  <c:v>10266</c:v>
                </c:pt>
                <c:pt idx="4">
                  <c:v>4543</c:v>
                </c:pt>
              </c:numCache>
            </c:numRef>
          </c:val>
        </c:ser>
        <c:dLbls>
          <c:numFmt formatCode="#,##0" sourceLinked="0"/>
          <c:txPr>
            <a:bodyPr/>
            <a:lstStyle/>
            <a:p>
              <a:pPr>
                <a:defRPr b="0" i="0" strike="noStrike" sz="9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Brand Expansion Strategy Distribution</a:t>
            </a:r>
          </a:p>
        </c:rich>
      </c:tx>
      <c:layout/>
      <c:overlay val="0"/>
    </c:title>
    <c:autoTitleDeleted val="0"/>
    <c:plotArea>
      <c:layout/>
      <c:barChart>
        <c:barDir val="col"/>
        <c:grouping val="clustered"/>
        <c:varyColors val="0"/>
        <c:ser>
          <c:idx val="0"/>
          <c:order val="0"/>
          <c:tx>
            <c:strRef>
              <c:f>Sheet1!$B$1</c:f>
              <c:strCache>
                <c:ptCount val="1"/>
                <c:pt idx="0">
                  <c:v>All Brands</c:v>
                </c:pt>
              </c:strCache>
            </c:strRef>
          </c:tx>
          <c:spPr>
            <a:solidFill>
              <a:srgbClr val="185FA5"/>
            </a:solidFill>
            <a:effectLst/>
          </c:spPr>
          <c:invertIfNegative val="0"/>
          <c:dLbls>
            <c:numFmt formatCode="#,##0" sourceLinked="0"/>
            <c:txPr>
              <a:bodyPr/>
              <a:lstStyle/>
              <a:p>
                <a:pPr>
                  <a:defRPr b="0" i="0" strike="noStrike" sz="900" u="none">
                    <a:solidFill>
                      <a:srgbClr val="1A2B4A"/>
                    </a:solidFill>
                    <a:latin typeface="Arial"/>
                  </a:defRPr>
                </a:pPr>
              </a:p>
            </c:txPr>
            <c:showLegendKey val="0"/>
            <c:showVal val="1"/>
            <c:showCatName val="0"/>
            <c:showSerName val="0"/>
            <c:showPercent val="0"/>
            <c:showBubbleSize val="0"/>
            <c:showLeaderLines val="0"/>
          </c:dLbls>
          <c:cat>
            <c:multiLvlStrRef>
              <c:f>Sheet1!$A$2:$A$5</c:f>
              <c:multiLvlStrCache>
                <c:ptCount val="4"/>
                <c:lvl>
                  <c:pt idx="0">
                    <c:v>Multi-Tier
Leader</c:v>
                  </c:pt>
                  <c:pt idx="1">
                    <c:v>Top Tier
Focussed</c:v>
                  </c:pt>
                  <c:pt idx="2">
                    <c:v>Metro
Fortress</c:v>
                  </c:pt>
                  <c:pt idx="3">
                    <c:v>Following
Tailwind</c:v>
                  </c:pt>
                </c:lvl>
              </c:multiLvlStrCache>
            </c:multiLvlStrRef>
          </c:cat>
          <c:val>
            <c:numRef>
              <c:f>Sheet1!$B$2:$B$5</c:f>
              <c:numCache>
                <c:formatCode>General</c:formatCode>
                <c:ptCount val="4"/>
                <c:pt idx="0">
                  <c:v>39</c:v>
                </c:pt>
                <c:pt idx="1">
                  <c:v>29</c:v>
                </c:pt>
                <c:pt idx="2">
                  <c:v>32</c:v>
                </c:pt>
                <c:pt idx="3">
                  <c:v>11</c:v>
                </c:pt>
              </c:numCache>
            </c:numRef>
          </c:val>
        </c:ser>
        <c:ser>
          <c:idx val="1"/>
          <c:order val="1"/>
          <c:tx>
            <c:strRef>
              <c:f>Sheet1!$C$1</c:f>
              <c:strCache>
                <c:ptCount val="1"/>
                <c:pt idx="0">
                  <c:v>Value Fashion</c:v>
                </c:pt>
              </c:strCache>
            </c:strRef>
          </c:tx>
          <c:spPr>
            <a:solidFill>
              <a:srgbClr val="00A896"/>
            </a:solidFill>
            <a:effectLst/>
          </c:spPr>
          <c:invertIfNegative val="0"/>
          <c:dLbls>
            <c:numFmt formatCode="#,##0" sourceLinked="0"/>
            <c:txPr>
              <a:bodyPr/>
              <a:lstStyle/>
              <a:p>
                <a:pPr>
                  <a:defRPr b="0" i="0" strike="noStrike" sz="900" u="none">
                    <a:solidFill>
                      <a:srgbClr val="1A2B4A"/>
                    </a:solidFill>
                    <a:latin typeface="Arial"/>
                  </a:defRPr>
                </a:pPr>
              </a:p>
            </c:txPr>
            <c:showLegendKey val="0"/>
            <c:showVal val="1"/>
            <c:showCatName val="0"/>
            <c:showSerName val="0"/>
            <c:showPercent val="0"/>
            <c:showBubbleSize val="0"/>
            <c:showLeaderLines val="0"/>
          </c:dLbls>
          <c:cat>
            <c:multiLvlStrRef>
              <c:f>Sheet1!$A$2:$A$5</c:f>
              <c:multiLvlStrCache>
                <c:ptCount val="4"/>
                <c:lvl>
                  <c:pt idx="0">
                    <c:v>Multi-Tier
Leader</c:v>
                  </c:pt>
                  <c:pt idx="1">
                    <c:v>Top Tier
Focussed</c:v>
                  </c:pt>
                  <c:pt idx="2">
                    <c:v>Metro
Fortress</c:v>
                  </c:pt>
                  <c:pt idx="3">
                    <c:v>Following
Tailwind</c:v>
                  </c:pt>
                </c:lvl>
              </c:multiLvlStrCache>
            </c:multiLvlStrRef>
          </c:cat>
          <c:val>
            <c:numRef>
              <c:f>Sheet1!$C$2:$C$5</c:f>
              <c:numCache>
                <c:formatCode>General</c:formatCode>
                <c:ptCount val="4"/>
                <c:pt idx="0">
                  <c:v>2</c:v>
                </c:pt>
                <c:pt idx="1">
                  <c:v>1</c:v>
                </c:pt>
                <c:pt idx="2">
                  <c:v>2</c:v>
                </c:pt>
                <c:pt idx="3">
                  <c:v>6</c:v>
                </c:pt>
              </c:numCache>
            </c:numRef>
          </c:val>
        </c:ser>
        <c:dLbls>
          <c:numFmt formatCode="#,##0" sourceLinked="0"/>
          <c:txPr>
            <a:bodyPr/>
            <a:lstStyle/>
            <a:p>
              <a:pPr>
                <a:defRPr b="0" i="0" strike="noStrike" sz="9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Max Potential Zudio Stores &amp; New Tier-Wise Additions</a:t>
            </a:r>
          </a:p>
        </c:rich>
      </c:tx>
      <c:layout/>
      <c:overlay val="0"/>
    </c:title>
    <c:autoTitleDeleted val="0"/>
    <c:plotArea>
      <c:layout/>
      <c:barChart>
        <c:barDir val="col"/>
        <c:grouping val="clustered"/>
        <c:varyColors val="0"/>
        <c:ser>
          <c:idx val="0"/>
          <c:order val="0"/>
          <c:tx>
            <c:strRef>
              <c:f>Sheet1!$B$1</c:f>
              <c:strCache>
                <c:ptCount val="1"/>
                <c:pt idx="0">
                  <c:v>Zudio Store Potential</c:v>
                </c:pt>
              </c:strCache>
            </c:strRef>
          </c:tx>
          <c:spPr>
            <a:solidFill>
              <a:srgbClr val="1A2B4A"/>
            </a:solidFill>
            <a:effectLst/>
          </c:spPr>
          <c:invertIfNegative val="0"/>
          <c:dLbls>
            <c:numFmt formatCode="#,##0" sourceLinked="0"/>
            <c:txPr>
              <a:bodyPr/>
              <a:lstStyle/>
              <a:p>
                <a:pPr>
                  <a:defRPr b="0" i="0" strike="noStrike" sz="900" u="none">
                    <a:solidFill>
                      <a:srgbClr val="1A2B4A"/>
                    </a:solidFill>
                    <a:latin typeface="Arial"/>
                  </a:defRPr>
                </a:pPr>
              </a:p>
            </c:txPr>
            <c:showLegendKey val="0"/>
            <c:showVal val="1"/>
            <c:showCatName val="0"/>
            <c:showSerName val="0"/>
            <c:showPercent val="0"/>
            <c:showBubbleSize val="0"/>
            <c:showLeaderLines val="0"/>
          </c:dLbls>
          <c:dPt>
            <c:idx val="0"/>
            <c:invertIfNegative val="0"/>
            <c:bubble3D val="0"/>
            <c:spPr>
              <a:solidFill>
                <a:srgbClr val="1A2B4A"/>
              </a:solidFill>
              <a:effectLst/>
            </c:spPr>
          </c:dPt>
          <c:dPt>
            <c:idx val="1"/>
            <c:invertIfNegative val="0"/>
            <c:bubble3D val="0"/>
            <c:spPr>
              <a:solidFill>
                <a:srgbClr val="185FA5"/>
              </a:solidFill>
              <a:effectLst/>
            </c:spPr>
          </c:dPt>
          <c:dPt>
            <c:idx val="2"/>
            <c:invertIfNegative val="0"/>
            <c:bubble3D val="0"/>
            <c:spPr>
              <a:solidFill>
                <a:srgbClr val="185FA5"/>
              </a:solidFill>
              <a:effectLst/>
            </c:spPr>
          </c:dPt>
          <c:dPt>
            <c:idx val="3"/>
            <c:invertIfNegative val="0"/>
            <c:bubble3D val="0"/>
            <c:spPr>
              <a:solidFill>
                <a:srgbClr val="185FA5"/>
              </a:solidFill>
              <a:effectLst/>
            </c:spPr>
          </c:dPt>
          <c:dPt>
            <c:idx val="4"/>
            <c:invertIfNegative val="0"/>
            <c:bubble3D val="0"/>
            <c:spPr>
              <a:solidFill>
                <a:srgbClr val="00A896"/>
              </a:solidFill>
              <a:effectLst/>
            </c:spPr>
          </c:dPt>
          <c:dPt>
            <c:idx val="5"/>
            <c:invertIfNegative val="0"/>
            <c:bubble3D val="0"/>
            <c:spPr>
              <a:solidFill>
                <a:srgbClr val="95A5A6"/>
              </a:solidFill>
              <a:effectLst/>
            </c:spPr>
          </c:dPt>
          <c:dPt>
            <c:idx val="6"/>
            <c:invertIfNegative val="0"/>
            <c:bubble3D val="0"/>
            <c:spPr>
              <a:solidFill>
                <a:srgbClr val="1E8449"/>
              </a:solidFill>
              <a:effectLst/>
            </c:spPr>
          </c:dPt>
          <c:dPt>
            <c:idx val="7"/>
            <c:invertIfNegative val="0"/>
            <c:bubble3D val="0"/>
            <c:spPr>
              <a:solidFill>
                <a:srgbClr val="1A2B4A"/>
              </a:solidFill>
              <a:effectLst/>
            </c:spPr>
          </c:dPt>
          <c:cat>
            <c:multiLvlStrRef>
              <c:f>Sheet1!$A$2:$A$9</c:f>
              <c:multiLvlStrCache>
                <c:ptCount val="8"/>
                <c:lvl>
                  <c:pt idx="0">
                    <c:v>Current
958</c:v>
                  </c:pt>
                  <c:pt idx="1">
                    <c:v>Metro
+5%</c:v>
                  </c:pt>
                  <c:pt idx="2">
                    <c:v>T1
+3%</c:v>
                  </c:pt>
                  <c:pt idx="3">
                    <c:v>T2
+10%</c:v>
                  </c:pt>
                  <c:pt idx="4">
                    <c:v>T3
+39%</c:v>
                  </c:pt>
                  <c:pt idx="5">
                    <c:v>Other*
(Rural)</c:v>
                  </c:pt>
                  <c:pt idx="6">
                    <c:v>Total
Additions</c:v>
                  </c:pt>
                  <c:pt idx="7">
                    <c:v>Total
Potential</c:v>
                  </c:pt>
                </c:lvl>
              </c:multiLvlStrCache>
            </c:multiLvlStrRef>
          </c:cat>
          <c:val>
            <c:numRef>
              <c:f>Sheet1!$B$2:$B$9</c:f>
              <c:numCache>
                <c:formatCode>General</c:formatCode>
                <c:ptCount val="8"/>
                <c:pt idx="0">
                  <c:v>958</c:v>
                </c:pt>
                <c:pt idx="1">
                  <c:v>48</c:v>
                </c:pt>
                <c:pt idx="2">
                  <c:v>29</c:v>
                </c:pt>
                <c:pt idx="3">
                  <c:v>294</c:v>
                </c:pt>
                <c:pt idx="4">
                  <c:v>1142</c:v>
                </c:pt>
                <c:pt idx="5">
                  <c:v>435</c:v>
                </c:pt>
                <c:pt idx="6">
                  <c:v>2004</c:v>
                </c:pt>
                <c:pt idx="7">
                  <c:v>2962</c:v>
                </c:pt>
              </c:numCache>
            </c:numRef>
          </c:val>
        </c:ser>
        <c:dLbls>
          <c:numFmt formatCode="#,##0" sourceLinked="0"/>
          <c:txPr>
            <a:bodyPr/>
            <a:lstStyle/>
            <a:p>
              <a:pPr>
                <a:defRPr b="0" i="0" strike="noStrike" sz="9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Zudio Store Additions by Expansion Type</a:t>
            </a:r>
          </a:p>
        </c:rich>
      </c:tx>
      <c:layout/>
      <c:overlay val="0"/>
    </c:title>
    <c:autoTitleDeleted val="0"/>
    <c:plotArea>
      <c:layout/>
      <c:barChart>
        <c:barDir val="col"/>
        <c:grouping val="clustered"/>
        <c:varyColors val="0"/>
        <c:ser>
          <c:idx val="0"/>
          <c:order val="0"/>
          <c:tx>
            <c:strRef>
              <c:f>Sheet1!$B$1</c:f>
              <c:strCache>
                <c:ptCount val="1"/>
                <c:pt idx="0">
                  <c:v>By Expansion Type</c:v>
                </c:pt>
              </c:strCache>
            </c:strRef>
          </c:tx>
          <c:spPr>
            <a:solidFill>
              <a:srgbClr val="1A2B4A"/>
            </a:solidFill>
            <a:effectLst/>
          </c:spPr>
          <c:invertIfNegative val="0"/>
          <c:dLbls>
            <c:numFmt formatCode="#,##0" sourceLinked="0"/>
            <c:txPr>
              <a:bodyPr/>
              <a:lstStyle/>
              <a:p>
                <a:pPr>
                  <a:defRPr b="0" i="0" strike="noStrike" sz="850" u="none">
                    <a:solidFill>
                      <a:srgbClr val="1A2B4A"/>
                    </a:solidFill>
                    <a:latin typeface="Arial"/>
                  </a:defRPr>
                </a:pPr>
              </a:p>
            </c:txPr>
            <c:showLegendKey val="0"/>
            <c:showVal val="1"/>
            <c:showCatName val="0"/>
            <c:showSerName val="0"/>
            <c:showPercent val="0"/>
            <c:showBubbleSize val="0"/>
            <c:showLeaderLines val="0"/>
          </c:dLbls>
          <c:dPt>
            <c:idx val="0"/>
            <c:invertIfNegative val="0"/>
            <c:bubble3D val="0"/>
            <c:spPr>
              <a:solidFill>
                <a:srgbClr val="1A2B4A"/>
              </a:solidFill>
              <a:effectLst/>
            </c:spPr>
          </c:dPt>
          <c:dPt>
            <c:idx val="1"/>
            <c:invertIfNegative val="0"/>
            <c:bubble3D val="0"/>
            <c:spPr>
              <a:solidFill>
                <a:srgbClr val="185FA5"/>
              </a:solidFill>
              <a:effectLst/>
            </c:spPr>
          </c:dPt>
          <c:dPt>
            <c:idx val="2"/>
            <c:invertIfNegative val="0"/>
            <c:bubble3D val="0"/>
            <c:spPr>
              <a:solidFill>
                <a:srgbClr val="185FA5"/>
              </a:solidFill>
              <a:effectLst/>
            </c:spPr>
          </c:dPt>
          <c:dPt>
            <c:idx val="3"/>
            <c:invertIfNegative val="0"/>
            <c:bubble3D val="0"/>
            <c:spPr>
              <a:solidFill>
                <a:srgbClr val="00A896"/>
              </a:solidFill>
              <a:effectLst/>
            </c:spPr>
          </c:dPt>
          <c:dPt>
            <c:idx val="4"/>
            <c:invertIfNegative val="0"/>
            <c:bubble3D val="0"/>
            <c:spPr>
              <a:solidFill>
                <a:srgbClr val="1E8449"/>
              </a:solidFill>
              <a:effectLst/>
            </c:spPr>
          </c:dPt>
          <c:dPt>
            <c:idx val="5"/>
            <c:invertIfNegative val="0"/>
            <c:bubble3D val="0"/>
            <c:spPr>
              <a:solidFill>
                <a:srgbClr val="1A2B4A"/>
              </a:solidFill>
              <a:effectLst/>
            </c:spPr>
          </c:dPt>
          <c:cat>
            <c:multiLvlStrRef>
              <c:f>Sheet1!$A$2:$A$7</c:f>
              <c:multiLvlStrCache>
                <c:ptCount val="6"/>
                <c:lvl>
                  <c:pt idx="0">
                    <c:v>Current
Stores</c:v>
                  </c:pt>
                  <c:pt idx="1">
                    <c:v>Same
Pins</c:v>
                  </c:pt>
                  <c:pt idx="2">
                    <c:v>New Pins
(Existing Cities)</c:v>
                  </c:pt>
                  <c:pt idx="3">
                    <c:v>New
Cities</c:v>
                  </c:pt>
                  <c:pt idx="4">
                    <c:v>Total
Additions</c:v>
                  </c:pt>
                  <c:pt idx="5">
                    <c:v>Total
Potential</c:v>
                  </c:pt>
                </c:lvl>
              </c:multiLvlStrCache>
            </c:multiLvlStrRef>
          </c:cat>
          <c:val>
            <c:numRef>
              <c:f>Sheet1!$B$2:$B$7</c:f>
              <c:numCache>
                <c:formatCode>General</c:formatCode>
                <c:ptCount val="6"/>
                <c:pt idx="0">
                  <c:v>958</c:v>
                </c:pt>
                <c:pt idx="1">
                  <c:v>86</c:v>
                </c:pt>
                <c:pt idx="2">
                  <c:v>287</c:v>
                </c:pt>
                <c:pt idx="3">
                  <c:v>1631</c:v>
                </c:pt>
                <c:pt idx="4">
                  <c:v>2004</c:v>
                </c:pt>
                <c:pt idx="5">
                  <c:v>2962</c:v>
                </c:pt>
              </c:numCache>
            </c:numRef>
          </c:val>
        </c:ser>
        <c:dLbls>
          <c:numFmt formatCode="#,##0" sourceLinked="0"/>
          <c:txPr>
            <a:bodyPr/>
            <a:lstStyle/>
            <a:p>
              <a:pPr>
                <a:defRPr b="0" i="0" strike="noStrike" sz="85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Max Revenue Zudio Can Achieve (₹ Cr)</a:t>
            </a:r>
          </a:p>
        </c:rich>
      </c:tx>
      <c:layout/>
      <c:overlay val="0"/>
    </c:title>
    <c:autoTitleDeleted val="0"/>
    <c:plotArea>
      <c:layout/>
      <c:barChart>
        <c:barDir val="col"/>
        <c:grouping val="clustered"/>
        <c:varyColors val="0"/>
        <c:ser>
          <c:idx val="0"/>
          <c:order val="0"/>
          <c:tx>
            <c:strRef>
              <c:f>Sheet1!$B$1</c:f>
              <c:strCache>
                <c:ptCount val="1"/>
                <c:pt idx="0">
                  <c:v>Revenue (₹ Cr)</c:v>
                </c:pt>
              </c:strCache>
            </c:strRef>
          </c:tx>
          <c:spPr>
            <a:solidFill>
              <a:srgbClr val="185FA5"/>
            </a:solidFill>
            <a:effectLst/>
          </c:spPr>
          <c:invertIfNegative val="0"/>
          <c:dLbls>
            <c:numFmt formatCode="#,##0" sourceLinked="0"/>
            <c:txPr>
              <a:bodyPr/>
              <a:lstStyle/>
              <a:p>
                <a:pPr>
                  <a:defRPr b="1" i="0" strike="noStrike" sz="1000" u="none">
                    <a:solidFill>
                      <a:srgbClr val="1A2B4A"/>
                    </a:solidFill>
                    <a:latin typeface="Arial"/>
                  </a:defRPr>
                </a:pPr>
              </a:p>
            </c:txPr>
            <c:showLegendKey val="0"/>
            <c:showVal val="1"/>
            <c:showCatName val="0"/>
            <c:showSerName val="0"/>
            <c:showPercent val="0"/>
            <c:showBubbleSize val="0"/>
            <c:showLeaderLines val="0"/>
          </c:dLbls>
          <c:dPt>
            <c:idx val="0"/>
            <c:invertIfNegative val="0"/>
            <c:bubble3D val="0"/>
            <c:spPr>
              <a:solidFill>
                <a:srgbClr val="185FA5"/>
              </a:solidFill>
              <a:effectLst/>
            </c:spPr>
          </c:dPt>
          <c:dPt>
            <c:idx val="1"/>
            <c:invertIfNegative val="0"/>
            <c:bubble3D val="0"/>
            <c:spPr>
              <a:solidFill>
                <a:srgbClr val="00A896"/>
              </a:solidFill>
              <a:effectLst/>
            </c:spPr>
          </c:dPt>
          <c:dPt>
            <c:idx val="2"/>
            <c:invertIfNegative val="0"/>
            <c:bubble3D val="0"/>
            <c:spPr>
              <a:solidFill>
                <a:srgbClr val="1E8449"/>
              </a:solidFill>
              <a:effectLst/>
            </c:spPr>
          </c:dPt>
          <c:cat>
            <c:multiLvlStrRef>
              <c:f>Sheet1!$A$2:$A$4</c:f>
              <c:multiLvlStrCache>
                <c:ptCount val="3"/>
                <c:lvl>
                  <c:pt idx="0">
                    <c:v>Zudio
FY26</c:v>
                  </c:pt>
                  <c:pt idx="1">
                    <c:v>Runway
Revenue</c:v>
                  </c:pt>
                  <c:pt idx="2">
                    <c:v>Total
Potential</c:v>
                  </c:pt>
                </c:lvl>
              </c:multiLvlStrCache>
            </c:multiLvlStrRef>
          </c:cat>
          <c:val>
            <c:numRef>
              <c:f>Sheet1!$B$2:$B$4</c:f>
              <c:numCache>
                <c:formatCode>General</c:formatCode>
                <c:ptCount val="3"/>
                <c:pt idx="0">
                  <c:v>12215</c:v>
                </c:pt>
                <c:pt idx="1">
                  <c:v>35101</c:v>
                </c:pt>
                <c:pt idx="2">
                  <c:v>47316</c:v>
                </c:pt>
              </c:numCache>
            </c:numRef>
          </c:val>
        </c:ser>
        <c:dLbls>
          <c:numFmt formatCode="#,##0" sourceLinked="0"/>
          <c:txPr>
            <a:bodyPr/>
            <a:lstStyle/>
            <a:p>
              <a:pPr>
                <a:defRPr b="1" i="0" strike="noStrike" sz="10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Runway and Current Penetration by Tier (# Stores)</a:t>
            </a:r>
          </a:p>
        </c:rich>
      </c:tx>
      <c:layout/>
      <c:overlay val="0"/>
    </c:title>
    <c:autoTitleDeleted val="0"/>
    <c:plotArea>
      <c:layout/>
      <c:barChart>
        <c:barDir val="col"/>
        <c:grouping val="clustered"/>
        <c:varyColors val="0"/>
        <c:ser>
          <c:idx val="0"/>
          <c:order val="0"/>
          <c:tx>
            <c:strRef>
              <c:f>Sheet1!$B$1</c:f>
              <c:strCache>
                <c:ptCount val="1"/>
                <c:pt idx="0">
                  <c:v>Current Zudio Stores</c:v>
                </c:pt>
              </c:strCache>
            </c:strRef>
          </c:tx>
          <c:spPr>
            <a:solidFill>
              <a:srgbClr val="185FA5"/>
            </a:solidFill>
            <a:effectLst/>
          </c:spPr>
          <c:invertIfNegative val="0"/>
          <c:dLbls>
            <c:numFmt formatCode="#,##0" sourceLinked="0"/>
            <c:txPr>
              <a:bodyPr/>
              <a:lstStyle/>
              <a:p>
                <a:pPr>
                  <a:defRPr b="0" i="0" strike="noStrike" sz="800" u="none">
                    <a:solidFill>
                      <a:srgbClr val="1A2B4A"/>
                    </a:solidFill>
                    <a:latin typeface="Arial"/>
                  </a:defRPr>
                </a:pPr>
              </a:p>
            </c:txPr>
            <c:showLegendKey val="0"/>
            <c:showVal val="1"/>
            <c:showCatName val="0"/>
            <c:showSerName val="0"/>
            <c:showPercent val="0"/>
            <c:showBubbleSize val="0"/>
            <c:showLeaderLines val="0"/>
          </c:dLbls>
          <c:cat>
            <c:multiLvlStrRef>
              <c:f>Sheet1!$A$2:$A$6</c:f>
              <c:multiLvlStrCache>
                <c:ptCount val="5"/>
                <c:lvl>
                  <c:pt idx="0">
                    <c:v>Metro</c:v>
                  </c:pt>
                  <c:pt idx="1">
                    <c:v>T1</c:v>
                  </c:pt>
                  <c:pt idx="2">
                    <c:v>T2</c:v>
                  </c:pt>
                  <c:pt idx="3">
                    <c:v>T3</c:v>
                  </c:pt>
                  <c:pt idx="4">
                    <c:v>Other</c:v>
                  </c:pt>
                </c:lvl>
              </c:multiLvlStrCache>
            </c:multiLvlStrRef>
          </c:cat>
          <c:val>
            <c:numRef>
              <c:f>Sheet1!$B$2:$B$6</c:f>
              <c:numCache>
                <c:formatCode>General</c:formatCode>
                <c:ptCount val="5"/>
                <c:pt idx="0">
                  <c:v>157</c:v>
                </c:pt>
                <c:pt idx="1">
                  <c:v>85</c:v>
                </c:pt>
                <c:pt idx="2">
                  <c:v>227</c:v>
                </c:pt>
                <c:pt idx="3">
                  <c:v>895</c:v>
                </c:pt>
                <c:pt idx="4">
                  <c:v>970</c:v>
                </c:pt>
              </c:numCache>
            </c:numRef>
          </c:val>
        </c:ser>
        <c:ser>
          <c:idx val="1"/>
          <c:order val="1"/>
          <c:tx>
            <c:strRef>
              <c:f>Sheet1!$C$1</c:f>
              <c:strCache>
                <c:ptCount val="1"/>
                <c:pt idx="0">
                  <c:v>Runway Stores</c:v>
                </c:pt>
              </c:strCache>
            </c:strRef>
          </c:tx>
          <c:spPr>
            <a:solidFill>
              <a:srgbClr val="ECF0F1"/>
            </a:solidFill>
            <a:effectLst/>
          </c:spPr>
          <c:invertIfNegative val="0"/>
          <c:dLbls>
            <c:numFmt formatCode="#,##0" sourceLinked="0"/>
            <c:txPr>
              <a:bodyPr/>
              <a:lstStyle/>
              <a:p>
                <a:pPr>
                  <a:defRPr b="0" i="0" strike="noStrike" sz="800" u="none">
                    <a:solidFill>
                      <a:srgbClr val="1A2B4A"/>
                    </a:solidFill>
                    <a:latin typeface="Arial"/>
                  </a:defRPr>
                </a:pPr>
              </a:p>
            </c:txPr>
            <c:showLegendKey val="0"/>
            <c:showVal val="1"/>
            <c:showCatName val="0"/>
            <c:showSerName val="0"/>
            <c:showPercent val="0"/>
            <c:showBubbleSize val="0"/>
            <c:showLeaderLines val="0"/>
          </c:dLbls>
          <c:cat>
            <c:multiLvlStrRef>
              <c:f>Sheet1!$A$2:$A$6</c:f>
              <c:multiLvlStrCache>
                <c:ptCount val="5"/>
                <c:lvl>
                  <c:pt idx="0">
                    <c:v>Metro</c:v>
                  </c:pt>
                  <c:pt idx="1">
                    <c:v>T1</c:v>
                  </c:pt>
                  <c:pt idx="2">
                    <c:v>T2</c:v>
                  </c:pt>
                  <c:pt idx="3">
                    <c:v>T3</c:v>
                  </c:pt>
                  <c:pt idx="4">
                    <c:v>Other</c:v>
                  </c:pt>
                </c:lvl>
              </c:multiLvlStrCache>
            </c:multiLvlStrRef>
          </c:cat>
          <c:val>
            <c:numRef>
              <c:f>Sheet1!$C$2:$C$6</c:f>
              <c:numCache>
                <c:formatCode>General</c:formatCode>
                <c:ptCount val="5"/>
                <c:pt idx="0">
                  <c:v>48</c:v>
                </c:pt>
                <c:pt idx="1">
                  <c:v>14</c:v>
                </c:pt>
                <c:pt idx="2">
                  <c:v>294</c:v>
                </c:pt>
                <c:pt idx="3">
                  <c:v>1142</c:v>
                </c:pt>
                <c:pt idx="4">
                  <c:v>435</c:v>
                </c:pt>
              </c:numCache>
            </c:numRef>
          </c:val>
        </c:ser>
        <c:dLbls>
          <c:numFmt formatCode="#,##0" sourceLinked="0"/>
          <c:txPr>
            <a:bodyPr/>
            <a:lstStyle/>
            <a:p>
              <a:pPr>
                <a:defRPr b="0" i="0" strike="noStrike" sz="8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defRPr>
          </a:pPr>
          <a:endParaRPr lang="en-US"/>
        </a:p>
      </c:txPr>
    </c:legend>
    <c:plotVisOnly val="1"/>
    <c:dispBlanksAs val="span"/>
  </c:chart>
  <c:spPr>
    <a:solidFill>
      <a:srgbClr val="FFFFFF"/>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A2B4A"/>
                </a:solidFill>
                <a:latin typeface="Arial"/>
              </a:defRPr>
            </a:pPr>
            <a:r>
              <a:rPr sz="950" b="0" i="0" u="none" strike="noStrike">
                <a:solidFill>
                  <a:srgbClr val="1A2B4A"/>
                </a:solidFill>
                <a:latin typeface="Arial"/>
              </a:rPr>
              <a:t>Target Net Store Additions/Year</a:t>
            </a:r>
          </a:p>
        </c:rich>
      </c:tx>
      <c:layout/>
      <c:overlay val="0"/>
    </c:title>
    <c:autoTitleDeleted val="0"/>
    <c:plotArea>
      <c:layout/>
      <c:barChart>
        <c:barDir val="col"/>
        <c:grouping val="clustered"/>
        <c:varyColors val="0"/>
        <c:ser>
          <c:idx val="0"/>
          <c:order val="0"/>
          <c:tx>
            <c:strRef>
              <c:f>Sheet1!$B$1</c:f>
              <c:strCache>
                <c:ptCount val="1"/>
                <c:pt idx="0">
                  <c:v>Stores/Year Needed</c:v>
                </c:pt>
              </c:strCache>
            </c:strRef>
          </c:tx>
          <c:spPr>
            <a:solidFill>
              <a:srgbClr val="1A2B4A"/>
            </a:solidFill>
            <a:effectLst/>
          </c:spPr>
          <c:invertIfNegative val="0"/>
          <c:dLbls>
            <c:numFmt formatCode="#,##0" sourceLinked="0"/>
            <c:txPr>
              <a:bodyPr/>
              <a:lstStyle/>
              <a:p>
                <a:pPr>
                  <a:defRPr b="0" i="0" strike="noStrike" sz="800" u="none">
                    <a:solidFill>
                      <a:srgbClr val="1A2B4A"/>
                    </a:solidFill>
                    <a:latin typeface="Arial"/>
                  </a:defRPr>
                </a:pPr>
              </a:p>
            </c:txPr>
            <c:showLegendKey val="0"/>
            <c:showVal val="1"/>
            <c:showCatName val="0"/>
            <c:showSerName val="0"/>
            <c:showPercent val="0"/>
            <c:showBubbleSize val="0"/>
            <c:showLeaderLines val="0"/>
          </c:dLbls>
          <c:dPt>
            <c:idx val="0"/>
            <c:invertIfNegative val="0"/>
            <c:bubble3D val="0"/>
            <c:spPr>
              <a:solidFill>
                <a:srgbClr val="1A2B4A"/>
              </a:solidFill>
              <a:effectLst/>
            </c:spPr>
          </c:dPt>
          <c:dPt>
            <c:idx val="1"/>
            <c:invertIfNegative val="0"/>
            <c:bubble3D val="0"/>
            <c:spPr>
              <a:solidFill>
                <a:srgbClr val="185FA5"/>
              </a:solidFill>
              <a:effectLst/>
            </c:spPr>
          </c:dPt>
          <c:dPt>
            <c:idx val="2"/>
            <c:invertIfNegative val="0"/>
            <c:bubble3D val="0"/>
            <c:spPr>
              <a:solidFill>
                <a:srgbClr val="00A896"/>
              </a:solidFill>
              <a:effectLst/>
            </c:spPr>
          </c:dPt>
          <c:dPt>
            <c:idx val="3"/>
            <c:invertIfNegative val="0"/>
            <c:bubble3D val="0"/>
            <c:spPr>
              <a:solidFill>
                <a:srgbClr val="95A5A6"/>
              </a:solidFill>
              <a:effectLst/>
            </c:spPr>
          </c:dPt>
          <c:dPt>
            <c:idx val="4"/>
            <c:invertIfNegative val="0"/>
            <c:bubble3D val="0"/>
            <c:spPr>
              <a:solidFill>
                <a:srgbClr val="95A5A6"/>
              </a:solidFill>
              <a:effectLst/>
            </c:spPr>
          </c:dPt>
          <c:cat>
            <c:multiLvlStrRef>
              <c:f>Sheet1!$A$2:$A$6</c:f>
              <c:multiLvlStrCache>
                <c:ptCount val="5"/>
                <c:lvl>
                  <c:pt idx="0">
                    <c:v>5-yr Plan</c:v>
                  </c:pt>
                  <c:pt idx="1">
                    <c:v>8-yr Plan</c:v>
                  </c:pt>
                  <c:pt idx="2">
                    <c:v>10-yr Plan</c:v>
                  </c:pt>
                  <c:pt idx="3">
                    <c:v>15-yr Plan</c:v>
                  </c:pt>
                  <c:pt idx="4">
                    <c:v>20-yr Plan</c:v>
                  </c:pt>
                </c:lvl>
              </c:multiLvlStrCache>
            </c:multiLvlStrRef>
          </c:cat>
          <c:val>
            <c:numRef>
              <c:f>Sheet1!$B$2:$B$6</c:f>
              <c:numCache>
                <c:formatCode>General</c:formatCode>
                <c:ptCount val="5"/>
                <c:pt idx="0">
                  <c:v>467</c:v>
                </c:pt>
                <c:pt idx="1">
                  <c:v>292</c:v>
                </c:pt>
                <c:pt idx="2">
                  <c:v>233</c:v>
                </c:pt>
                <c:pt idx="3">
                  <c:v>156</c:v>
                </c:pt>
                <c:pt idx="4">
                  <c:v>117</c:v>
                </c:pt>
              </c:numCache>
            </c:numRef>
          </c:val>
        </c:ser>
        <c:dLbls>
          <c:numFmt formatCode="#,##0" sourceLinked="0"/>
          <c:txPr>
            <a:bodyPr/>
            <a:lstStyle/>
            <a:p>
              <a:pPr>
                <a:defRPr b="0" i="0" strike="noStrike" sz="800" u="none">
                  <a:solidFill>
                    <a:srgbClr val="1A2B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'When you think of fashion retail in India — the stores, the brands, the growth — where do you picture it happening? Most people say Mumbai or Delhi. That picture is wrong.' Let the silence land.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signals made us build this. Focus on the +6pp for value fashion — that's your strongest stat. Let the bar chart show the doubling of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growing + organised share rising + value fashion leading openings. All three happening simultaneously. Hit the USD numbers early — international audience needs anchoring.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surprise: T4+ has 35% of clothing wallet, bigger than any tier. Yet organised retail has concentrated in Metro and T1. This sets up the entire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 biggest segment + fastest CAGR + fewest national competitors. The $3.7B→$4.5B in a single year shows how fast momentum is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42 brands for mid-market, just 15 for value. And the organised ones earn more per store. This slide answers: why Value Fashion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slide. Let the clustered bars speak. Point to Metro (32% stores vs 15% wallet). Point to T3 (16% stores vs 24% wallet). The mismatch IS the investment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navy banner aloud. Pause after '42%'. Then walk the three circles. This is the thesis moment — the clearest place to pause and let the room absorb.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 40 seconds max. Key message: we counted, not estimated. 19,742 pincodes, 31,000 stores. The output is an investment answer, not a market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Placeholders filled: Track 1 = 63,000 stores, Track 2 = 2,962 Zudio stores / ₹47,316 Cr. The teal OUTPUT B box is the slide's punchline. Point to it and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 shows why T3 is the prize. It's above the ₹6,500 viability line but nearly empty on store density. Rural is the opposite — show and explain the gray bar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Rural at 96% unorganised is the most striking number. The right chart shows even wealthy pincodes (₹300Cr+) are mostly empty. The market is nowhere near saturated.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 of high-wallet pincodes with zero stores is the jaw-dropper. 1,325 pincodes with just 1 store is first-mover territory. T3 is the most open by every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Gray bar for rural is the key design decision — explain it explicitly. T3 at 34% is the headline number. The market can absorb 2x more stores. No macro growth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Stacked bars are stark. Metro and T1 are almost full. T3 and Other are mostly empty. Let the visual do the work before you say anything. Then point to T3's 79% runway.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before/after is the story. From 20% pincodes with stores → 87% at full potential. Even at max build-out, 87% have ≤5 stores. The market absorbs it all. 13% permanently can't — note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Zudio row. It's in the right places AND earns 2.4x more per store than nearest peers. The revenue premium at scale is enormous.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T3 at 39% of Zudio's total potential. Right: 81% of additions from new cities — this is not densification, it's geographic expansion. Rural in gray, explain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₹47,316 Cr / $5.6B is the number to let land. Zudio is at $1.45B. Pace of 350/year is more than enough. Question is whether new stores go to T3. That's the direction decision, not the pace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dark slide. Read each of the four boxes — spend most time on 01 (3x stores) and 03 ($5.6B). End with: 'India's organised clothing story has barely started. The T2/T3 wave is the next chapter. Zudio is best placed to write it.' Pause.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chart" Target="/ppt/charts/chart15.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chart" Target="/ppt/charts/chart19.xm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chart" Target="/ppt/charts/chart22.xm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chart" Target="/ppt/charts/chart24.xml"/><Relationship Id="rId3" Type="http://schemas.openxmlformats.org/officeDocument/2006/relationships/chart" Target="/ppt/charts/chart25.xml"/><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1691640"/>
            <a:ext cx="6217920" cy="2880360"/>
          </a:xfrm>
          <a:prstGeom prst="rect">
            <a:avLst/>
          </a:prstGeom>
          <a:solidFill>
            <a:srgbClr val="185FA5"/>
          </a:solidFill>
          <a:ln w="12700">
            <a:solidFill>
              <a:srgbClr val="185FA5"/>
            </a:solidFill>
            <a:prstDash val="solid"/>
          </a:ln>
        </p:spPr>
      </p:sp>
      <p:sp>
        <p:nvSpPr>
          <p:cNvPr id="3" name="Shape 1"/>
          <p:cNvSpPr/>
          <p:nvPr/>
        </p:nvSpPr>
        <p:spPr>
          <a:xfrm>
            <a:off x="5394960" y="411480"/>
            <a:ext cx="3749040" cy="2331720"/>
          </a:xfrm>
          <a:prstGeom prst="rect">
            <a:avLst/>
          </a:prstGeom>
          <a:solidFill>
            <a:srgbClr val="1A2B4A"/>
          </a:solidFill>
          <a:ln w="12700">
            <a:solidFill>
              <a:srgbClr val="1A2B4A"/>
            </a:solidFill>
            <a:prstDash val="solid"/>
          </a:ln>
        </p:spPr>
      </p:sp>
      <p:sp>
        <p:nvSpPr>
          <p:cNvPr id="4" name="Text 2"/>
          <p:cNvSpPr/>
          <p:nvPr/>
        </p:nvSpPr>
        <p:spPr>
          <a:xfrm>
            <a:off x="457200" y="201168"/>
            <a:ext cx="4114800" cy="530352"/>
          </a:xfrm>
          <a:prstGeom prst="rect">
            <a:avLst/>
          </a:prstGeom>
          <a:noFill/>
          <a:ln/>
        </p:spPr>
        <p:txBody>
          <a:bodyPr wrap="square" lIns="0" tIns="0" rIns="0" bIns="0" rtlCol="0" anchor="ctr"/>
          <a:lstStyle/>
          <a:p>
            <a:pPr indent="0" marL="0">
              <a:buNone/>
            </a:pPr>
            <a:r>
              <a:rPr lang="en-US" sz="3000" b="1" dirty="0">
                <a:solidFill>
                  <a:srgbClr val="1A2B4A"/>
                </a:solidFill>
                <a:latin typeface="Cambria" pitchFamily="34" charset="0"/>
                <a:ea typeface="Cambria" pitchFamily="34" charset="-122"/>
                <a:cs typeface="Cambria" pitchFamily="34" charset="-120"/>
              </a:rPr>
              <a:t>BERNSTEIN</a:t>
            </a:r>
            <a:endParaRPr lang="en-US" sz="3000" dirty="0"/>
          </a:p>
        </p:txBody>
      </p:sp>
      <p:sp>
        <p:nvSpPr>
          <p:cNvPr id="5" name="Text 3"/>
          <p:cNvSpPr/>
          <p:nvPr/>
        </p:nvSpPr>
        <p:spPr>
          <a:xfrm>
            <a:off x="457200" y="713232"/>
            <a:ext cx="4114800" cy="219456"/>
          </a:xfrm>
          <a:prstGeom prst="rect">
            <a:avLst/>
          </a:prstGeom>
          <a:noFill/>
          <a:ln/>
        </p:spPr>
        <p:txBody>
          <a:bodyPr wrap="square" lIns="0" tIns="0" rIns="0" bIns="0" rtlCol="0" anchor="ctr"/>
          <a:lstStyle/>
          <a:p>
            <a:pPr indent="0" marL="0">
              <a:buNone/>
            </a:pPr>
            <a:r>
              <a:rPr lang="en-US" sz="900" spc="400" kern="0" dirty="0">
                <a:solidFill>
                  <a:srgbClr val="5D6D7E"/>
                </a:solidFill>
                <a:latin typeface="Calibri" pitchFamily="34" charset="0"/>
                <a:ea typeface="Calibri" pitchFamily="34" charset="-122"/>
                <a:cs typeface="Calibri" pitchFamily="34" charset="-120"/>
              </a:rPr>
              <a:t>SOCIETE GENERALE GROUP</a:t>
            </a:r>
            <a:endParaRPr lang="en-US" sz="900" dirty="0"/>
          </a:p>
        </p:txBody>
      </p:sp>
      <p:sp>
        <p:nvSpPr>
          <p:cNvPr id="6" name="Text 4"/>
          <p:cNvSpPr/>
          <p:nvPr/>
        </p:nvSpPr>
        <p:spPr>
          <a:xfrm>
            <a:off x="5532120" y="530352"/>
            <a:ext cx="3474720" cy="12344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India's Organized Apparel Frontier:</a:t>
            </a:r>
            <a:endParaRPr lang="en-US" sz="1500" dirty="0"/>
          </a:p>
          <a:p>
            <a:pPr indent="0" marL="0">
              <a:buNone/>
            </a:pPr>
            <a:r>
              <a:rPr lang="en-US" sz="1500" b="1" dirty="0">
                <a:solidFill>
                  <a:srgbClr val="FFFFFF"/>
                </a:solidFill>
                <a:latin typeface="Cambria" pitchFamily="34" charset="0"/>
                <a:ea typeface="Cambria" pitchFamily="34" charset="-122"/>
                <a:cs typeface="Cambria" pitchFamily="34" charset="-120"/>
              </a:rPr>
              <a:t>The T2/T3 Tipping Point</a:t>
            </a:r>
            <a:endParaRPr lang="en-US" sz="1500" dirty="0"/>
          </a:p>
        </p:txBody>
      </p:sp>
      <p:sp>
        <p:nvSpPr>
          <p:cNvPr id="7" name="Shape 5"/>
          <p:cNvSpPr/>
          <p:nvPr/>
        </p:nvSpPr>
        <p:spPr>
          <a:xfrm>
            <a:off x="5532120" y="1792224"/>
            <a:ext cx="3474720" cy="20117"/>
          </a:xfrm>
          <a:prstGeom prst="rect">
            <a:avLst/>
          </a:prstGeom>
          <a:solidFill>
            <a:srgbClr val="00A896"/>
          </a:solidFill>
          <a:ln w="12700">
            <a:solidFill>
              <a:srgbClr val="00A896"/>
            </a:solidFill>
            <a:prstDash val="solid"/>
          </a:ln>
        </p:spPr>
      </p:sp>
      <p:sp>
        <p:nvSpPr>
          <p:cNvPr id="8" name="Text 6"/>
          <p:cNvSpPr/>
          <p:nvPr/>
        </p:nvSpPr>
        <p:spPr>
          <a:xfrm>
            <a:off x="5532120" y="1828800"/>
            <a:ext cx="3474720" cy="685800"/>
          </a:xfrm>
          <a:prstGeom prst="rect">
            <a:avLst/>
          </a:prstGeom>
          <a:noFill/>
          <a:ln/>
        </p:spPr>
        <p:txBody>
          <a:bodyPr wrap="square" lIns="0" tIns="0" rIns="0" bIns="0" rtlCol="0" anchor="t"/>
          <a:lstStyle/>
          <a:p>
            <a:pPr indent="0" marL="0">
              <a:buNone/>
            </a:pPr>
            <a:r>
              <a:rPr lang="en-US" sz="1050" i="1" dirty="0">
                <a:solidFill>
                  <a:srgbClr val="A8BED1"/>
                </a:solidFill>
                <a:latin typeface="Calibri" pitchFamily="34" charset="0"/>
                <a:ea typeface="Calibri" pitchFamily="34" charset="-122"/>
                <a:cs typeface="Calibri" pitchFamily="34" charset="-120"/>
              </a:rPr>
              <a:t>"Is Zudio leading the transition</a:t>
            </a:r>
            <a:endParaRPr lang="en-US" sz="1050" dirty="0"/>
          </a:p>
          <a:p>
            <a:pPr indent="0" marL="0">
              <a:buNone/>
            </a:pPr>
            <a:r>
              <a:rPr lang="en-US" sz="1050" i="1" dirty="0">
                <a:solidFill>
                  <a:srgbClr val="A8BED1"/>
                </a:solidFill>
                <a:latin typeface="Calibri" pitchFamily="34" charset="0"/>
                <a:ea typeface="Calibri" pitchFamily="34" charset="-122"/>
                <a:cs typeface="Calibri" pitchFamily="34" charset="-120"/>
              </a:rPr>
              <a:t>or just beginning it?"</a:t>
            </a:r>
            <a:endParaRPr lang="en-US" sz="1050" dirty="0"/>
          </a:p>
        </p:txBody>
      </p:sp>
      <p:sp>
        <p:nvSpPr>
          <p:cNvPr id="9" name="Text 7"/>
          <p:cNvSpPr/>
          <p:nvPr/>
        </p:nvSpPr>
        <p:spPr>
          <a:xfrm>
            <a:off x="457200" y="1828800"/>
            <a:ext cx="2743200" cy="292608"/>
          </a:xfrm>
          <a:prstGeom prst="rect">
            <a:avLst/>
          </a:prstGeom>
          <a:noFill/>
          <a:ln/>
        </p:spPr>
        <p:txBody>
          <a:bodyPr wrap="square" lIns="0" tIns="0" rIns="0" bIns="0" rtlCol="0" anchor="ctr"/>
          <a:lstStyle/>
          <a:p>
            <a:pPr indent="0" marL="0">
              <a:buNone/>
            </a:pPr>
            <a:r>
              <a:rPr lang="en-US" sz="1150" dirty="0">
                <a:solidFill>
                  <a:srgbClr val="00A896"/>
                </a:solidFill>
                <a:latin typeface="Calibri" pitchFamily="34" charset="0"/>
                <a:ea typeface="Calibri" pitchFamily="34" charset="-122"/>
                <a:cs typeface="Calibri" pitchFamily="34" charset="-120"/>
              </a:rPr>
              <a:t>June 2026</a:t>
            </a:r>
            <a:endParaRPr lang="en-US" sz="1150" dirty="0"/>
          </a:p>
        </p:txBody>
      </p:sp>
      <p:sp>
        <p:nvSpPr>
          <p:cNvPr id="10" name="Text 8"/>
          <p:cNvSpPr/>
          <p:nvPr/>
        </p:nvSpPr>
        <p:spPr>
          <a:xfrm>
            <a:off x="457200" y="4315968"/>
            <a:ext cx="5303520" cy="2377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Priyanshu Sengar  ·  Summer Research Intern  ·  Consumer</a:t>
            </a:r>
            <a:endParaRPr lang="en-US" sz="1000" dirty="0"/>
          </a:p>
        </p:txBody>
      </p:sp>
      <p:sp>
        <p:nvSpPr>
          <p:cNvPr id="11" name="Text 9"/>
          <p:cNvSpPr/>
          <p:nvPr/>
        </p:nvSpPr>
        <p:spPr>
          <a:xfrm>
            <a:off x="914400" y="4892040"/>
            <a:ext cx="7315200" cy="182880"/>
          </a:xfrm>
          <a:prstGeom prst="rect">
            <a:avLst/>
          </a:prstGeom>
          <a:noFill/>
          <a:ln/>
        </p:spPr>
        <p:txBody>
          <a:bodyPr wrap="square" lIns="0" tIns="0" rIns="0" bIns="0" rtlCol="0" anchor="ctr"/>
          <a:lstStyle/>
          <a:p>
            <a:pPr algn="ctr" indent="0" marL="0">
              <a:buNone/>
            </a:pPr>
            <a:r>
              <a:rPr lang="en-US" sz="750" dirty="0">
                <a:solidFill>
                  <a:srgbClr val="95A5A6"/>
                </a:solidFill>
                <a:latin typeface="Calibri" pitchFamily="34" charset="0"/>
                <a:ea typeface="Calibri" pitchFamily="34" charset="-122"/>
                <a:cs typeface="Calibri" pitchFamily="34" charset="-120"/>
              </a:rPr>
              <a:t>See Disclosure Appendix of this report for important Disclosures and Analyst Certifications</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What's Driving This Analysis</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5" name="Text 3"/>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3</a:t>
            </a:r>
            <a:endParaRPr lang="en-US" sz="750" dirty="0"/>
          </a:p>
        </p:txBody>
      </p:sp>
      <p:sp>
        <p:nvSpPr>
          <p:cNvPr id="6" name="Shape 4"/>
          <p:cNvSpPr/>
          <p:nvPr/>
        </p:nvSpPr>
        <p:spPr>
          <a:xfrm>
            <a:off x="411480" y="987552"/>
            <a:ext cx="2697480" cy="1353312"/>
          </a:xfrm>
          <a:prstGeom prst="roundRect">
            <a:avLst>
              <a:gd name="adj" fmla="val 5405"/>
            </a:avLst>
          </a:prstGeom>
          <a:solidFill>
            <a:srgbClr val="F8F9FA"/>
          </a:solidFill>
          <a:ln w="19050">
            <a:solidFill>
              <a:srgbClr val="185FA5"/>
            </a:solidFill>
            <a:prstDash val="solid"/>
          </a:ln>
          <a:effectLst>
            <a:outerShdw sx="100000" sy="100000" kx="0" ky="0" algn="bl" rotWithShape="0" blurRad="101600" dist="25400" dir="2700000">
              <a:srgbClr val="000000">
                <a:alpha val="10000"/>
              </a:srgbClr>
            </a:outerShdw>
          </a:effectLst>
        </p:spPr>
      </p:sp>
      <p:sp>
        <p:nvSpPr>
          <p:cNvPr id="7" name="Text 5"/>
          <p:cNvSpPr/>
          <p:nvPr/>
        </p:nvSpPr>
        <p:spPr>
          <a:xfrm>
            <a:off x="530352" y="1078992"/>
            <a:ext cx="2459736" cy="292608"/>
          </a:xfrm>
          <a:prstGeom prst="rect">
            <a:avLst/>
          </a:prstGeom>
          <a:noFill/>
          <a:ln/>
        </p:spPr>
        <p:txBody>
          <a:bodyPr wrap="square" lIns="0" tIns="0" rIns="0" bIns="0" rtlCol="0" anchor="ctr"/>
          <a:lstStyle/>
          <a:p>
            <a:pPr indent="0" marL="0">
              <a:buNone/>
            </a:pPr>
            <a:r>
              <a:rPr lang="en-US" sz="1000" b="1" dirty="0">
                <a:solidFill>
                  <a:srgbClr val="1A2B4A"/>
                </a:solidFill>
                <a:latin typeface="Calibri" pitchFamily="34" charset="0"/>
                <a:ea typeface="Calibri" pitchFamily="34" charset="-122"/>
                <a:cs typeface="Calibri" pitchFamily="34" charset="-120"/>
              </a:rPr>
              <a:t>Signal 1: The Penetration Gap</a:t>
            </a:r>
            <a:endParaRPr lang="en-US" sz="1000" dirty="0"/>
          </a:p>
        </p:txBody>
      </p:sp>
      <p:sp>
        <p:nvSpPr>
          <p:cNvPr id="8" name="Text 6"/>
          <p:cNvSpPr/>
          <p:nvPr/>
        </p:nvSpPr>
        <p:spPr>
          <a:xfrm>
            <a:off x="530352" y="1380744"/>
            <a:ext cx="2459736" cy="850392"/>
          </a:xfrm>
          <a:prstGeom prst="rect">
            <a:avLst/>
          </a:prstGeom>
          <a:noFill/>
          <a:ln/>
        </p:spPr>
        <p:txBody>
          <a:bodyPr wrap="square" lIns="0" tIns="0" rIns="0" bIns="0" rtlCol="0" anchor="t"/>
          <a:lstStyle/>
          <a:p>
            <a:pPr indent="0" marL="0">
              <a:buNone/>
            </a:pPr>
            <a:r>
              <a:rPr lang="en-US" sz="900" dirty="0">
                <a:solidFill>
                  <a:srgbClr val="5D6D7E"/>
                </a:solidFill>
                <a:latin typeface="Calibri" pitchFamily="34" charset="0"/>
                <a:ea typeface="Calibri" pitchFamily="34" charset="-122"/>
                <a:cs typeface="Calibri" pitchFamily="34" charset="-120"/>
              </a:rPr>
              <a:t>India's organised apparel is at ~20% penetration. Countries at similar income levels are well above that. This gap doesn't stay forever — it closes, and when it does it creates enormous value for whoever is already there.</a:t>
            </a:r>
            <a:endParaRPr lang="en-US" sz="900" dirty="0"/>
          </a:p>
        </p:txBody>
      </p:sp>
      <p:sp>
        <p:nvSpPr>
          <p:cNvPr id="9" name="Shape 7"/>
          <p:cNvSpPr/>
          <p:nvPr/>
        </p:nvSpPr>
        <p:spPr>
          <a:xfrm>
            <a:off x="3246120" y="987552"/>
            <a:ext cx="2697480" cy="1353312"/>
          </a:xfrm>
          <a:prstGeom prst="roundRect">
            <a:avLst>
              <a:gd name="adj" fmla="val 4730"/>
            </a:avLst>
          </a:prstGeom>
          <a:solidFill>
            <a:srgbClr val="E9F7EF"/>
          </a:solidFill>
          <a:ln w="19050">
            <a:solidFill>
              <a:srgbClr val="1E8449"/>
            </a:solidFill>
            <a:prstDash val="solid"/>
          </a:ln>
        </p:spPr>
      </p:sp>
      <p:sp>
        <p:nvSpPr>
          <p:cNvPr id="10" name="Text 8"/>
          <p:cNvSpPr/>
          <p:nvPr/>
        </p:nvSpPr>
        <p:spPr>
          <a:xfrm>
            <a:off x="3337560" y="1051560"/>
            <a:ext cx="2514600" cy="1225296"/>
          </a:xfrm>
          <a:prstGeom prst="rect">
            <a:avLst/>
          </a:prstGeom>
          <a:noFill/>
          <a:ln/>
        </p:spPr>
        <p:txBody>
          <a:bodyPr wrap="square" lIns="0" tIns="0" rIns="0" bIns="0" rtlCol="0" anchor="ctr"/>
          <a:lstStyle/>
          <a:p>
            <a:pPr algn="l" indent="0" marL="0">
              <a:buNone/>
            </a:pPr>
            <a:r>
              <a:rPr lang="en-US" sz="900" dirty="0">
                <a:solidFill>
                  <a:srgbClr val="145A32"/>
                </a:solidFill>
                <a:latin typeface="Calibri" pitchFamily="34" charset="0"/>
                <a:ea typeface="Calibri" pitchFamily="34" charset="-122"/>
                <a:cs typeface="Calibri" pitchFamily="34" charset="-120"/>
              </a:rPr>
              <a:t>Signal 2: Value Fashion Leads</a:t>
            </a:r>
            <a:endParaRPr lang="en-US" sz="900" dirty="0"/>
          </a:p>
          <a:p>
            <a:pPr algn="l" indent="0" marL="0">
              <a:buNone/>
            </a:pPr>
            <a:endParaRPr lang="en-US" sz="900" dirty="0"/>
          </a:p>
          <a:p>
            <a:pPr algn="l" indent="0" marL="0">
              <a:buNone/>
            </a:pPr>
            <a:r>
              <a:rPr lang="en-US" sz="900" dirty="0">
                <a:solidFill>
                  <a:srgbClr val="145A32"/>
                </a:solidFill>
                <a:latin typeface="Calibri" pitchFamily="34" charset="0"/>
                <a:ea typeface="Calibri" pitchFamily="34" charset="-122"/>
                <a:cs typeface="Calibri" pitchFamily="34" charset="-120"/>
              </a:rPr>
              <a:t>Value fashion gained +6 percentage points of organised market share in just 5 years — more than any other segment. It is absorbing the shift from unorganised faster than premium, mid-market, or economy.</a:t>
            </a:r>
            <a:endParaRPr lang="en-US" sz="900" dirty="0"/>
          </a:p>
        </p:txBody>
      </p:sp>
      <p:sp>
        <p:nvSpPr>
          <p:cNvPr id="11" name="Shape 9"/>
          <p:cNvSpPr/>
          <p:nvPr/>
        </p:nvSpPr>
        <p:spPr>
          <a:xfrm>
            <a:off x="6080760" y="987552"/>
            <a:ext cx="2697480" cy="1353312"/>
          </a:xfrm>
          <a:prstGeom prst="roundRect">
            <a:avLst>
              <a:gd name="adj" fmla="val 5405"/>
            </a:avLst>
          </a:prstGeom>
          <a:solidFill>
            <a:srgbClr val="F8F9FA"/>
          </a:solidFill>
          <a:ln w="19050">
            <a:solidFill>
              <a:srgbClr val="185FA5"/>
            </a:solidFill>
            <a:prstDash val="solid"/>
          </a:ln>
          <a:effectLst>
            <a:outerShdw sx="100000" sy="100000" kx="0" ky="0" algn="bl" rotWithShape="0" blurRad="101600" dist="25400" dir="2700000">
              <a:srgbClr val="000000">
                <a:alpha val="10000"/>
              </a:srgbClr>
            </a:outerShdw>
          </a:effectLst>
        </p:spPr>
      </p:sp>
      <p:sp>
        <p:nvSpPr>
          <p:cNvPr id="12" name="Text 10"/>
          <p:cNvSpPr/>
          <p:nvPr/>
        </p:nvSpPr>
        <p:spPr>
          <a:xfrm>
            <a:off x="6199632" y="1078992"/>
            <a:ext cx="2459736" cy="292608"/>
          </a:xfrm>
          <a:prstGeom prst="rect">
            <a:avLst/>
          </a:prstGeom>
          <a:noFill/>
          <a:ln/>
        </p:spPr>
        <p:txBody>
          <a:bodyPr wrap="square" lIns="0" tIns="0" rIns="0" bIns="0" rtlCol="0" anchor="ctr"/>
          <a:lstStyle/>
          <a:p>
            <a:pPr indent="0" marL="0">
              <a:buNone/>
            </a:pPr>
            <a:r>
              <a:rPr lang="en-US" sz="1000" b="1" dirty="0">
                <a:solidFill>
                  <a:srgbClr val="1A2B4A"/>
                </a:solidFill>
                <a:latin typeface="Calibri" pitchFamily="34" charset="0"/>
                <a:ea typeface="Calibri" pitchFamily="34" charset="-122"/>
                <a:cs typeface="Calibri" pitchFamily="34" charset="-120"/>
              </a:rPr>
              <a:t>Signal 3: Openings Have Doubled</a:t>
            </a:r>
            <a:endParaRPr lang="en-US" sz="1000" dirty="0"/>
          </a:p>
        </p:txBody>
      </p:sp>
      <p:sp>
        <p:nvSpPr>
          <p:cNvPr id="13" name="Text 11"/>
          <p:cNvSpPr/>
          <p:nvPr/>
        </p:nvSpPr>
        <p:spPr>
          <a:xfrm>
            <a:off x="6199632" y="1380744"/>
            <a:ext cx="2459736" cy="850392"/>
          </a:xfrm>
          <a:prstGeom prst="rect">
            <a:avLst/>
          </a:prstGeom>
          <a:noFill/>
          <a:ln/>
        </p:spPr>
        <p:txBody>
          <a:bodyPr wrap="square" lIns="0" tIns="0" rIns="0" bIns="0" rtlCol="0" anchor="t"/>
          <a:lstStyle/>
          <a:p>
            <a:pPr indent="0" marL="0">
              <a:buNone/>
            </a:pPr>
            <a:r>
              <a:rPr lang="en-US" sz="900" dirty="0">
                <a:solidFill>
                  <a:srgbClr val="5D6D7E"/>
                </a:solidFill>
                <a:latin typeface="Calibri" pitchFamily="34" charset="0"/>
                <a:ea typeface="Calibri" pitchFamily="34" charset="-122"/>
                <a:cs typeface="Calibri" pitchFamily="34" charset="-120"/>
              </a:rPr>
              <a:t>Net new organised store additions: 808 in FY24, 1,571 in FY25. Nearly double in a single year. The acceleration is real and it is happening right now.</a:t>
            </a:r>
            <a:endParaRPr lang="en-US" sz="900" dirty="0"/>
          </a:p>
        </p:txBody>
      </p:sp>
      <p:graphicFrame>
        <p:nvGraphicFramePr>
          <p:cNvPr id="14" name="Chart 0" descr=""/>
          <p:cNvGraphicFramePr/>
          <p:nvPr/>
        </p:nvGraphicFramePr>
        <p:xfrm>
          <a:off x="457200" y="2487168"/>
          <a:ext cx="4754880" cy="2212848"/>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1645920" y="2560320"/>
            <a:ext cx="2286000" cy="347472"/>
          </a:xfrm>
          <a:prstGeom prst="roundRect">
            <a:avLst>
              <a:gd name="adj" fmla="val 18421"/>
            </a:avLst>
          </a:prstGeom>
          <a:solidFill>
            <a:srgbClr val="E9F7EF"/>
          </a:solidFill>
          <a:ln w="19050">
            <a:solidFill>
              <a:srgbClr val="1E8449"/>
            </a:solidFill>
            <a:prstDash val="solid"/>
          </a:ln>
        </p:spPr>
      </p:sp>
      <p:sp>
        <p:nvSpPr>
          <p:cNvPr id="16" name="Text 13"/>
          <p:cNvSpPr/>
          <p:nvPr/>
        </p:nvSpPr>
        <p:spPr>
          <a:xfrm>
            <a:off x="1737360" y="2624328"/>
            <a:ext cx="2103120" cy="219456"/>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FY25: 1,571 stores — nearly 2× FY24 pace</a:t>
            </a:r>
            <a:endParaRPr lang="en-US" sz="950" dirty="0"/>
          </a:p>
        </p:txBody>
      </p:sp>
      <p:sp>
        <p:nvSpPr>
          <p:cNvPr id="17" name="Shape 14"/>
          <p:cNvSpPr/>
          <p:nvPr/>
        </p:nvSpPr>
        <p:spPr>
          <a:xfrm>
            <a:off x="5394960" y="2514600"/>
            <a:ext cx="3337560" cy="914400"/>
          </a:xfrm>
          <a:prstGeom prst="roundRect">
            <a:avLst>
              <a:gd name="adj" fmla="val 12000"/>
            </a:avLst>
          </a:prstGeom>
          <a:solidFill>
            <a:srgbClr val="F8F9FA"/>
          </a:solidFill>
          <a:ln w="9525">
            <a:solidFill>
              <a:srgbClr val="95A5A6"/>
            </a:solidFill>
            <a:prstDash val="dash"/>
          </a:ln>
        </p:spPr>
      </p:sp>
      <p:sp>
        <p:nvSpPr>
          <p:cNvPr id="18" name="Text 15"/>
          <p:cNvSpPr/>
          <p:nvPr/>
        </p:nvSpPr>
        <p:spPr>
          <a:xfrm>
            <a:off x="5486400" y="2560320"/>
            <a:ext cx="3154680" cy="822960"/>
          </a:xfrm>
          <a:prstGeom prst="rect">
            <a:avLst/>
          </a:prstGeom>
          <a:noFill/>
          <a:ln/>
        </p:spPr>
        <p:txBody>
          <a:bodyPr wrap="square" lIns="0" tIns="0" rIns="0" bIns="0" rtlCol="0" anchor="ctr"/>
          <a:lstStyle/>
          <a:p>
            <a:pPr algn="ctr" indent="0" marL="0">
              <a:buNone/>
            </a:pPr>
            <a:r>
              <a:rPr lang="en-US" sz="1000" i="1" dirty="0">
                <a:solidFill>
                  <a:srgbClr val="5D6D7E"/>
                </a:solidFill>
                <a:latin typeface="Calibri" pitchFamily="34" charset="0"/>
                <a:ea typeface="Calibri" pitchFamily="34" charset="-122"/>
                <a:cs typeface="Calibri" pitchFamily="34" charset="-120"/>
              </a:rPr>
              <a:t>"Top-down analysis gives you the market size.</a:t>
            </a:r>
            <a:endParaRPr lang="en-US" sz="1000" dirty="0"/>
          </a:p>
          <a:p>
            <a:pPr algn="ctr" indent="0" marL="0">
              <a:buNone/>
            </a:pPr>
            <a:r>
              <a:rPr lang="en-US" sz="1000" i="1" dirty="0">
                <a:solidFill>
                  <a:srgbClr val="5D6D7E"/>
                </a:solidFill>
                <a:latin typeface="Calibri" pitchFamily="34" charset="0"/>
                <a:ea typeface="Calibri" pitchFamily="34" charset="-122"/>
                <a:cs typeface="Calibri" pitchFamily="34" charset="-120"/>
              </a:rPr>
              <a:t>It cannot give you the investment decision."</a:t>
            </a:r>
            <a:endParaRPr lang="en-US" sz="1000" dirty="0"/>
          </a:p>
        </p:txBody>
      </p:sp>
      <p:sp>
        <p:nvSpPr>
          <p:cNvPr id="19" name="Shape 16"/>
          <p:cNvSpPr/>
          <p:nvPr/>
        </p:nvSpPr>
        <p:spPr>
          <a:xfrm>
            <a:off x="5394960" y="3547872"/>
            <a:ext cx="3337560" cy="530352"/>
          </a:xfrm>
          <a:prstGeom prst="roundRect">
            <a:avLst>
              <a:gd name="adj" fmla="val 10345"/>
            </a:avLst>
          </a:prstGeom>
          <a:solidFill>
            <a:srgbClr val="FEF9E7"/>
          </a:solidFill>
          <a:ln w="12700">
            <a:solidFill>
              <a:srgbClr val="D68910"/>
            </a:solidFill>
            <a:prstDash val="solid"/>
          </a:ln>
        </p:spPr>
      </p:sp>
      <p:sp>
        <p:nvSpPr>
          <p:cNvPr id="20" name="Text 17"/>
          <p:cNvSpPr/>
          <p:nvPr/>
        </p:nvSpPr>
        <p:spPr>
          <a:xfrm>
            <a:off x="5486400" y="3602736"/>
            <a:ext cx="3154680" cy="420624"/>
          </a:xfrm>
          <a:prstGeom prst="rect">
            <a:avLst/>
          </a:prstGeom>
          <a:noFill/>
          <a:ln/>
        </p:spPr>
        <p:txBody>
          <a:bodyPr wrap="square" lIns="0" tIns="0" rIns="0" bIns="0" rtlCol="0" anchor="ctr"/>
          <a:lstStyle/>
          <a:p>
            <a:pPr algn="l" indent="0" marL="0">
              <a:buNone/>
            </a:pPr>
            <a:r>
              <a:rPr lang="en-US" sz="900" dirty="0">
                <a:solidFill>
                  <a:srgbClr val="7D6608"/>
                </a:solidFill>
                <a:latin typeface="Calibri" pitchFamily="34" charset="0"/>
                <a:ea typeface="Calibri" pitchFamily="34" charset="-122"/>
                <a:cs typeface="Calibri" pitchFamily="34" charset="-120"/>
              </a:rPr>
              <a:t>USD reference: At ₹84 = $1. India added 1,320 organised stores in FY26. Value fashion drove the majority of that growth.</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India's Organised Apparel Story Has Just Begun</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5" name="Text 3"/>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4</a:t>
            </a:r>
            <a:endParaRPr lang="en-US" sz="750" dirty="0"/>
          </a:p>
        </p:txBody>
      </p:sp>
      <p:graphicFrame>
        <p:nvGraphicFramePr>
          <p:cNvPr id="6" name="Chart 0" descr=""/>
          <p:cNvGraphicFramePr/>
          <p:nvPr/>
        </p:nvGraphicFramePr>
        <p:xfrm>
          <a:off x="457200" y="1078992"/>
          <a:ext cx="4572000" cy="26974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57200" y="3858768"/>
            <a:ext cx="4572000" cy="402336"/>
          </a:xfrm>
          <a:prstGeom prst="roundRect">
            <a:avLst>
              <a:gd name="adj" fmla="val 15909"/>
            </a:avLst>
          </a:prstGeom>
          <a:solidFill>
            <a:srgbClr val="E9F7EF"/>
          </a:solidFill>
          <a:ln w="19050">
            <a:solidFill>
              <a:srgbClr val="1E8449"/>
            </a:solidFill>
            <a:prstDash val="solid"/>
          </a:ln>
        </p:spPr>
      </p:sp>
      <p:sp>
        <p:nvSpPr>
          <p:cNvPr id="8" name="Text 5"/>
          <p:cNvSpPr/>
          <p:nvPr/>
        </p:nvSpPr>
        <p:spPr>
          <a:xfrm>
            <a:off x="548640" y="3922776"/>
            <a:ext cx="4389120" cy="274320"/>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Organised share: 38% (FY23) → 48% (FY27P). Rising every year. The tipping point is already visible.</a:t>
            </a:r>
            <a:endParaRPr lang="en-US" sz="950" dirty="0"/>
          </a:p>
        </p:txBody>
      </p:sp>
      <p:graphicFrame>
        <p:nvGraphicFramePr>
          <p:cNvPr id="9" name="Chart 1" descr=""/>
          <p:cNvGraphicFramePr/>
          <p:nvPr/>
        </p:nvGraphicFramePr>
        <p:xfrm>
          <a:off x="5212080" y="1078992"/>
          <a:ext cx="3566160" cy="26974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5212080" y="3858768"/>
            <a:ext cx="3566160" cy="402336"/>
          </a:xfrm>
          <a:prstGeom prst="roundRect">
            <a:avLst>
              <a:gd name="adj" fmla="val 15909"/>
            </a:avLst>
          </a:prstGeom>
          <a:solidFill>
            <a:srgbClr val="E9F7EF"/>
          </a:solidFill>
          <a:ln w="19050">
            <a:solidFill>
              <a:srgbClr val="1E8449"/>
            </a:solidFill>
            <a:prstDash val="solid"/>
          </a:ln>
        </p:spPr>
      </p:sp>
      <p:sp>
        <p:nvSpPr>
          <p:cNvPr id="11" name="Text 7"/>
          <p:cNvSpPr/>
          <p:nvPr/>
        </p:nvSpPr>
        <p:spPr>
          <a:xfrm>
            <a:off x="5303520" y="3922776"/>
            <a:ext cx="3383280" cy="274320"/>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FY26: Value fashion = 43% of all net new organised stores opened.</a:t>
            </a:r>
            <a:endParaRPr lang="en-US" sz="950" dirty="0"/>
          </a:p>
        </p:txBody>
      </p:sp>
      <p:sp>
        <p:nvSpPr>
          <p:cNvPr id="12" name="Shape 8"/>
          <p:cNvSpPr/>
          <p:nvPr/>
        </p:nvSpPr>
        <p:spPr>
          <a:xfrm>
            <a:off x="457200" y="4352544"/>
            <a:ext cx="8229600" cy="347472"/>
          </a:xfrm>
          <a:prstGeom prst="roundRect">
            <a:avLst>
              <a:gd name="adj" fmla="val 15789"/>
            </a:avLst>
          </a:prstGeom>
          <a:solidFill>
            <a:srgbClr val="FEF9E7"/>
          </a:solidFill>
          <a:ln w="12700">
            <a:solidFill>
              <a:srgbClr val="D68910"/>
            </a:solidFill>
            <a:prstDash val="solid"/>
          </a:ln>
        </p:spPr>
      </p:sp>
      <p:sp>
        <p:nvSpPr>
          <p:cNvPr id="13" name="Text 9"/>
          <p:cNvSpPr/>
          <p:nvPr/>
        </p:nvSpPr>
        <p:spPr>
          <a:xfrm>
            <a:off x="548640" y="4407408"/>
            <a:ext cx="8046720" cy="237744"/>
          </a:xfrm>
          <a:prstGeom prst="rect">
            <a:avLst/>
          </a:prstGeom>
          <a:noFill/>
          <a:ln/>
        </p:spPr>
        <p:txBody>
          <a:bodyPr wrap="square" lIns="0" tIns="0" rIns="0" bIns="0" rtlCol="0" anchor="ctr"/>
          <a:lstStyle/>
          <a:p>
            <a:pPr algn="l" indent="0" marL="0">
              <a:buNone/>
            </a:pPr>
            <a:r>
              <a:rPr lang="en-US" sz="950" dirty="0">
                <a:solidFill>
                  <a:srgbClr val="7D6608"/>
                </a:solidFill>
                <a:latin typeface="Calibri" pitchFamily="34" charset="0"/>
                <a:ea typeface="Calibri" pitchFamily="34" charset="-122"/>
                <a:cs typeface="Calibri" pitchFamily="34" charset="-120"/>
              </a:rPr>
              <a:t>USD context: FY26 total market ₹10.38 Lakh Cr ≈ $124 billion | FY27P ₹12.17 Lakh Cr ≈ $145 billion — one of the largest clothing markets on earth.</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The Wallet Doesn't Follow the Population</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713232"/>
            <a:ext cx="8229600" cy="320040"/>
          </a:xfrm>
          <a:prstGeom prst="rect">
            <a:avLst/>
          </a:prstGeom>
          <a:noFill/>
          <a:ln/>
        </p:spPr>
        <p:txBody>
          <a:bodyPr wrap="square" lIns="0" tIns="0" rIns="0" bIns="0" rtlCol="0" anchor="ctr"/>
          <a:lstStyle/>
          <a:p>
            <a:pPr algn="l" indent="0" marL="0">
              <a:buNone/>
            </a:pPr>
            <a:r>
              <a:rPr lang="en-US" sz="950" dirty="0">
                <a:solidFill>
                  <a:srgbClr val="5D6D7E"/>
                </a:solidFill>
                <a:latin typeface="Calibri" pitchFamily="34" charset="0"/>
                <a:ea typeface="Calibri" pitchFamily="34" charset="-122"/>
                <a:cs typeface="Calibri" pitchFamily="34" charset="-120"/>
              </a:rPr>
              <a:t>Spending power is concentrated in T3/T4+ — not where most organised stores exist today.</a:t>
            </a:r>
            <a:endParaRPr lang="en-US" sz="950" dirty="0"/>
          </a:p>
        </p:txBody>
      </p:sp>
      <p:sp>
        <p:nvSpPr>
          <p:cNvPr id="5" name="Text 3"/>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6" name="Text 4"/>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5</a:t>
            </a:r>
            <a:endParaRPr lang="en-US" sz="750" dirty="0"/>
          </a:p>
        </p:txBody>
      </p:sp>
      <p:sp>
        <p:nvSpPr>
          <p:cNvPr id="7" name="Text 5"/>
          <p:cNvSpPr/>
          <p:nvPr/>
        </p:nvSpPr>
        <p:spPr>
          <a:xfrm>
            <a:off x="457200" y="1051560"/>
            <a:ext cx="8229600" cy="256032"/>
          </a:xfrm>
          <a:prstGeom prst="rect">
            <a:avLst/>
          </a:prstGeom>
          <a:noFill/>
          <a:ln/>
        </p:spPr>
        <p:txBody>
          <a:bodyPr wrap="square" lIns="0" tIns="0" rIns="0" bIns="0" rtlCol="0" anchor="ctr"/>
          <a:lstStyle/>
          <a:p>
            <a:pPr indent="0" marL="0">
              <a:buNone/>
            </a:pPr>
            <a:r>
              <a:rPr lang="en-US" sz="850" i="1" dirty="0">
                <a:solidFill>
                  <a:srgbClr val="5D6D7E"/>
                </a:solidFill>
                <a:latin typeface="Calibri" pitchFamily="34" charset="0"/>
                <a:ea typeface="Calibri" pitchFamily="34" charset="-122"/>
                <a:cs typeface="Calibri" pitchFamily="34" charset="-120"/>
              </a:rPr>
              <a:t>How to read the tiers: Metro = Mumbai, Delhi, Bangalore · T1 = Pune, Ahmedabad, Jaipur · T2/T3 = mid-sized and smaller cities · T4+ = smaller towns with growing economies</a:t>
            </a:r>
            <a:endParaRPr lang="en-US" sz="850" dirty="0"/>
          </a:p>
        </p:txBody>
      </p:sp>
      <p:graphicFrame>
        <p:nvGraphicFramePr>
          <p:cNvPr id="8" name="Chart 0" descr=""/>
          <p:cNvGraphicFramePr/>
          <p:nvPr/>
        </p:nvGraphicFramePr>
        <p:xfrm>
          <a:off x="457200" y="1389888"/>
          <a:ext cx="4114800" cy="260604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Chart 1" descr=""/>
          <p:cNvGraphicFramePr/>
          <p:nvPr/>
        </p:nvGraphicFramePr>
        <p:xfrm>
          <a:off x="4754880" y="1389888"/>
          <a:ext cx="4023360" cy="260604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457200" y="4087368"/>
            <a:ext cx="4114800" cy="457200"/>
          </a:xfrm>
          <a:prstGeom prst="roundRect">
            <a:avLst>
              <a:gd name="adj" fmla="val 14000"/>
            </a:avLst>
          </a:prstGeom>
          <a:solidFill>
            <a:srgbClr val="E9F7EF"/>
          </a:solidFill>
          <a:ln w="19050">
            <a:solidFill>
              <a:srgbClr val="1E8449"/>
            </a:solidFill>
            <a:prstDash val="solid"/>
          </a:ln>
        </p:spPr>
      </p:sp>
      <p:sp>
        <p:nvSpPr>
          <p:cNvPr id="11" name="Text 7"/>
          <p:cNvSpPr/>
          <p:nvPr/>
        </p:nvSpPr>
        <p:spPr>
          <a:xfrm>
            <a:off x="548640" y="4151376"/>
            <a:ext cx="3931920" cy="329184"/>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T4+ holds 35% of India's clothing spending — larger than any other single tier. Organised retail has barely gone there.</a:t>
            </a:r>
            <a:endParaRPr lang="en-US" sz="950" dirty="0"/>
          </a:p>
        </p:txBody>
      </p:sp>
      <p:sp>
        <p:nvSpPr>
          <p:cNvPr id="12" name="Shape 8"/>
          <p:cNvSpPr/>
          <p:nvPr/>
        </p:nvSpPr>
        <p:spPr>
          <a:xfrm>
            <a:off x="4754880" y="4087368"/>
            <a:ext cx="4023360" cy="457200"/>
          </a:xfrm>
          <a:prstGeom prst="roundRect">
            <a:avLst>
              <a:gd name="adj" fmla="val 14000"/>
            </a:avLst>
          </a:prstGeom>
          <a:solidFill>
            <a:srgbClr val="EBF3FB"/>
          </a:solidFill>
          <a:ln w="12700">
            <a:solidFill>
              <a:srgbClr val="185FA5"/>
            </a:solidFill>
            <a:prstDash val="solid"/>
          </a:ln>
        </p:spPr>
      </p:sp>
      <p:sp>
        <p:nvSpPr>
          <p:cNvPr id="13" name="Text 9"/>
          <p:cNvSpPr/>
          <p:nvPr/>
        </p:nvSpPr>
        <p:spPr>
          <a:xfrm>
            <a:off x="4864608" y="4114800"/>
            <a:ext cx="3803904" cy="402336"/>
          </a:xfrm>
          <a:prstGeom prst="rect">
            <a:avLst/>
          </a:prstGeom>
          <a:noFill/>
          <a:ln/>
        </p:spPr>
        <p:txBody>
          <a:bodyPr wrap="square" lIns="0" tIns="0" rIns="0" bIns="0" rtlCol="0" anchor="ctr"/>
          <a:lstStyle/>
          <a:p>
            <a:pPr indent="0" marL="0">
              <a:buNone/>
            </a:pPr>
            <a:r>
              <a:rPr lang="en-US" sz="950" dirty="0">
                <a:solidFill>
                  <a:srgbClr val="1A2B4A"/>
                </a:solidFill>
                <a:latin typeface="Calibri" pitchFamily="34" charset="0"/>
                <a:ea typeface="Calibri" pitchFamily="34" charset="-122"/>
                <a:cs typeface="Calibri" pitchFamily="34" charset="-120"/>
              </a:rPr>
              <a:t>Wallet and population both sit in lower tiers — but organised retail does NOT follow. That mismatch is the investment opportunity.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Value Fashion: Where the Tailwind is Strongest</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713232"/>
            <a:ext cx="8229600" cy="320040"/>
          </a:xfrm>
          <a:prstGeom prst="rect">
            <a:avLst/>
          </a:prstGeom>
          <a:noFill/>
          <a:ln/>
        </p:spPr>
        <p:txBody>
          <a:bodyPr wrap="square" lIns="0" tIns="0" rIns="0" bIns="0" rtlCol="0" anchor="ctr"/>
          <a:lstStyle/>
          <a:p>
            <a:pPr algn="l" indent="0" marL="0">
              <a:buNone/>
            </a:pPr>
            <a:r>
              <a:rPr lang="en-US" sz="950" dirty="0">
                <a:solidFill>
                  <a:srgbClr val="5D6D7E"/>
                </a:solidFill>
                <a:latin typeface="Calibri" pitchFamily="34" charset="0"/>
                <a:ea typeface="Calibri" pitchFamily="34" charset="-122"/>
                <a:cs typeface="Calibri" pitchFamily="34" charset="-120"/>
              </a:rPr>
              <a:t>28% Market Share · 13.7% Annual Growth · Only 5 Major National Listed Players</a:t>
            </a:r>
            <a:endParaRPr lang="en-US" sz="950" dirty="0"/>
          </a:p>
        </p:txBody>
      </p:sp>
      <p:sp>
        <p:nvSpPr>
          <p:cNvPr id="5" name="Text 3"/>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6" name="Text 4"/>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6</a:t>
            </a:r>
            <a:endParaRPr lang="en-US" sz="750" dirty="0"/>
          </a:p>
        </p:txBody>
      </p:sp>
      <p:graphicFrame>
        <p:nvGraphicFramePr>
          <p:cNvPr id="7" name="Chart 0" descr=""/>
          <p:cNvGraphicFramePr/>
          <p:nvPr/>
        </p:nvGraphicFramePr>
        <p:xfrm>
          <a:off x="457200" y="1078992"/>
          <a:ext cx="4754880" cy="2542032"/>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57200" y="3703320"/>
            <a:ext cx="4754880" cy="402336"/>
          </a:xfrm>
          <a:prstGeom prst="roundRect">
            <a:avLst>
              <a:gd name="adj" fmla="val 15909"/>
            </a:avLst>
          </a:prstGeom>
          <a:solidFill>
            <a:srgbClr val="E9F7EF"/>
          </a:solidFill>
          <a:ln w="19050">
            <a:solidFill>
              <a:srgbClr val="1E8449"/>
            </a:solidFill>
            <a:prstDash val="solid"/>
          </a:ln>
        </p:spPr>
      </p:sp>
      <p:sp>
        <p:nvSpPr>
          <p:cNvPr id="9" name="Text 6"/>
          <p:cNvSpPr/>
          <p:nvPr/>
        </p:nvSpPr>
        <p:spPr>
          <a:xfrm>
            <a:off x="548640" y="3767328"/>
            <a:ext cx="4572000" cy="274320"/>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Value holds 27–29% share consistently — the single largest segment. Growing at 13.7% per year through organised channels.</a:t>
            </a:r>
            <a:endParaRPr lang="en-US" sz="950" dirty="0"/>
          </a:p>
        </p:txBody>
      </p:sp>
      <p:sp>
        <p:nvSpPr>
          <p:cNvPr id="10" name="Shape 7"/>
          <p:cNvSpPr/>
          <p:nvPr/>
        </p:nvSpPr>
        <p:spPr>
          <a:xfrm>
            <a:off x="5394960" y="1115568"/>
            <a:ext cx="1078992" cy="868680"/>
          </a:xfrm>
          <a:prstGeom prst="roundRect">
            <a:avLst>
              <a:gd name="adj" fmla="val 8421"/>
            </a:avLst>
          </a:prstGeom>
          <a:solidFill>
            <a:srgbClr val="1A2B4A"/>
          </a:solidFill>
          <a:ln/>
          <a:effectLst>
            <a:outerShdw sx="100000" sy="100000" kx="0" ky="0" algn="bl" rotWithShape="0" blurRad="101600" dist="25400" dir="2700000">
              <a:srgbClr val="000000">
                <a:alpha val="10000"/>
              </a:srgbClr>
            </a:outerShdw>
          </a:effectLst>
        </p:spPr>
      </p:sp>
      <p:sp>
        <p:nvSpPr>
          <p:cNvPr id="11" name="Text 8"/>
          <p:cNvSpPr/>
          <p:nvPr/>
        </p:nvSpPr>
        <p:spPr>
          <a:xfrm>
            <a:off x="5394960" y="1143000"/>
            <a:ext cx="1078992" cy="475488"/>
          </a:xfrm>
          <a:prstGeom prst="rect">
            <a:avLst/>
          </a:prstGeom>
          <a:noFill/>
          <a:ln/>
        </p:spPr>
        <p:txBody>
          <a:bodyPr wrap="square" lIns="0" tIns="0" rIns="0" bIns="0" rtlCol="0" anchor="ctr"/>
          <a:lstStyle/>
          <a:p>
            <a:pPr algn="ctr" indent="0" marL="0">
              <a:buNone/>
            </a:pPr>
            <a:r>
              <a:rPr lang="en-US" sz="1900" b="1" dirty="0">
                <a:solidFill>
                  <a:srgbClr val="00A896"/>
                </a:solidFill>
                <a:latin typeface="Cambria" pitchFamily="34" charset="0"/>
                <a:ea typeface="Cambria" pitchFamily="34" charset="-122"/>
                <a:cs typeface="Cambria" pitchFamily="34" charset="-120"/>
              </a:rPr>
              <a:t>28%</a:t>
            </a:r>
            <a:endParaRPr lang="en-US" sz="1900" dirty="0"/>
          </a:p>
        </p:txBody>
      </p:sp>
      <p:sp>
        <p:nvSpPr>
          <p:cNvPr id="12" name="Text 9"/>
          <p:cNvSpPr/>
          <p:nvPr/>
        </p:nvSpPr>
        <p:spPr>
          <a:xfrm>
            <a:off x="5394960" y="1618488"/>
            <a:ext cx="1078992"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Market Share</a:t>
            </a:r>
            <a:endParaRPr lang="en-US" sz="800" dirty="0"/>
          </a:p>
        </p:txBody>
      </p:sp>
      <p:sp>
        <p:nvSpPr>
          <p:cNvPr id="13" name="Shape 10"/>
          <p:cNvSpPr/>
          <p:nvPr/>
        </p:nvSpPr>
        <p:spPr>
          <a:xfrm>
            <a:off x="6583680" y="1115568"/>
            <a:ext cx="1078992" cy="868680"/>
          </a:xfrm>
          <a:prstGeom prst="roundRect">
            <a:avLst>
              <a:gd name="adj" fmla="val 8421"/>
            </a:avLst>
          </a:prstGeom>
          <a:solidFill>
            <a:srgbClr val="1A2B4A"/>
          </a:solidFill>
          <a:ln/>
          <a:effectLst>
            <a:outerShdw sx="100000" sy="100000" kx="0" ky="0" algn="bl" rotWithShape="0" blurRad="101600" dist="25400" dir="2700000">
              <a:srgbClr val="000000">
                <a:alpha val="10000"/>
              </a:srgbClr>
            </a:outerShdw>
          </a:effectLst>
        </p:spPr>
      </p:sp>
      <p:sp>
        <p:nvSpPr>
          <p:cNvPr id="14" name="Text 11"/>
          <p:cNvSpPr/>
          <p:nvPr/>
        </p:nvSpPr>
        <p:spPr>
          <a:xfrm>
            <a:off x="6583680" y="1143000"/>
            <a:ext cx="1078992" cy="475488"/>
          </a:xfrm>
          <a:prstGeom prst="rect">
            <a:avLst/>
          </a:prstGeom>
          <a:noFill/>
          <a:ln/>
        </p:spPr>
        <p:txBody>
          <a:bodyPr wrap="square" lIns="0" tIns="0" rIns="0" bIns="0" rtlCol="0" anchor="ctr"/>
          <a:lstStyle/>
          <a:p>
            <a:pPr algn="ctr" indent="0" marL="0">
              <a:buNone/>
            </a:pPr>
            <a:r>
              <a:rPr lang="en-US" sz="1900" b="1" dirty="0">
                <a:solidFill>
                  <a:srgbClr val="00A896"/>
                </a:solidFill>
                <a:latin typeface="Cambria" pitchFamily="34" charset="0"/>
                <a:ea typeface="Cambria" pitchFamily="34" charset="-122"/>
                <a:cs typeface="Cambria" pitchFamily="34" charset="-120"/>
              </a:rPr>
              <a:t>13.7%</a:t>
            </a:r>
            <a:endParaRPr lang="en-US" sz="1900" dirty="0"/>
          </a:p>
        </p:txBody>
      </p:sp>
      <p:sp>
        <p:nvSpPr>
          <p:cNvPr id="15" name="Text 12"/>
          <p:cNvSpPr/>
          <p:nvPr/>
        </p:nvSpPr>
        <p:spPr>
          <a:xfrm>
            <a:off x="6583680" y="1618488"/>
            <a:ext cx="1078992"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Annual Growth</a:t>
            </a:r>
            <a:endParaRPr lang="en-US" sz="800" dirty="0"/>
          </a:p>
        </p:txBody>
      </p:sp>
      <p:sp>
        <p:nvSpPr>
          <p:cNvPr id="16" name="Shape 13"/>
          <p:cNvSpPr/>
          <p:nvPr/>
        </p:nvSpPr>
        <p:spPr>
          <a:xfrm>
            <a:off x="7772400" y="1115568"/>
            <a:ext cx="1078992" cy="868680"/>
          </a:xfrm>
          <a:prstGeom prst="roundRect">
            <a:avLst>
              <a:gd name="adj" fmla="val 8421"/>
            </a:avLst>
          </a:prstGeom>
          <a:solidFill>
            <a:srgbClr val="1A2B4A"/>
          </a:solidFill>
          <a:ln/>
          <a:effectLst>
            <a:outerShdw sx="100000" sy="100000" kx="0" ky="0" algn="bl" rotWithShape="0" blurRad="101600" dist="25400" dir="2700000">
              <a:srgbClr val="000000">
                <a:alpha val="10000"/>
              </a:srgbClr>
            </a:outerShdw>
          </a:effectLst>
        </p:spPr>
      </p:sp>
      <p:sp>
        <p:nvSpPr>
          <p:cNvPr id="17" name="Text 14"/>
          <p:cNvSpPr/>
          <p:nvPr/>
        </p:nvSpPr>
        <p:spPr>
          <a:xfrm>
            <a:off x="7772400" y="1143000"/>
            <a:ext cx="1078992" cy="475488"/>
          </a:xfrm>
          <a:prstGeom prst="rect">
            <a:avLst/>
          </a:prstGeom>
          <a:noFill/>
          <a:ln/>
        </p:spPr>
        <p:txBody>
          <a:bodyPr wrap="square" lIns="0" tIns="0" rIns="0" bIns="0" rtlCol="0" anchor="ctr"/>
          <a:lstStyle/>
          <a:p>
            <a:pPr algn="ctr" indent="0" marL="0">
              <a:buNone/>
            </a:pPr>
            <a:r>
              <a:rPr lang="en-US" sz="1900" b="1" dirty="0">
                <a:solidFill>
                  <a:srgbClr val="00A896"/>
                </a:solidFill>
                <a:latin typeface="Cambria" pitchFamily="34" charset="0"/>
                <a:ea typeface="Cambria" pitchFamily="34" charset="-122"/>
                <a:cs typeface="Cambria" pitchFamily="34" charset="-120"/>
              </a:rPr>
              <a:t>5</a:t>
            </a:r>
            <a:endParaRPr lang="en-US" sz="1900" dirty="0"/>
          </a:p>
        </p:txBody>
      </p:sp>
      <p:sp>
        <p:nvSpPr>
          <p:cNvPr id="18" name="Text 15"/>
          <p:cNvSpPr/>
          <p:nvPr/>
        </p:nvSpPr>
        <p:spPr>
          <a:xfrm>
            <a:off x="7772400" y="1618488"/>
            <a:ext cx="1078992"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Major Listed Players</a:t>
            </a:r>
            <a:endParaRPr lang="en-US" sz="800" dirty="0"/>
          </a:p>
        </p:txBody>
      </p:sp>
      <p:graphicFrame>
        <p:nvGraphicFramePr>
          <p:cNvPr id="19" name="Chart 1" descr=""/>
          <p:cNvGraphicFramePr/>
          <p:nvPr/>
        </p:nvGraphicFramePr>
        <p:xfrm>
          <a:off x="5394960" y="2148840"/>
          <a:ext cx="3383280" cy="1508760"/>
        </p:xfrm>
        <a:graphic xmlns:a="http://schemas.openxmlformats.org/drawingml/2006/main">
          <a:graphicData uri="http://schemas.openxmlformats.org/drawingml/2006/chart">
            <c:chart xmlns:c="http://schemas.openxmlformats.org/drawingml/2006/chart" r:id="rId2"/>
          </a:graphicData>
        </a:graphic>
      </p:graphicFrame>
      <p:sp>
        <p:nvSpPr>
          <p:cNvPr id="20" name="Shape 16"/>
          <p:cNvSpPr/>
          <p:nvPr/>
        </p:nvSpPr>
        <p:spPr>
          <a:xfrm>
            <a:off x="5394960" y="3749040"/>
            <a:ext cx="3383280" cy="347472"/>
          </a:xfrm>
          <a:prstGeom prst="roundRect">
            <a:avLst>
              <a:gd name="adj" fmla="val 18421"/>
            </a:avLst>
          </a:prstGeom>
          <a:solidFill>
            <a:srgbClr val="E9F7EF"/>
          </a:solidFill>
          <a:ln w="19050">
            <a:solidFill>
              <a:srgbClr val="1E8449"/>
            </a:solidFill>
            <a:prstDash val="solid"/>
          </a:ln>
        </p:spPr>
      </p:sp>
      <p:sp>
        <p:nvSpPr>
          <p:cNvPr id="21" name="Text 17"/>
          <p:cNvSpPr/>
          <p:nvPr/>
        </p:nvSpPr>
        <p:spPr>
          <a:xfrm>
            <a:off x="5486400" y="3813048"/>
            <a:ext cx="3200400" cy="219456"/>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28% annual growth in organised Value Fashion penetration.</a:t>
            </a:r>
            <a:endParaRPr lang="en-US" sz="950" dirty="0"/>
          </a:p>
        </p:txBody>
      </p:sp>
      <p:sp>
        <p:nvSpPr>
          <p:cNvPr id="22" name="Shape 18"/>
          <p:cNvSpPr/>
          <p:nvPr/>
        </p:nvSpPr>
        <p:spPr>
          <a:xfrm>
            <a:off x="5394960" y="4169664"/>
            <a:ext cx="3383280" cy="530352"/>
          </a:xfrm>
          <a:prstGeom prst="roundRect">
            <a:avLst>
              <a:gd name="adj" fmla="val 10345"/>
            </a:avLst>
          </a:prstGeom>
          <a:solidFill>
            <a:srgbClr val="FEF9E7"/>
          </a:solidFill>
          <a:ln w="12700">
            <a:solidFill>
              <a:srgbClr val="D68910"/>
            </a:solidFill>
            <a:prstDash val="solid"/>
          </a:ln>
        </p:spPr>
      </p:sp>
      <p:sp>
        <p:nvSpPr>
          <p:cNvPr id="23" name="Text 19"/>
          <p:cNvSpPr/>
          <p:nvPr/>
        </p:nvSpPr>
        <p:spPr>
          <a:xfrm>
            <a:off x="5486400" y="4224528"/>
            <a:ext cx="3200400" cy="420624"/>
          </a:xfrm>
          <a:prstGeom prst="rect">
            <a:avLst/>
          </a:prstGeom>
          <a:noFill/>
          <a:ln/>
        </p:spPr>
        <p:txBody>
          <a:bodyPr wrap="square" lIns="0" tIns="0" rIns="0" bIns="0" rtlCol="0" anchor="ctr"/>
          <a:lstStyle/>
          <a:p>
            <a:pPr algn="l" indent="0" marL="0">
              <a:buNone/>
            </a:pPr>
            <a:r>
              <a:rPr lang="en-US" sz="950" dirty="0">
                <a:solidFill>
                  <a:srgbClr val="7D6608"/>
                </a:solidFill>
                <a:latin typeface="Calibri" pitchFamily="34" charset="0"/>
                <a:ea typeface="Calibri" pitchFamily="34" charset="-122"/>
                <a:cs typeface="Calibri" pitchFamily="34" charset="-120"/>
              </a:rPr>
              <a:t>USD: FY25 ₹30,938 Cr ≈ $3.7B</a:t>
            </a:r>
            <a:endParaRPr lang="en-US" sz="950" dirty="0"/>
          </a:p>
          <a:p>
            <a:pPr algn="l" indent="0" marL="0">
              <a:buNone/>
            </a:pPr>
            <a:r>
              <a:rPr lang="en-US" sz="950" dirty="0">
                <a:solidFill>
                  <a:srgbClr val="7D6608"/>
                </a:solidFill>
                <a:latin typeface="Calibri" pitchFamily="34" charset="0"/>
                <a:ea typeface="Calibri" pitchFamily="34" charset="-122"/>
                <a:cs typeface="Calibri" pitchFamily="34" charset="-120"/>
              </a:rPr>
              <a:t>FY26 ₹37,888 Cr ≈ $4.5B</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Value Fashion: Where the Tailwind is Strongest</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713232"/>
            <a:ext cx="8229600" cy="320040"/>
          </a:xfrm>
          <a:prstGeom prst="rect">
            <a:avLst/>
          </a:prstGeom>
          <a:noFill/>
          <a:ln/>
        </p:spPr>
        <p:txBody>
          <a:bodyPr wrap="square" lIns="0" tIns="0" rIns="0" bIns="0" rtlCol="0" anchor="ctr"/>
          <a:lstStyle/>
          <a:p>
            <a:pPr algn="l" indent="0" marL="0">
              <a:buNone/>
            </a:pPr>
            <a:r>
              <a:rPr lang="en-US" sz="950" dirty="0">
                <a:solidFill>
                  <a:srgbClr val="5D6D7E"/>
                </a:solidFill>
                <a:latin typeface="Calibri" pitchFamily="34" charset="0"/>
                <a:ea typeface="Calibri" pitchFamily="34" charset="-122"/>
                <a:cs typeface="Calibri" pitchFamily="34" charset="-120"/>
              </a:rPr>
              <a:t>Value comes up with fewer players — 42 brands fight in Mid-Market vs only 15 in Value</a:t>
            </a:r>
            <a:endParaRPr lang="en-US" sz="950" dirty="0"/>
          </a:p>
        </p:txBody>
      </p:sp>
      <p:sp>
        <p:nvSpPr>
          <p:cNvPr id="5" name="Text 3"/>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6" name="Text 4"/>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7</a:t>
            </a:r>
            <a:endParaRPr lang="en-US" sz="750" dirty="0"/>
          </a:p>
        </p:txBody>
      </p:sp>
      <p:graphicFrame>
        <p:nvGraphicFramePr>
          <p:cNvPr id="7" name="Chart 0" descr=""/>
          <p:cNvGraphicFramePr/>
          <p:nvPr/>
        </p:nvGraphicFramePr>
        <p:xfrm>
          <a:off x="457200" y="1115568"/>
          <a:ext cx="4114800" cy="2852928"/>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57200" y="4041648"/>
            <a:ext cx="1920240" cy="438912"/>
          </a:xfrm>
          <a:prstGeom prst="roundRect">
            <a:avLst>
              <a:gd name="adj" fmla="val 14583"/>
            </a:avLst>
          </a:prstGeom>
          <a:solidFill>
            <a:srgbClr val="E9F7EF"/>
          </a:solidFill>
          <a:ln w="19050">
            <a:solidFill>
              <a:srgbClr val="1E8449"/>
            </a:solidFill>
            <a:prstDash val="solid"/>
          </a:ln>
        </p:spPr>
      </p:sp>
      <p:sp>
        <p:nvSpPr>
          <p:cNvPr id="9" name="Text 6"/>
          <p:cNvSpPr/>
          <p:nvPr/>
        </p:nvSpPr>
        <p:spPr>
          <a:xfrm>
            <a:off x="548640" y="4105656"/>
            <a:ext cx="1737360" cy="310896"/>
          </a:xfrm>
          <a:prstGeom prst="rect">
            <a:avLst/>
          </a:prstGeom>
          <a:noFill/>
          <a:ln/>
        </p:spPr>
        <p:txBody>
          <a:bodyPr wrap="square" lIns="0" tIns="0" rIns="0" bIns="0" rtlCol="0" anchor="ctr"/>
          <a:lstStyle/>
          <a:p>
            <a:pPr algn="l" indent="0" marL="0">
              <a:buNone/>
            </a:pPr>
            <a:r>
              <a:rPr lang="en-US" sz="1000" dirty="0">
                <a:solidFill>
                  <a:srgbClr val="145A32"/>
                </a:solidFill>
                <a:latin typeface="Calibri" pitchFamily="34" charset="0"/>
                <a:ea typeface="Calibri" pitchFamily="34" charset="-122"/>
                <a:cs typeface="Calibri" pitchFamily="34" charset="-120"/>
              </a:rPr>
              <a:t>✓ Value: only 15 brands</a:t>
            </a:r>
            <a:endParaRPr lang="en-US" sz="1000" dirty="0"/>
          </a:p>
        </p:txBody>
      </p:sp>
      <p:sp>
        <p:nvSpPr>
          <p:cNvPr id="10" name="Shape 7"/>
          <p:cNvSpPr/>
          <p:nvPr/>
        </p:nvSpPr>
        <p:spPr>
          <a:xfrm>
            <a:off x="2468880" y="4041648"/>
            <a:ext cx="2103120" cy="438912"/>
          </a:xfrm>
          <a:prstGeom prst="roundRect">
            <a:avLst>
              <a:gd name="adj" fmla="val 14583"/>
            </a:avLst>
          </a:prstGeom>
          <a:solidFill>
            <a:srgbClr val="FDEDEC"/>
          </a:solidFill>
          <a:ln w="19050">
            <a:solidFill>
              <a:srgbClr val="C0392B"/>
            </a:solidFill>
            <a:prstDash val="solid"/>
          </a:ln>
        </p:spPr>
      </p:sp>
      <p:sp>
        <p:nvSpPr>
          <p:cNvPr id="11" name="Text 8"/>
          <p:cNvSpPr/>
          <p:nvPr/>
        </p:nvSpPr>
        <p:spPr>
          <a:xfrm>
            <a:off x="2560320" y="4105656"/>
            <a:ext cx="1920240" cy="310896"/>
          </a:xfrm>
          <a:prstGeom prst="rect">
            <a:avLst/>
          </a:prstGeom>
          <a:noFill/>
          <a:ln/>
        </p:spPr>
        <p:txBody>
          <a:bodyPr wrap="square" lIns="0" tIns="0" rIns="0" bIns="0" rtlCol="0" anchor="ctr"/>
          <a:lstStyle/>
          <a:p>
            <a:pPr algn="l" indent="0" marL="0">
              <a:buNone/>
            </a:pPr>
            <a:r>
              <a:rPr lang="en-US" sz="1000" dirty="0">
                <a:solidFill>
                  <a:srgbClr val="7B241C"/>
                </a:solidFill>
                <a:latin typeface="Calibri" pitchFamily="34" charset="0"/>
                <a:ea typeface="Calibri" pitchFamily="34" charset="-122"/>
                <a:cs typeface="Calibri" pitchFamily="34" charset="-120"/>
              </a:rPr>
              <a:t>✗ Mid-Market: 42 brands</a:t>
            </a:r>
            <a:endParaRPr lang="en-US" sz="1000" dirty="0"/>
          </a:p>
        </p:txBody>
      </p:sp>
      <p:graphicFrame>
        <p:nvGraphicFramePr>
          <p:cNvPr id="12" name="Chart 1" descr=""/>
          <p:cNvGraphicFramePr/>
          <p:nvPr/>
        </p:nvGraphicFramePr>
        <p:xfrm>
          <a:off x="4754880" y="1115568"/>
          <a:ext cx="4023360" cy="2852928"/>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a:off x="4754880" y="4041648"/>
            <a:ext cx="4023360" cy="438912"/>
          </a:xfrm>
          <a:prstGeom prst="roundRect">
            <a:avLst>
              <a:gd name="adj" fmla="val 14583"/>
            </a:avLst>
          </a:prstGeom>
          <a:solidFill>
            <a:srgbClr val="E9F7EF"/>
          </a:solidFill>
          <a:ln w="19050">
            <a:solidFill>
              <a:srgbClr val="1E8449"/>
            </a:solidFill>
            <a:prstDash val="solid"/>
          </a:ln>
        </p:spPr>
      </p:sp>
      <p:sp>
        <p:nvSpPr>
          <p:cNvPr id="14" name="Text 10"/>
          <p:cNvSpPr/>
          <p:nvPr/>
        </p:nvSpPr>
        <p:spPr>
          <a:xfrm>
            <a:off x="4846320" y="4105656"/>
            <a:ext cx="3840480" cy="310896"/>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Listed players earn significantly MORE revenue per store in Value Fashion than their unlisted peers.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The Wallet and the Stores Are in Different Places</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713232"/>
            <a:ext cx="8229600" cy="320040"/>
          </a:xfrm>
          <a:prstGeom prst="rect">
            <a:avLst/>
          </a:prstGeom>
          <a:noFill/>
          <a:ln/>
        </p:spPr>
        <p:txBody>
          <a:bodyPr wrap="square" lIns="0" tIns="0" rIns="0" bIns="0" rtlCol="0" anchor="ctr"/>
          <a:lstStyle/>
          <a:p>
            <a:pPr algn="l" indent="0" marL="0">
              <a:buNone/>
            </a:pPr>
            <a:r>
              <a:rPr lang="en-US" sz="950" dirty="0">
                <a:solidFill>
                  <a:srgbClr val="5D6D7E"/>
                </a:solidFill>
                <a:latin typeface="Calibri" pitchFamily="34" charset="0"/>
                <a:ea typeface="Calibri" pitchFamily="34" charset="-122"/>
                <a:cs typeface="Calibri" pitchFamily="34" charset="-120"/>
              </a:rPr>
              <a:t>Metro: Over-indexed — 32% of stores, only 15% of wallet.    T2+T3: Under-indexed — 37% of stores, 41% of wallet.</a:t>
            </a:r>
            <a:endParaRPr lang="en-US" sz="950" dirty="0"/>
          </a:p>
        </p:txBody>
      </p:sp>
      <p:sp>
        <p:nvSpPr>
          <p:cNvPr id="5" name="Text 3"/>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6" name="Text 4"/>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8</a:t>
            </a:r>
            <a:endParaRPr lang="en-US" sz="750" dirty="0"/>
          </a:p>
        </p:txBody>
      </p:sp>
      <p:graphicFrame>
        <p:nvGraphicFramePr>
          <p:cNvPr id="7" name="Chart 0" descr=""/>
          <p:cNvGraphicFramePr/>
          <p:nvPr/>
        </p:nvGraphicFramePr>
        <p:xfrm>
          <a:off x="457200" y="1170432"/>
          <a:ext cx="8229600" cy="3182112"/>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57200" y="4462272"/>
            <a:ext cx="3931920" cy="384048"/>
          </a:xfrm>
          <a:prstGeom prst="roundRect">
            <a:avLst>
              <a:gd name="adj" fmla="val 16667"/>
            </a:avLst>
          </a:prstGeom>
          <a:solidFill>
            <a:srgbClr val="FDEDEC"/>
          </a:solidFill>
          <a:ln w="19050">
            <a:solidFill>
              <a:srgbClr val="C0392B"/>
            </a:solidFill>
            <a:prstDash val="solid"/>
          </a:ln>
        </p:spPr>
      </p:sp>
      <p:sp>
        <p:nvSpPr>
          <p:cNvPr id="9" name="Text 6"/>
          <p:cNvSpPr/>
          <p:nvPr/>
        </p:nvSpPr>
        <p:spPr>
          <a:xfrm>
            <a:off x="548640" y="4526280"/>
            <a:ext cx="3749040" cy="256032"/>
          </a:xfrm>
          <a:prstGeom prst="rect">
            <a:avLst/>
          </a:prstGeom>
          <a:noFill/>
          <a:ln/>
        </p:spPr>
        <p:txBody>
          <a:bodyPr wrap="square" lIns="0" tIns="0" rIns="0" bIns="0" rtlCol="0" anchor="ctr"/>
          <a:lstStyle/>
          <a:p>
            <a:pPr algn="l" indent="0" marL="0">
              <a:buNone/>
            </a:pPr>
            <a:r>
              <a:rPr lang="en-US" sz="950" dirty="0">
                <a:solidFill>
                  <a:srgbClr val="7B241C"/>
                </a:solidFill>
                <a:latin typeface="Calibri" pitchFamily="34" charset="0"/>
                <a:ea typeface="Calibri" pitchFamily="34" charset="-122"/>
                <a:cs typeface="Calibri" pitchFamily="34" charset="-120"/>
              </a:rPr>
              <a:t>← Metro: 32% of stores for just 15% of spending. Over-invested relative to the opportunity.</a:t>
            </a:r>
            <a:endParaRPr lang="en-US" sz="950" dirty="0"/>
          </a:p>
        </p:txBody>
      </p:sp>
      <p:sp>
        <p:nvSpPr>
          <p:cNvPr id="10" name="Shape 7"/>
          <p:cNvSpPr/>
          <p:nvPr/>
        </p:nvSpPr>
        <p:spPr>
          <a:xfrm>
            <a:off x="4480560" y="4462272"/>
            <a:ext cx="4206240" cy="384048"/>
          </a:xfrm>
          <a:prstGeom prst="roundRect">
            <a:avLst>
              <a:gd name="adj" fmla="val 16667"/>
            </a:avLst>
          </a:prstGeom>
          <a:solidFill>
            <a:srgbClr val="E9F7EF"/>
          </a:solidFill>
          <a:ln w="19050">
            <a:solidFill>
              <a:srgbClr val="1E8449"/>
            </a:solidFill>
            <a:prstDash val="solid"/>
          </a:ln>
        </p:spPr>
      </p:sp>
      <p:sp>
        <p:nvSpPr>
          <p:cNvPr id="11" name="Text 8"/>
          <p:cNvSpPr/>
          <p:nvPr/>
        </p:nvSpPr>
        <p:spPr>
          <a:xfrm>
            <a:off x="4572000" y="4526280"/>
            <a:ext cx="4023360" cy="256032"/>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T3: 24% of spending but only 16% of stores. 79% of T3 potential is still untouched.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The Thesis: One Sentence, Then the Evidence</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5" name="Text 3"/>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10</a:t>
            </a:r>
            <a:endParaRPr lang="en-US" sz="750" dirty="0"/>
          </a:p>
        </p:txBody>
      </p:sp>
      <p:sp>
        <p:nvSpPr>
          <p:cNvPr id="6" name="Shape 4"/>
          <p:cNvSpPr/>
          <p:nvPr/>
        </p:nvSpPr>
        <p:spPr>
          <a:xfrm>
            <a:off x="457200" y="932688"/>
            <a:ext cx="8229600" cy="713232"/>
          </a:xfrm>
          <a:prstGeom prst="roundRect">
            <a:avLst>
              <a:gd name="adj" fmla="val 12821"/>
            </a:avLst>
          </a:prstGeom>
          <a:solidFill>
            <a:srgbClr val="1A2B4A"/>
          </a:solidFill>
          <a:ln/>
        </p:spPr>
      </p:sp>
      <p:sp>
        <p:nvSpPr>
          <p:cNvPr id="7" name="Text 5"/>
          <p:cNvSpPr/>
          <p:nvPr/>
        </p:nvSpPr>
        <p:spPr>
          <a:xfrm>
            <a:off x="594360" y="960120"/>
            <a:ext cx="7955280" cy="65836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T2/T3 cities hold 42% of India's clothing spending — roughly ₹3.5 Lakh Crore (~$42 billion) — but receive half the organised store density per rupee of spending compared to Metro cities. Value fashion is the only format that can close this gap profitably at scale.</a:t>
            </a:r>
            <a:endParaRPr lang="en-US" sz="1100" dirty="0"/>
          </a:p>
        </p:txBody>
      </p:sp>
      <p:sp>
        <p:nvSpPr>
          <p:cNvPr id="8" name="Shape 6"/>
          <p:cNvSpPr/>
          <p:nvPr/>
        </p:nvSpPr>
        <p:spPr>
          <a:xfrm>
            <a:off x="457200" y="1783080"/>
            <a:ext cx="2697480" cy="2578608"/>
          </a:xfrm>
          <a:prstGeom prst="roundRect">
            <a:avLst>
              <a:gd name="adj" fmla="val 5319"/>
            </a:avLst>
          </a:prstGeom>
          <a:solidFill>
            <a:srgbClr val="FFFFFF"/>
          </a:solidFill>
          <a:ln w="25400">
            <a:solidFill>
              <a:srgbClr val="00A896"/>
            </a:solidFill>
            <a:prstDash val="solid"/>
          </a:ln>
          <a:effectLst>
            <a:outerShdw sx="100000" sy="100000" kx="0" ky="0" algn="bl" rotWithShape="0" blurRad="101600" dist="25400" dir="2700000">
              <a:srgbClr val="000000">
                <a:alpha val="10000"/>
              </a:srgbClr>
            </a:outerShdw>
          </a:effectLst>
        </p:spPr>
      </p:sp>
      <p:sp>
        <p:nvSpPr>
          <p:cNvPr id="9" name="Text 7"/>
          <p:cNvSpPr/>
          <p:nvPr/>
        </p:nvSpPr>
        <p:spPr>
          <a:xfrm>
            <a:off x="457200" y="1874520"/>
            <a:ext cx="2697480" cy="566928"/>
          </a:xfrm>
          <a:prstGeom prst="rect">
            <a:avLst/>
          </a:prstGeom>
          <a:noFill/>
          <a:ln/>
        </p:spPr>
        <p:txBody>
          <a:bodyPr wrap="square" lIns="0" tIns="0" rIns="0" bIns="0" rtlCol="0" anchor="ctr"/>
          <a:lstStyle/>
          <a:p>
            <a:pPr algn="ctr" indent="0" marL="0">
              <a:buNone/>
            </a:pPr>
            <a:r>
              <a:rPr lang="en-US" sz="2600" b="1" dirty="0">
                <a:solidFill>
                  <a:srgbClr val="00A896"/>
                </a:solidFill>
                <a:latin typeface="Cambria" pitchFamily="34" charset="0"/>
                <a:ea typeface="Cambria" pitchFamily="34" charset="-122"/>
                <a:cs typeface="Cambria" pitchFamily="34" charset="-120"/>
              </a:rPr>
              <a:t>42%</a:t>
            </a:r>
            <a:endParaRPr lang="en-US" sz="2600" dirty="0"/>
          </a:p>
        </p:txBody>
      </p:sp>
      <p:sp>
        <p:nvSpPr>
          <p:cNvPr id="10" name="Text 8"/>
          <p:cNvSpPr/>
          <p:nvPr/>
        </p:nvSpPr>
        <p:spPr>
          <a:xfrm>
            <a:off x="457200" y="2423160"/>
            <a:ext cx="2697480" cy="292608"/>
          </a:xfrm>
          <a:prstGeom prst="rect">
            <a:avLst/>
          </a:prstGeom>
          <a:noFill/>
          <a:ln/>
        </p:spPr>
        <p:txBody>
          <a:bodyPr wrap="square" lIns="0" tIns="0" rIns="0" bIns="0" rtlCol="0" anchor="ctr"/>
          <a:lstStyle/>
          <a:p>
            <a:pPr algn="ctr" indent="0" marL="0">
              <a:buNone/>
            </a:pPr>
            <a:r>
              <a:rPr lang="en-US" sz="1100" b="1" dirty="0">
                <a:solidFill>
                  <a:srgbClr val="1A2B4A"/>
                </a:solidFill>
                <a:latin typeface="Calibri" pitchFamily="34" charset="0"/>
                <a:ea typeface="Calibri" pitchFamily="34" charset="-122"/>
                <a:cs typeface="Calibri" pitchFamily="34" charset="-120"/>
              </a:rPr>
              <a:t>T2+T3 Spending</a:t>
            </a:r>
            <a:endParaRPr lang="en-US" sz="1100" dirty="0"/>
          </a:p>
        </p:txBody>
      </p:sp>
      <p:sp>
        <p:nvSpPr>
          <p:cNvPr id="11" name="Shape 9"/>
          <p:cNvSpPr/>
          <p:nvPr/>
        </p:nvSpPr>
        <p:spPr>
          <a:xfrm>
            <a:off x="914400" y="2724912"/>
            <a:ext cx="1783080" cy="18288"/>
          </a:xfrm>
          <a:prstGeom prst="rect">
            <a:avLst/>
          </a:prstGeom>
          <a:solidFill>
            <a:srgbClr val="00A896"/>
          </a:solidFill>
          <a:ln w="12700">
            <a:solidFill>
              <a:srgbClr val="00A896"/>
            </a:solidFill>
            <a:prstDash val="solid"/>
          </a:ln>
        </p:spPr>
      </p:sp>
      <p:sp>
        <p:nvSpPr>
          <p:cNvPr id="12" name="Text 10"/>
          <p:cNvSpPr/>
          <p:nvPr/>
        </p:nvSpPr>
        <p:spPr>
          <a:xfrm>
            <a:off x="594360" y="2770632"/>
            <a:ext cx="2423160" cy="1463040"/>
          </a:xfrm>
          <a:prstGeom prst="rect">
            <a:avLst/>
          </a:prstGeom>
          <a:noFill/>
          <a:ln/>
        </p:spPr>
        <p:txBody>
          <a:bodyPr wrap="square" lIns="0" tIns="0" rIns="0" bIns="0" rtlCol="0" anchor="t"/>
          <a:lstStyle/>
          <a:p>
            <a:pPr algn="l" indent="0" marL="0">
              <a:buNone/>
            </a:pPr>
            <a:r>
              <a:rPr lang="en-US" sz="950" dirty="0">
                <a:solidFill>
                  <a:srgbClr val="5D6D7E"/>
                </a:solidFill>
                <a:latin typeface="Calibri" pitchFamily="34" charset="0"/>
                <a:ea typeface="Calibri" pitchFamily="34" charset="-122"/>
                <a:cs typeface="Calibri" pitchFamily="34" charset="-120"/>
              </a:rPr>
              <a:t>of India's clothing wallet — ₹3.5 Lakh Crore (~$42B) — sits in T2 and T3 cities. Bigger than Metro and T1 combined.</a:t>
            </a:r>
            <a:endParaRPr lang="en-US" sz="950" dirty="0"/>
          </a:p>
        </p:txBody>
      </p:sp>
      <p:sp>
        <p:nvSpPr>
          <p:cNvPr id="13" name="Shape 11"/>
          <p:cNvSpPr/>
          <p:nvPr/>
        </p:nvSpPr>
        <p:spPr>
          <a:xfrm>
            <a:off x="3291840" y="1783080"/>
            <a:ext cx="2697480" cy="2578608"/>
          </a:xfrm>
          <a:prstGeom prst="roundRect">
            <a:avLst>
              <a:gd name="adj" fmla="val 5319"/>
            </a:avLst>
          </a:prstGeom>
          <a:solidFill>
            <a:srgbClr val="FFFFFF"/>
          </a:solidFill>
          <a:ln w="25400">
            <a:solidFill>
              <a:srgbClr val="C0392B"/>
            </a:solidFill>
            <a:prstDash val="solid"/>
          </a:ln>
          <a:effectLst>
            <a:outerShdw sx="100000" sy="100000" kx="0" ky="0" algn="bl" rotWithShape="0" blurRad="101600" dist="25400" dir="2700000">
              <a:srgbClr val="000000">
                <a:alpha val="10000"/>
              </a:srgbClr>
            </a:outerShdw>
          </a:effectLst>
        </p:spPr>
      </p:sp>
      <p:sp>
        <p:nvSpPr>
          <p:cNvPr id="14" name="Text 12"/>
          <p:cNvSpPr/>
          <p:nvPr/>
        </p:nvSpPr>
        <p:spPr>
          <a:xfrm>
            <a:off x="3291840" y="1874520"/>
            <a:ext cx="2697480" cy="566928"/>
          </a:xfrm>
          <a:prstGeom prst="rect">
            <a:avLst/>
          </a:prstGeom>
          <a:noFill/>
          <a:ln/>
        </p:spPr>
        <p:txBody>
          <a:bodyPr wrap="square" lIns="0" tIns="0" rIns="0" bIns="0" rtlCol="0" anchor="ctr"/>
          <a:lstStyle/>
          <a:p>
            <a:pPr algn="ctr" indent="0" marL="0">
              <a:buNone/>
            </a:pPr>
            <a:r>
              <a:rPr lang="en-US" sz="2600" b="1" dirty="0">
                <a:solidFill>
                  <a:srgbClr val="C0392B"/>
                </a:solidFill>
                <a:latin typeface="Cambria" pitchFamily="34" charset="0"/>
                <a:ea typeface="Cambria" pitchFamily="34" charset="-122"/>
                <a:cs typeface="Cambria" pitchFamily="34" charset="-120"/>
              </a:rPr>
              <a:t>½×</a:t>
            </a:r>
            <a:endParaRPr lang="en-US" sz="2600" dirty="0"/>
          </a:p>
        </p:txBody>
      </p:sp>
      <p:sp>
        <p:nvSpPr>
          <p:cNvPr id="15" name="Text 13"/>
          <p:cNvSpPr/>
          <p:nvPr/>
        </p:nvSpPr>
        <p:spPr>
          <a:xfrm>
            <a:off x="3291840" y="2423160"/>
            <a:ext cx="2697480" cy="292608"/>
          </a:xfrm>
          <a:prstGeom prst="rect">
            <a:avLst/>
          </a:prstGeom>
          <a:noFill/>
          <a:ln/>
        </p:spPr>
        <p:txBody>
          <a:bodyPr wrap="square" lIns="0" tIns="0" rIns="0" bIns="0" rtlCol="0" anchor="ctr"/>
          <a:lstStyle/>
          <a:p>
            <a:pPr algn="ctr" indent="0" marL="0">
              <a:buNone/>
            </a:pPr>
            <a:r>
              <a:rPr lang="en-US" sz="1100" b="1" dirty="0">
                <a:solidFill>
                  <a:srgbClr val="1A2B4A"/>
                </a:solidFill>
                <a:latin typeface="Calibri" pitchFamily="34" charset="0"/>
                <a:ea typeface="Calibri" pitchFamily="34" charset="-122"/>
                <a:cs typeface="Calibri" pitchFamily="34" charset="-120"/>
              </a:rPr>
              <a:t>The Supply Mismatch</a:t>
            </a:r>
            <a:endParaRPr lang="en-US" sz="1100" dirty="0"/>
          </a:p>
        </p:txBody>
      </p:sp>
      <p:sp>
        <p:nvSpPr>
          <p:cNvPr id="16" name="Shape 14"/>
          <p:cNvSpPr/>
          <p:nvPr/>
        </p:nvSpPr>
        <p:spPr>
          <a:xfrm>
            <a:off x="3749040" y="2724912"/>
            <a:ext cx="1783080" cy="18288"/>
          </a:xfrm>
          <a:prstGeom prst="rect">
            <a:avLst/>
          </a:prstGeom>
          <a:solidFill>
            <a:srgbClr val="C0392B"/>
          </a:solidFill>
          <a:ln w="12700">
            <a:solidFill>
              <a:srgbClr val="C0392B"/>
            </a:solidFill>
            <a:prstDash val="solid"/>
          </a:ln>
        </p:spPr>
      </p:sp>
      <p:sp>
        <p:nvSpPr>
          <p:cNvPr id="17" name="Text 15"/>
          <p:cNvSpPr/>
          <p:nvPr/>
        </p:nvSpPr>
        <p:spPr>
          <a:xfrm>
            <a:off x="3429000" y="2770632"/>
            <a:ext cx="2423160" cy="1463040"/>
          </a:xfrm>
          <a:prstGeom prst="rect">
            <a:avLst/>
          </a:prstGeom>
          <a:noFill/>
          <a:ln/>
        </p:spPr>
        <p:txBody>
          <a:bodyPr wrap="square" lIns="0" tIns="0" rIns="0" bIns="0" rtlCol="0" anchor="t"/>
          <a:lstStyle/>
          <a:p>
            <a:pPr algn="l" indent="0" marL="0">
              <a:buNone/>
            </a:pPr>
            <a:r>
              <a:rPr lang="en-US" sz="950" dirty="0">
                <a:solidFill>
                  <a:srgbClr val="5D6D7E"/>
                </a:solidFill>
                <a:latin typeface="Calibri" pitchFamily="34" charset="0"/>
                <a:ea typeface="Calibri" pitchFamily="34" charset="-122"/>
                <a:cs typeface="Calibri" pitchFamily="34" charset="-120"/>
              </a:rPr>
              <a:t>Metro has 32% of stores for 15% of spending. T2/T3 get half the store density per rupee of opportunity vs Metro cities.</a:t>
            </a:r>
            <a:endParaRPr lang="en-US" sz="950" dirty="0"/>
          </a:p>
        </p:txBody>
      </p:sp>
      <p:sp>
        <p:nvSpPr>
          <p:cNvPr id="18" name="Shape 16"/>
          <p:cNvSpPr/>
          <p:nvPr/>
        </p:nvSpPr>
        <p:spPr>
          <a:xfrm>
            <a:off x="6126480" y="1783080"/>
            <a:ext cx="2697480" cy="2578608"/>
          </a:xfrm>
          <a:prstGeom prst="roundRect">
            <a:avLst>
              <a:gd name="adj" fmla="val 5319"/>
            </a:avLst>
          </a:prstGeom>
          <a:solidFill>
            <a:srgbClr val="FFFFFF"/>
          </a:solidFill>
          <a:ln w="25400">
            <a:solidFill>
              <a:srgbClr val="1E8449"/>
            </a:solidFill>
            <a:prstDash val="solid"/>
          </a:ln>
          <a:effectLst>
            <a:outerShdw sx="100000" sy="100000" kx="0" ky="0" algn="bl" rotWithShape="0" blurRad="101600" dist="25400" dir="2700000">
              <a:srgbClr val="000000">
                <a:alpha val="10000"/>
              </a:srgbClr>
            </a:outerShdw>
          </a:effectLst>
        </p:spPr>
      </p:sp>
      <p:sp>
        <p:nvSpPr>
          <p:cNvPr id="19" name="Text 17"/>
          <p:cNvSpPr/>
          <p:nvPr/>
        </p:nvSpPr>
        <p:spPr>
          <a:xfrm>
            <a:off x="6126480" y="1874520"/>
            <a:ext cx="2697480" cy="566928"/>
          </a:xfrm>
          <a:prstGeom prst="rect">
            <a:avLst/>
          </a:prstGeom>
          <a:noFill/>
          <a:ln/>
        </p:spPr>
        <p:txBody>
          <a:bodyPr wrap="square" lIns="0" tIns="0" rIns="0" bIns="0" rtlCol="0" anchor="ctr"/>
          <a:lstStyle/>
          <a:p>
            <a:pPr algn="ctr" indent="0" marL="0">
              <a:buNone/>
            </a:pPr>
            <a:r>
              <a:rPr lang="en-US" sz="2600" b="1" dirty="0">
                <a:solidFill>
                  <a:srgbClr val="1E8449"/>
                </a:solidFill>
                <a:latin typeface="Cambria" pitchFamily="34" charset="0"/>
                <a:ea typeface="Cambria" pitchFamily="34" charset="-122"/>
                <a:cs typeface="Cambria" pitchFamily="34" charset="-120"/>
              </a:rPr>
              <a:t>13.7%</a:t>
            </a:r>
            <a:endParaRPr lang="en-US" sz="2600" dirty="0"/>
          </a:p>
        </p:txBody>
      </p:sp>
      <p:sp>
        <p:nvSpPr>
          <p:cNvPr id="20" name="Text 18"/>
          <p:cNvSpPr/>
          <p:nvPr/>
        </p:nvSpPr>
        <p:spPr>
          <a:xfrm>
            <a:off x="6126480" y="2423160"/>
            <a:ext cx="2697480" cy="292608"/>
          </a:xfrm>
          <a:prstGeom prst="rect">
            <a:avLst/>
          </a:prstGeom>
          <a:noFill/>
          <a:ln/>
        </p:spPr>
        <p:txBody>
          <a:bodyPr wrap="square" lIns="0" tIns="0" rIns="0" bIns="0" rtlCol="0" anchor="ctr"/>
          <a:lstStyle/>
          <a:p>
            <a:pPr algn="ctr" indent="0" marL="0">
              <a:buNone/>
            </a:pPr>
            <a:r>
              <a:rPr lang="en-US" sz="1100" b="1" dirty="0">
                <a:solidFill>
                  <a:srgbClr val="1A2B4A"/>
                </a:solidFill>
                <a:latin typeface="Calibri" pitchFamily="34" charset="0"/>
                <a:ea typeface="Calibri" pitchFamily="34" charset="-122"/>
                <a:cs typeface="Calibri" pitchFamily="34" charset="-120"/>
              </a:rPr>
              <a:t>Why Value Fashion</a:t>
            </a:r>
            <a:endParaRPr lang="en-US" sz="1100" dirty="0"/>
          </a:p>
        </p:txBody>
      </p:sp>
      <p:sp>
        <p:nvSpPr>
          <p:cNvPr id="21" name="Shape 19"/>
          <p:cNvSpPr/>
          <p:nvPr/>
        </p:nvSpPr>
        <p:spPr>
          <a:xfrm>
            <a:off x="6583680" y="2724912"/>
            <a:ext cx="1783080" cy="18288"/>
          </a:xfrm>
          <a:prstGeom prst="rect">
            <a:avLst/>
          </a:prstGeom>
          <a:solidFill>
            <a:srgbClr val="1E8449"/>
          </a:solidFill>
          <a:ln w="12700">
            <a:solidFill>
              <a:srgbClr val="1E8449"/>
            </a:solidFill>
            <a:prstDash val="solid"/>
          </a:ln>
        </p:spPr>
      </p:sp>
      <p:sp>
        <p:nvSpPr>
          <p:cNvPr id="22" name="Text 20"/>
          <p:cNvSpPr/>
          <p:nvPr/>
        </p:nvSpPr>
        <p:spPr>
          <a:xfrm>
            <a:off x="6263640" y="2770632"/>
            <a:ext cx="2423160" cy="1463040"/>
          </a:xfrm>
          <a:prstGeom prst="rect">
            <a:avLst/>
          </a:prstGeom>
          <a:noFill/>
          <a:ln/>
        </p:spPr>
        <p:txBody>
          <a:bodyPr wrap="square" lIns="0" tIns="0" rIns="0" bIns="0" rtlCol="0" anchor="t"/>
          <a:lstStyle/>
          <a:p>
            <a:pPr algn="l" indent="0" marL="0">
              <a:buNone/>
            </a:pPr>
            <a:r>
              <a:rPr lang="en-US" sz="950" dirty="0">
                <a:solidFill>
                  <a:srgbClr val="5D6D7E"/>
                </a:solidFill>
                <a:latin typeface="Calibri" pitchFamily="34" charset="0"/>
                <a:ea typeface="Calibri" pitchFamily="34" charset="-122"/>
                <a:cs typeface="Calibri" pitchFamily="34" charset="-120"/>
              </a:rPr>
              <a:t>Annual growth in organised Value Fashion. Least crowded segment. Listed players earn more per store than unlisted rivals.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How We Built the Ground-Up Framework</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5" name="Text 3"/>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11</a:t>
            </a:r>
            <a:endParaRPr lang="en-US" sz="750" dirty="0"/>
          </a:p>
        </p:txBody>
      </p:sp>
      <p:sp>
        <p:nvSpPr>
          <p:cNvPr id="6" name="Text 4"/>
          <p:cNvSpPr/>
          <p:nvPr/>
        </p:nvSpPr>
        <p:spPr>
          <a:xfrm>
            <a:off x="457200" y="896112"/>
            <a:ext cx="8229600" cy="320040"/>
          </a:xfrm>
          <a:prstGeom prst="rect">
            <a:avLst/>
          </a:prstGeom>
          <a:noFill/>
          <a:ln/>
        </p:spPr>
        <p:txBody>
          <a:bodyPr wrap="square" lIns="0" tIns="0" rIns="0" bIns="0" rtlCol="0" anchor="ctr"/>
          <a:lstStyle/>
          <a:p>
            <a:pPr indent="0" marL="0">
              <a:buNone/>
            </a:pPr>
            <a:r>
              <a:rPr lang="en-US" sz="1000" i="1" dirty="0">
                <a:solidFill>
                  <a:srgbClr val="5D6D7E"/>
                </a:solidFill>
                <a:latin typeface="Calibri" pitchFamily="34" charset="0"/>
                <a:ea typeface="Calibri" pitchFamily="34" charset="-122"/>
                <a:cs typeface="Calibri" pitchFamily="34" charset="-120"/>
              </a:rPr>
              <a:t>We didn't use a top-down estimate. We built demand and supply from the pincode up — 19,742 pincodes, 31,000+ stores, every match calculated at the ground level.</a:t>
            </a:r>
            <a:endParaRPr lang="en-US" sz="1000" dirty="0"/>
          </a:p>
        </p:txBody>
      </p:sp>
      <p:sp>
        <p:nvSpPr>
          <p:cNvPr id="7" name="Shape 5"/>
          <p:cNvSpPr/>
          <p:nvPr/>
        </p:nvSpPr>
        <p:spPr>
          <a:xfrm>
            <a:off x="347472" y="1353312"/>
            <a:ext cx="2011680" cy="2633472"/>
          </a:xfrm>
          <a:prstGeom prst="roundRect">
            <a:avLst>
              <a:gd name="adj" fmla="val 4545"/>
            </a:avLst>
          </a:prstGeom>
          <a:solidFill>
            <a:srgbClr val="FFFFFF"/>
          </a:solidFill>
          <a:ln w="19050">
            <a:solidFill>
              <a:srgbClr val="185FA5"/>
            </a:solidFill>
            <a:prstDash val="solid"/>
          </a:ln>
          <a:effectLst>
            <a:outerShdw sx="100000" sy="100000" kx="0" ky="0" algn="bl" rotWithShape="0" blurRad="101600" dist="25400" dir="2700000">
              <a:srgbClr val="000000">
                <a:alpha val="10000"/>
              </a:srgbClr>
            </a:outerShdw>
          </a:effectLst>
        </p:spPr>
      </p:sp>
      <p:sp>
        <p:nvSpPr>
          <p:cNvPr id="8" name="Shape 6"/>
          <p:cNvSpPr/>
          <p:nvPr/>
        </p:nvSpPr>
        <p:spPr>
          <a:xfrm>
            <a:off x="1069848" y="1261872"/>
            <a:ext cx="566928" cy="566928"/>
          </a:xfrm>
          <a:prstGeom prst="ellipse">
            <a:avLst/>
          </a:prstGeom>
          <a:solidFill>
            <a:srgbClr val="185FA5"/>
          </a:solidFill>
          <a:ln w="12700">
            <a:solidFill>
              <a:srgbClr val="185FA5"/>
            </a:solidFill>
            <a:prstDash val="solid"/>
          </a:ln>
        </p:spPr>
      </p:sp>
      <p:sp>
        <p:nvSpPr>
          <p:cNvPr id="9" name="Text 7"/>
          <p:cNvSpPr/>
          <p:nvPr/>
        </p:nvSpPr>
        <p:spPr>
          <a:xfrm>
            <a:off x="1069848" y="1261872"/>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
            </a:r>
            <a:endParaRPr lang="en-US" sz="1400" dirty="0"/>
          </a:p>
        </p:txBody>
      </p:sp>
      <p:sp>
        <p:nvSpPr>
          <p:cNvPr id="10" name="Text 8"/>
          <p:cNvSpPr/>
          <p:nvPr/>
        </p:nvSpPr>
        <p:spPr>
          <a:xfrm>
            <a:off x="457200" y="1920240"/>
            <a:ext cx="1792224" cy="292608"/>
          </a:xfrm>
          <a:prstGeom prst="rect">
            <a:avLst/>
          </a:prstGeom>
          <a:noFill/>
          <a:ln/>
        </p:spPr>
        <p:txBody>
          <a:bodyPr wrap="square" lIns="0" tIns="0" rIns="0" bIns="0" rtlCol="0" anchor="ctr"/>
          <a:lstStyle/>
          <a:p>
            <a:pPr algn="ctr" indent="0" marL="0">
              <a:buNone/>
            </a:pPr>
            <a:r>
              <a:rPr lang="en-US" sz="1050" b="1" dirty="0">
                <a:solidFill>
                  <a:srgbClr val="1A2B4A"/>
                </a:solidFill>
                <a:latin typeface="Calibri" pitchFamily="34" charset="0"/>
                <a:ea typeface="Calibri" pitchFamily="34" charset="-122"/>
                <a:cs typeface="Calibri" pitchFamily="34" charset="-120"/>
              </a:rPr>
              <a:t>Demand Mapping</a:t>
            </a:r>
            <a:endParaRPr lang="en-US" sz="1050" dirty="0"/>
          </a:p>
        </p:txBody>
      </p:sp>
      <p:sp>
        <p:nvSpPr>
          <p:cNvPr id="11" name="Text 9"/>
          <p:cNvSpPr/>
          <p:nvPr/>
        </p:nvSpPr>
        <p:spPr>
          <a:xfrm>
            <a:off x="457200" y="2249424"/>
            <a:ext cx="1792224" cy="1664208"/>
          </a:xfrm>
          <a:prstGeom prst="rect">
            <a:avLst/>
          </a:prstGeom>
          <a:noFill/>
          <a:ln/>
        </p:spPr>
        <p:txBody>
          <a:bodyPr wrap="square" lIns="0" tIns="0" rIns="0" bIns="0" rtlCol="0" anchor="t"/>
          <a:lstStyle/>
          <a:p>
            <a:pPr algn="l" indent="0" marL="0">
              <a:buNone/>
            </a:pPr>
            <a:r>
              <a:rPr lang="en-US" sz="900" dirty="0">
                <a:solidFill>
                  <a:srgbClr val="5D6D7E"/>
                </a:solidFill>
                <a:latin typeface="Calibri" pitchFamily="34" charset="0"/>
                <a:ea typeface="Calibri" pitchFamily="34" charset="-122"/>
                <a:cs typeface="Calibri" pitchFamily="34" charset="-120"/>
              </a:rPr>
              <a:t>Clothing spending per pincode calculated from local income data (GDDP/GSDP), not estimated from national benchmarks.</a:t>
            </a:r>
            <a:endParaRPr lang="en-US" sz="900" dirty="0"/>
          </a:p>
          <a:p>
            <a:pPr algn="l" indent="0" marL="0">
              <a:buNone/>
            </a:pPr>
            <a:endParaRPr lang="en-US" sz="900" dirty="0"/>
          </a:p>
          <a:p>
            <a:pPr algn="l" indent="0" marL="0">
              <a:buNone/>
            </a:pPr>
            <a:r>
              <a:rPr lang="en-US" sz="900" dirty="0">
                <a:solidFill>
                  <a:srgbClr val="5D6D7E"/>
                </a:solidFill>
                <a:latin typeface="Calibri" pitchFamily="34" charset="0"/>
                <a:ea typeface="Calibri" pitchFamily="34" charset="-122"/>
                <a:cs typeface="Calibri" pitchFamily="34" charset="-120"/>
              </a:rPr>
              <a:t>↳  19,742 pincodes mapped.</a:t>
            </a:r>
            <a:endParaRPr lang="en-US" sz="900" dirty="0"/>
          </a:p>
        </p:txBody>
      </p:sp>
      <p:sp>
        <p:nvSpPr>
          <p:cNvPr id="12" name="Shape 10"/>
          <p:cNvSpPr/>
          <p:nvPr/>
        </p:nvSpPr>
        <p:spPr>
          <a:xfrm>
            <a:off x="2487168" y="1353312"/>
            <a:ext cx="2011680" cy="2633472"/>
          </a:xfrm>
          <a:prstGeom prst="roundRect">
            <a:avLst>
              <a:gd name="adj" fmla="val 4545"/>
            </a:avLst>
          </a:prstGeom>
          <a:solidFill>
            <a:srgbClr val="FFFFFF"/>
          </a:solidFill>
          <a:ln w="19050">
            <a:solidFill>
              <a:srgbClr val="00A896"/>
            </a:solidFill>
            <a:prstDash val="solid"/>
          </a:ln>
          <a:effectLst>
            <a:outerShdw sx="100000" sy="100000" kx="0" ky="0" algn="bl" rotWithShape="0" blurRad="101600" dist="25400" dir="2700000">
              <a:srgbClr val="000000">
                <a:alpha val="10000"/>
              </a:srgbClr>
            </a:outerShdw>
          </a:effectLst>
        </p:spPr>
      </p:sp>
      <p:sp>
        <p:nvSpPr>
          <p:cNvPr id="13" name="Shape 11"/>
          <p:cNvSpPr/>
          <p:nvPr/>
        </p:nvSpPr>
        <p:spPr>
          <a:xfrm>
            <a:off x="3209544" y="1261872"/>
            <a:ext cx="566928" cy="566928"/>
          </a:xfrm>
          <a:prstGeom prst="ellipse">
            <a:avLst/>
          </a:prstGeom>
          <a:solidFill>
            <a:srgbClr val="00A896"/>
          </a:solidFill>
          <a:ln w="12700">
            <a:solidFill>
              <a:srgbClr val="00A896"/>
            </a:solidFill>
            <a:prstDash val="solid"/>
          </a:ln>
        </p:spPr>
      </p:sp>
      <p:sp>
        <p:nvSpPr>
          <p:cNvPr id="14" name="Text 12"/>
          <p:cNvSpPr/>
          <p:nvPr/>
        </p:nvSpPr>
        <p:spPr>
          <a:xfrm>
            <a:off x="3209544" y="1261872"/>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a:t>
            </a:r>
            <a:endParaRPr lang="en-US" sz="1400" dirty="0"/>
          </a:p>
        </p:txBody>
      </p:sp>
      <p:sp>
        <p:nvSpPr>
          <p:cNvPr id="15" name="Text 13"/>
          <p:cNvSpPr/>
          <p:nvPr/>
        </p:nvSpPr>
        <p:spPr>
          <a:xfrm>
            <a:off x="2596896" y="1920240"/>
            <a:ext cx="1792224" cy="292608"/>
          </a:xfrm>
          <a:prstGeom prst="rect">
            <a:avLst/>
          </a:prstGeom>
          <a:noFill/>
          <a:ln/>
        </p:spPr>
        <p:txBody>
          <a:bodyPr wrap="square" lIns="0" tIns="0" rIns="0" bIns="0" rtlCol="0" anchor="ctr"/>
          <a:lstStyle/>
          <a:p>
            <a:pPr algn="ctr" indent="0" marL="0">
              <a:buNone/>
            </a:pPr>
            <a:r>
              <a:rPr lang="en-US" sz="1050" b="1" dirty="0">
                <a:solidFill>
                  <a:srgbClr val="1A2B4A"/>
                </a:solidFill>
                <a:latin typeface="Calibri" pitchFamily="34" charset="0"/>
                <a:ea typeface="Calibri" pitchFamily="34" charset="-122"/>
                <a:cs typeface="Calibri" pitchFamily="34" charset="-120"/>
              </a:rPr>
              <a:t>Supply Census</a:t>
            </a:r>
            <a:endParaRPr lang="en-US" sz="1050" dirty="0"/>
          </a:p>
        </p:txBody>
      </p:sp>
      <p:sp>
        <p:nvSpPr>
          <p:cNvPr id="16" name="Text 14"/>
          <p:cNvSpPr/>
          <p:nvPr/>
        </p:nvSpPr>
        <p:spPr>
          <a:xfrm>
            <a:off x="2596896" y="2249424"/>
            <a:ext cx="1792224" cy="1664208"/>
          </a:xfrm>
          <a:prstGeom prst="rect">
            <a:avLst/>
          </a:prstGeom>
          <a:noFill/>
          <a:ln/>
        </p:spPr>
        <p:txBody>
          <a:bodyPr wrap="square" lIns="0" tIns="0" rIns="0" bIns="0" rtlCol="0" anchor="t"/>
          <a:lstStyle/>
          <a:p>
            <a:pPr algn="l" indent="0" marL="0">
              <a:buNone/>
            </a:pPr>
            <a:r>
              <a:rPr lang="en-US" sz="900" dirty="0">
                <a:solidFill>
                  <a:srgbClr val="5D6D7E"/>
                </a:solidFill>
                <a:latin typeface="Calibri" pitchFamily="34" charset="0"/>
                <a:ea typeface="Calibri" pitchFamily="34" charset="-122"/>
                <a:cs typeface="Calibri" pitchFamily="34" charset="-120"/>
              </a:rPr>
              <a:t>Complete mapping of every organised store in India: brand, tier, pincode, segment — scraped and structured from the ground up.</a:t>
            </a:r>
            <a:endParaRPr lang="en-US" sz="900" dirty="0"/>
          </a:p>
          <a:p>
            <a:pPr algn="l" indent="0" marL="0">
              <a:buNone/>
            </a:pPr>
            <a:endParaRPr lang="en-US" sz="900" dirty="0"/>
          </a:p>
          <a:p>
            <a:pPr algn="l" indent="0" marL="0">
              <a:buNone/>
            </a:pPr>
            <a:r>
              <a:rPr lang="en-US" sz="900" dirty="0">
                <a:solidFill>
                  <a:srgbClr val="5D6D7E"/>
                </a:solidFill>
                <a:latin typeface="Calibri" pitchFamily="34" charset="0"/>
                <a:ea typeface="Calibri" pitchFamily="34" charset="-122"/>
                <a:cs typeface="Calibri" pitchFamily="34" charset="-120"/>
              </a:rPr>
              <a:t>↳  31,000+ stores mapped.</a:t>
            </a:r>
            <a:endParaRPr lang="en-US" sz="900" dirty="0"/>
          </a:p>
        </p:txBody>
      </p:sp>
      <p:sp>
        <p:nvSpPr>
          <p:cNvPr id="17" name="Shape 15"/>
          <p:cNvSpPr/>
          <p:nvPr/>
        </p:nvSpPr>
        <p:spPr>
          <a:xfrm>
            <a:off x="4626864" y="1353312"/>
            <a:ext cx="2011680" cy="2633472"/>
          </a:xfrm>
          <a:prstGeom prst="roundRect">
            <a:avLst>
              <a:gd name="adj" fmla="val 4545"/>
            </a:avLst>
          </a:prstGeom>
          <a:solidFill>
            <a:srgbClr val="FFFFFF"/>
          </a:solidFill>
          <a:ln w="19050">
            <a:solidFill>
              <a:srgbClr val="D68910"/>
            </a:solidFill>
            <a:prstDash val="solid"/>
          </a:ln>
          <a:effectLst>
            <a:outerShdw sx="100000" sy="100000" kx="0" ky="0" algn="bl" rotWithShape="0" blurRad="101600" dist="25400" dir="2700000">
              <a:srgbClr val="000000">
                <a:alpha val="10000"/>
              </a:srgbClr>
            </a:outerShdw>
          </a:effectLst>
        </p:spPr>
      </p:sp>
      <p:sp>
        <p:nvSpPr>
          <p:cNvPr id="18" name="Shape 16"/>
          <p:cNvSpPr/>
          <p:nvPr/>
        </p:nvSpPr>
        <p:spPr>
          <a:xfrm>
            <a:off x="5349240" y="1261872"/>
            <a:ext cx="566928" cy="566928"/>
          </a:xfrm>
          <a:prstGeom prst="ellipse">
            <a:avLst/>
          </a:prstGeom>
          <a:solidFill>
            <a:srgbClr val="D68910"/>
          </a:solidFill>
          <a:ln w="12700">
            <a:solidFill>
              <a:srgbClr val="D68910"/>
            </a:solidFill>
            <a:prstDash val="solid"/>
          </a:ln>
        </p:spPr>
      </p:sp>
      <p:sp>
        <p:nvSpPr>
          <p:cNvPr id="19" name="Text 17"/>
          <p:cNvSpPr/>
          <p:nvPr/>
        </p:nvSpPr>
        <p:spPr>
          <a:xfrm>
            <a:off x="5349240" y="1261872"/>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a:t>
            </a:r>
            <a:endParaRPr lang="en-US" sz="1400" dirty="0"/>
          </a:p>
        </p:txBody>
      </p:sp>
      <p:sp>
        <p:nvSpPr>
          <p:cNvPr id="20" name="Text 18"/>
          <p:cNvSpPr/>
          <p:nvPr/>
        </p:nvSpPr>
        <p:spPr>
          <a:xfrm>
            <a:off x="4736592" y="1920240"/>
            <a:ext cx="1792224" cy="292608"/>
          </a:xfrm>
          <a:prstGeom prst="rect">
            <a:avLst/>
          </a:prstGeom>
          <a:noFill/>
          <a:ln/>
        </p:spPr>
        <p:txBody>
          <a:bodyPr wrap="square" lIns="0" tIns="0" rIns="0" bIns="0" rtlCol="0" anchor="ctr"/>
          <a:lstStyle/>
          <a:p>
            <a:pPr algn="ctr" indent="0" marL="0">
              <a:buNone/>
            </a:pPr>
            <a:r>
              <a:rPr lang="en-US" sz="1050" b="1" dirty="0">
                <a:solidFill>
                  <a:srgbClr val="1A2B4A"/>
                </a:solidFill>
                <a:latin typeface="Calibri" pitchFamily="34" charset="0"/>
                <a:ea typeface="Calibri" pitchFamily="34" charset="-122"/>
                <a:cs typeface="Calibri" pitchFamily="34" charset="-120"/>
              </a:rPr>
              <a:t>Demand-Supply Match</a:t>
            </a:r>
            <a:endParaRPr lang="en-US" sz="1050" dirty="0"/>
          </a:p>
        </p:txBody>
      </p:sp>
      <p:sp>
        <p:nvSpPr>
          <p:cNvPr id="21" name="Text 19"/>
          <p:cNvSpPr/>
          <p:nvPr/>
        </p:nvSpPr>
        <p:spPr>
          <a:xfrm>
            <a:off x="4736592" y="2249424"/>
            <a:ext cx="1792224" cy="1664208"/>
          </a:xfrm>
          <a:prstGeom prst="rect">
            <a:avLst/>
          </a:prstGeom>
          <a:noFill/>
          <a:ln/>
        </p:spPr>
        <p:txBody>
          <a:bodyPr wrap="square" lIns="0" tIns="0" rIns="0" bIns="0" rtlCol="0" anchor="t"/>
          <a:lstStyle/>
          <a:p>
            <a:pPr algn="l" indent="0" marL="0">
              <a:buNone/>
            </a:pPr>
            <a:r>
              <a:rPr lang="en-US" sz="900" dirty="0">
                <a:solidFill>
                  <a:srgbClr val="5D6D7E"/>
                </a:solidFill>
                <a:latin typeface="Calibri" pitchFamily="34" charset="0"/>
                <a:ea typeface="Calibri" pitchFamily="34" charset="-122"/>
                <a:cs typeface="Calibri" pitchFamily="34" charset="-120"/>
              </a:rPr>
              <a:t>For every pincode: how much spending exists? How much is organised retail capturing? What is the rupee-level gap?</a:t>
            </a:r>
            <a:endParaRPr lang="en-US" sz="900" dirty="0"/>
          </a:p>
          <a:p>
            <a:pPr algn="l" indent="0" marL="0">
              <a:buNone/>
            </a:pPr>
            <a:endParaRPr lang="en-US" sz="900" dirty="0"/>
          </a:p>
          <a:p>
            <a:pPr algn="l" indent="0" marL="0">
              <a:buNone/>
            </a:pPr>
            <a:r>
              <a:rPr lang="en-US" sz="900" dirty="0">
                <a:solidFill>
                  <a:srgbClr val="5D6D7E"/>
                </a:solidFill>
                <a:latin typeface="Calibri" pitchFamily="34" charset="0"/>
                <a:ea typeface="Calibri" pitchFamily="34" charset="-122"/>
                <a:cs typeface="Calibri" pitchFamily="34" charset="-120"/>
              </a:rPr>
              <a:t>↳  Pincode gap quantified.</a:t>
            </a:r>
            <a:endParaRPr lang="en-US" sz="900" dirty="0"/>
          </a:p>
        </p:txBody>
      </p:sp>
      <p:sp>
        <p:nvSpPr>
          <p:cNvPr id="22" name="Shape 20"/>
          <p:cNvSpPr/>
          <p:nvPr/>
        </p:nvSpPr>
        <p:spPr>
          <a:xfrm>
            <a:off x="6766560" y="1353312"/>
            <a:ext cx="2011680" cy="2633472"/>
          </a:xfrm>
          <a:prstGeom prst="roundRect">
            <a:avLst>
              <a:gd name="adj" fmla="val 4545"/>
            </a:avLst>
          </a:prstGeom>
          <a:solidFill>
            <a:srgbClr val="FFFFFF"/>
          </a:solidFill>
          <a:ln w="19050">
            <a:solidFill>
              <a:srgbClr val="1E8449"/>
            </a:solidFill>
            <a:prstDash val="solid"/>
          </a:ln>
          <a:effectLst>
            <a:outerShdw sx="100000" sy="100000" kx="0" ky="0" algn="bl" rotWithShape="0" blurRad="101600" dist="25400" dir="2700000">
              <a:srgbClr val="000000">
                <a:alpha val="10000"/>
              </a:srgbClr>
            </a:outerShdw>
          </a:effectLst>
        </p:spPr>
      </p:sp>
      <p:sp>
        <p:nvSpPr>
          <p:cNvPr id="23" name="Shape 21"/>
          <p:cNvSpPr/>
          <p:nvPr/>
        </p:nvSpPr>
        <p:spPr>
          <a:xfrm>
            <a:off x="7488936" y="1261872"/>
            <a:ext cx="566928" cy="566928"/>
          </a:xfrm>
          <a:prstGeom prst="ellipse">
            <a:avLst/>
          </a:prstGeom>
          <a:solidFill>
            <a:srgbClr val="1E8449"/>
          </a:solidFill>
          <a:ln w="12700">
            <a:solidFill>
              <a:srgbClr val="1E8449"/>
            </a:solidFill>
            <a:prstDash val="solid"/>
          </a:ln>
        </p:spPr>
      </p:sp>
      <p:sp>
        <p:nvSpPr>
          <p:cNvPr id="24" name="Text 22"/>
          <p:cNvSpPr/>
          <p:nvPr/>
        </p:nvSpPr>
        <p:spPr>
          <a:xfrm>
            <a:off x="7488936" y="1261872"/>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I</a:t>
            </a:r>
            <a:endParaRPr lang="en-US" sz="1400" dirty="0"/>
          </a:p>
        </p:txBody>
      </p:sp>
      <p:sp>
        <p:nvSpPr>
          <p:cNvPr id="25" name="Text 23"/>
          <p:cNvSpPr/>
          <p:nvPr/>
        </p:nvSpPr>
        <p:spPr>
          <a:xfrm>
            <a:off x="6876288" y="1920240"/>
            <a:ext cx="1792224" cy="292608"/>
          </a:xfrm>
          <a:prstGeom prst="rect">
            <a:avLst/>
          </a:prstGeom>
          <a:noFill/>
          <a:ln/>
        </p:spPr>
        <p:txBody>
          <a:bodyPr wrap="square" lIns="0" tIns="0" rIns="0" bIns="0" rtlCol="0" anchor="ctr"/>
          <a:lstStyle/>
          <a:p>
            <a:pPr algn="ctr" indent="0" marL="0">
              <a:buNone/>
            </a:pPr>
            <a:r>
              <a:rPr lang="en-US" sz="1050" b="1" dirty="0">
                <a:solidFill>
                  <a:srgbClr val="1A2B4A"/>
                </a:solidFill>
                <a:latin typeface="Calibri" pitchFamily="34" charset="0"/>
                <a:ea typeface="Calibri" pitchFamily="34" charset="-122"/>
                <a:cs typeface="Calibri" pitchFamily="34" charset="-120"/>
              </a:rPr>
              <a:t>Investment Output</a:t>
            </a:r>
            <a:endParaRPr lang="en-US" sz="1050" dirty="0"/>
          </a:p>
        </p:txBody>
      </p:sp>
      <p:sp>
        <p:nvSpPr>
          <p:cNvPr id="26" name="Text 24"/>
          <p:cNvSpPr/>
          <p:nvPr/>
        </p:nvSpPr>
        <p:spPr>
          <a:xfrm>
            <a:off x="6876288" y="2249424"/>
            <a:ext cx="1792224" cy="1664208"/>
          </a:xfrm>
          <a:prstGeom prst="rect">
            <a:avLst/>
          </a:prstGeom>
          <a:noFill/>
          <a:ln/>
        </p:spPr>
        <p:txBody>
          <a:bodyPr wrap="square" lIns="0" tIns="0" rIns="0" bIns="0" rtlCol="0" anchor="t"/>
          <a:lstStyle/>
          <a:p>
            <a:pPr algn="l" indent="0" marL="0">
              <a:buNone/>
            </a:pPr>
            <a:r>
              <a:rPr lang="en-US" sz="900" dirty="0">
                <a:solidFill>
                  <a:srgbClr val="5D6D7E"/>
                </a:solidFill>
                <a:latin typeface="Calibri" pitchFamily="34" charset="0"/>
                <a:ea typeface="Calibri" pitchFamily="34" charset="-122"/>
                <a:cs typeface="Calibri" pitchFamily="34" charset="-120"/>
              </a:rPr>
              <a:t>Not a market report. An investment-grade answer: where is the white space, how large is it, and who is positioned to capture it?</a:t>
            </a:r>
            <a:endParaRPr lang="en-US" sz="900" dirty="0"/>
          </a:p>
          <a:p>
            <a:pPr algn="l" indent="0" marL="0">
              <a:buNone/>
            </a:pPr>
            <a:endParaRPr lang="en-US" sz="900" dirty="0"/>
          </a:p>
          <a:p>
            <a:pPr algn="l" indent="0" marL="0">
              <a:buNone/>
            </a:pPr>
            <a:r>
              <a:rPr lang="en-US" sz="900" dirty="0">
                <a:solidFill>
                  <a:srgbClr val="5D6D7E"/>
                </a:solidFill>
                <a:latin typeface="Calibri" pitchFamily="34" charset="0"/>
                <a:ea typeface="Calibri" pitchFamily="34" charset="-122"/>
                <a:cs typeface="Calibri" pitchFamily="34" charset="-120"/>
              </a:rPr>
              <a:t>↳  Viable stores + revenue potential.</a:t>
            </a:r>
            <a:endParaRPr lang="en-US" sz="900" dirty="0"/>
          </a:p>
        </p:txBody>
      </p:sp>
      <p:sp>
        <p:nvSpPr>
          <p:cNvPr id="27" name="Shape 25"/>
          <p:cNvSpPr/>
          <p:nvPr/>
        </p:nvSpPr>
        <p:spPr>
          <a:xfrm>
            <a:off x="347472" y="4069080"/>
            <a:ext cx="8430768" cy="786384"/>
          </a:xfrm>
          <a:prstGeom prst="roundRect">
            <a:avLst>
              <a:gd name="adj" fmla="val 11628"/>
            </a:avLst>
          </a:prstGeom>
          <a:solidFill>
            <a:srgbClr val="1A2B4A"/>
          </a:solidFill>
          <a:ln/>
        </p:spPr>
      </p:sp>
      <p:sp>
        <p:nvSpPr>
          <p:cNvPr id="28" name="Text 26"/>
          <p:cNvSpPr/>
          <p:nvPr/>
        </p:nvSpPr>
        <p:spPr>
          <a:xfrm>
            <a:off x="502920" y="4096512"/>
            <a:ext cx="3657600" cy="237744"/>
          </a:xfrm>
          <a:prstGeom prst="rect">
            <a:avLst/>
          </a:prstGeom>
          <a:noFill/>
          <a:ln/>
        </p:spPr>
        <p:txBody>
          <a:bodyPr wrap="square" lIns="0" tIns="0" rIns="0" bIns="0" rtlCol="0" anchor="ctr"/>
          <a:lstStyle/>
          <a:p>
            <a:pPr indent="0" marL="0">
              <a:buNone/>
            </a:pPr>
            <a:r>
              <a:rPr lang="en-US" sz="950" b="1" dirty="0">
                <a:solidFill>
                  <a:srgbClr val="00A896"/>
                </a:solidFill>
                <a:latin typeface="Calibri" pitchFamily="34" charset="0"/>
                <a:ea typeface="Calibri" pitchFamily="34" charset="-122"/>
                <a:cs typeface="Calibri" pitchFamily="34" charset="-120"/>
              </a:rPr>
              <a:t>Investment Questions This Framework Answers:</a:t>
            </a:r>
            <a:endParaRPr lang="en-US" sz="950" dirty="0"/>
          </a:p>
        </p:txBody>
      </p:sp>
      <p:sp>
        <p:nvSpPr>
          <p:cNvPr id="29" name="Text 27"/>
          <p:cNvSpPr/>
          <p:nvPr/>
        </p:nvSpPr>
        <p:spPr>
          <a:xfrm>
            <a:off x="502920" y="4334256"/>
            <a:ext cx="8229600" cy="457200"/>
          </a:xfrm>
          <a:prstGeom prst="rect">
            <a:avLst/>
          </a:prstGeom>
          <a:noFill/>
          <a:ln/>
        </p:spPr>
        <p:txBody>
          <a:bodyPr wrap="square" lIns="0" tIns="0" rIns="0" bIns="0" rtlCol="0" anchor="ctr"/>
          <a:lstStyle/>
          <a:p>
            <a:pPr indent="0" marL="0">
              <a:buNone/>
            </a:pPr>
            <a:r>
              <a:rPr lang="en-US" sz="850" dirty="0">
                <a:solidFill>
                  <a:srgbClr val="A8BED1"/>
                </a:solidFill>
                <a:latin typeface="Calibri" pitchFamily="34" charset="0"/>
                <a:ea typeface="Calibri" pitchFamily="34" charset="-122"/>
                <a:cs typeface="Calibri" pitchFamily="34" charset="-120"/>
              </a:rPr>
              <a:t>1. How many pincodes are viable for organised stores but currently empty?</a:t>
            </a:r>
            <a:endParaRPr lang="en-US" sz="850" dirty="0"/>
          </a:p>
          <a:p>
            <a:pPr indent="0" marL="0">
              <a:buNone/>
            </a:pPr>
            <a:r>
              <a:rPr lang="en-US" sz="850" dirty="0">
                <a:solidFill>
                  <a:srgbClr val="A8BED1"/>
                </a:solidFill>
                <a:latin typeface="Calibri" pitchFamily="34" charset="0"/>
                <a:ea typeface="Calibri" pitchFamily="34" charset="-122"/>
                <a:cs typeface="Calibri" pitchFamily="34" charset="-120"/>
              </a:rPr>
              <a:t>2. Which spending brackets are over/under-penetrated?   3. Are listed brands filling the T2/T3 gap?   4. How many stores can India viably support?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How We Calculated Total Potential Stores</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5" name="Text 3"/>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12</a:t>
            </a:r>
            <a:endParaRPr lang="en-US" sz="750" dirty="0"/>
          </a:p>
        </p:txBody>
      </p:sp>
      <p:sp>
        <p:nvSpPr>
          <p:cNvPr id="6" name="Shape 4"/>
          <p:cNvSpPr/>
          <p:nvPr/>
        </p:nvSpPr>
        <p:spPr>
          <a:xfrm>
            <a:off x="365760" y="1005840"/>
            <a:ext cx="2377440" cy="274320"/>
          </a:xfrm>
          <a:prstGeom prst="roundRect">
            <a:avLst>
              <a:gd name="adj" fmla="val 20000"/>
            </a:avLst>
          </a:prstGeom>
          <a:solidFill>
            <a:srgbClr val="F8F9FA"/>
          </a:solidFill>
          <a:ln w="12700">
            <a:solidFill>
              <a:srgbClr val="185FA5"/>
            </a:solidFill>
            <a:prstDash val="solid"/>
          </a:ln>
        </p:spPr>
      </p:sp>
      <p:sp>
        <p:nvSpPr>
          <p:cNvPr id="7" name="Text 5"/>
          <p:cNvSpPr/>
          <p:nvPr/>
        </p:nvSpPr>
        <p:spPr>
          <a:xfrm>
            <a:off x="365760" y="1005840"/>
            <a:ext cx="2377440" cy="274320"/>
          </a:xfrm>
          <a:prstGeom prst="rect">
            <a:avLst/>
          </a:prstGeom>
          <a:noFill/>
          <a:ln/>
        </p:spPr>
        <p:txBody>
          <a:bodyPr wrap="square" lIns="0" tIns="0" rIns="0" bIns="0" rtlCol="0" anchor="ctr"/>
          <a:lstStyle/>
          <a:p>
            <a:pPr algn="ctr" indent="0" marL="0">
              <a:buNone/>
            </a:pPr>
            <a:r>
              <a:rPr lang="en-US" sz="800" b="1" dirty="0">
                <a:solidFill>
                  <a:srgbClr val="185FA5"/>
                </a:solidFill>
                <a:latin typeface="Calibri" pitchFamily="34" charset="0"/>
                <a:ea typeface="Calibri" pitchFamily="34" charset="-122"/>
                <a:cs typeface="Calibri" pitchFamily="34" charset="-120"/>
              </a:rPr>
              <a:t>TRACK 1  :  MARKET-LEVEL POTENTIAL</a:t>
            </a:r>
            <a:endParaRPr lang="en-US" sz="800" dirty="0"/>
          </a:p>
        </p:txBody>
      </p:sp>
      <p:sp>
        <p:nvSpPr>
          <p:cNvPr id="8" name="Shape 6"/>
          <p:cNvSpPr/>
          <p:nvPr/>
        </p:nvSpPr>
        <p:spPr>
          <a:xfrm>
            <a:off x="347472" y="1371600"/>
            <a:ext cx="1828800" cy="1389888"/>
          </a:xfrm>
          <a:prstGeom prst="roundRect">
            <a:avLst>
              <a:gd name="adj" fmla="val 5263"/>
            </a:avLst>
          </a:prstGeom>
          <a:solidFill>
            <a:srgbClr val="F8F9FA"/>
          </a:solidFill>
          <a:ln w="9525">
            <a:solidFill>
              <a:srgbClr val="DEE2E6"/>
            </a:solidFill>
            <a:prstDash val="solid"/>
          </a:ln>
        </p:spPr>
      </p:sp>
      <p:sp>
        <p:nvSpPr>
          <p:cNvPr id="9" name="Shape 7"/>
          <p:cNvSpPr/>
          <p:nvPr/>
        </p:nvSpPr>
        <p:spPr>
          <a:xfrm>
            <a:off x="393192" y="1316736"/>
            <a:ext cx="402336" cy="402336"/>
          </a:xfrm>
          <a:prstGeom prst="ellipse">
            <a:avLst/>
          </a:prstGeom>
          <a:solidFill>
            <a:srgbClr val="185FA5"/>
          </a:solidFill>
          <a:ln w="12700">
            <a:solidFill>
              <a:srgbClr val="185FA5"/>
            </a:solidFill>
            <a:prstDash val="solid"/>
          </a:ln>
        </p:spPr>
      </p:sp>
      <p:sp>
        <p:nvSpPr>
          <p:cNvPr id="10" name="Text 8"/>
          <p:cNvSpPr/>
          <p:nvPr/>
        </p:nvSpPr>
        <p:spPr>
          <a:xfrm>
            <a:off x="393192" y="131673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01</a:t>
            </a:r>
            <a:endParaRPr lang="en-US" sz="1100" dirty="0"/>
          </a:p>
        </p:txBody>
      </p:sp>
      <p:sp>
        <p:nvSpPr>
          <p:cNvPr id="11" name="Text 9"/>
          <p:cNvSpPr/>
          <p:nvPr/>
        </p:nvSpPr>
        <p:spPr>
          <a:xfrm>
            <a:off x="438912" y="1810512"/>
            <a:ext cx="1645920" cy="256032"/>
          </a:xfrm>
          <a:prstGeom prst="rect">
            <a:avLst/>
          </a:prstGeom>
          <a:noFill/>
          <a:ln/>
        </p:spPr>
        <p:txBody>
          <a:bodyPr wrap="square" lIns="0" tIns="0" rIns="0" bIns="0" rtlCol="0" anchor="ctr"/>
          <a:lstStyle/>
          <a:p>
            <a:pPr indent="0" marL="0">
              <a:buNone/>
            </a:pPr>
            <a:r>
              <a:rPr lang="en-US" sz="950" b="1" dirty="0">
                <a:solidFill>
                  <a:srgbClr val="1A2B4A"/>
                </a:solidFill>
                <a:latin typeface="Calibri" pitchFamily="34" charset="0"/>
                <a:ea typeface="Calibri" pitchFamily="34" charset="-122"/>
                <a:cs typeface="Calibri" pitchFamily="34" charset="-120"/>
              </a:rPr>
              <a:t>Pincode Inputs</a:t>
            </a:r>
            <a:endParaRPr lang="en-US" sz="950" dirty="0"/>
          </a:p>
        </p:txBody>
      </p:sp>
      <p:sp>
        <p:nvSpPr>
          <p:cNvPr id="12" name="Text 10"/>
          <p:cNvSpPr/>
          <p:nvPr/>
        </p:nvSpPr>
        <p:spPr>
          <a:xfrm>
            <a:off x="438912" y="2084832"/>
            <a:ext cx="1645920" cy="640080"/>
          </a:xfrm>
          <a:prstGeom prst="rect">
            <a:avLst/>
          </a:prstGeom>
          <a:noFill/>
          <a:ln/>
        </p:spPr>
        <p:txBody>
          <a:bodyPr wrap="square" lIns="0" tIns="0" rIns="0" bIns="0" rtlCol="0" anchor="t"/>
          <a:lstStyle/>
          <a:p>
            <a:pPr indent="0" marL="0">
              <a:buNone/>
            </a:pPr>
            <a:r>
              <a:rPr lang="en-US" sz="850" dirty="0">
                <a:solidFill>
                  <a:srgbClr val="5D6D7E"/>
                </a:solidFill>
                <a:latin typeface="Calibri" pitchFamily="34" charset="0"/>
                <a:ea typeface="Calibri" pitchFamily="34" charset="-122"/>
                <a:cs typeface="Calibri" pitchFamily="34" charset="-120"/>
              </a:rPr>
              <a:t>Spending per pincode</a:t>
            </a:r>
            <a:endParaRPr lang="en-US" sz="850" dirty="0"/>
          </a:p>
          <a:p>
            <a:pPr indent="0" marL="0">
              <a:buNone/>
            </a:pPr>
            <a:r>
              <a:rPr lang="en-US" sz="850" dirty="0">
                <a:solidFill>
                  <a:srgbClr val="5D6D7E"/>
                </a:solidFill>
                <a:latin typeface="Calibri" pitchFamily="34" charset="0"/>
                <a:ea typeface="Calibri" pitchFamily="34" charset="-122"/>
                <a:cs typeface="Calibri" pitchFamily="34" charset="-120"/>
              </a:rPr>
              <a:t>Current organised revenue</a:t>
            </a:r>
            <a:endParaRPr lang="en-US" sz="850" dirty="0"/>
          </a:p>
          <a:p>
            <a:pPr indent="0" marL="0">
              <a:buNone/>
            </a:pPr>
            <a:r>
              <a:rPr lang="en-US" sz="850" dirty="0">
                <a:solidFill>
                  <a:srgbClr val="5D6D7E"/>
                </a:solidFill>
                <a:latin typeface="Calibri" pitchFamily="34" charset="0"/>
                <a:ea typeface="Calibri" pitchFamily="34" charset="-122"/>
                <a:cs typeface="Calibri" pitchFamily="34" charset="-120"/>
              </a:rPr>
              <a:t>Tier classification</a:t>
            </a:r>
            <a:endParaRPr lang="en-US" sz="850" dirty="0"/>
          </a:p>
        </p:txBody>
      </p:sp>
      <p:sp>
        <p:nvSpPr>
          <p:cNvPr id="13" name="Text 11"/>
          <p:cNvSpPr/>
          <p:nvPr/>
        </p:nvSpPr>
        <p:spPr>
          <a:xfrm>
            <a:off x="2194560" y="1847088"/>
            <a:ext cx="109728" cy="365760"/>
          </a:xfrm>
          <a:prstGeom prst="rect">
            <a:avLst/>
          </a:prstGeom>
          <a:noFill/>
          <a:ln/>
        </p:spPr>
        <p:txBody>
          <a:bodyPr wrap="square" lIns="0" tIns="0" rIns="0" bIns="0" rtlCol="0" anchor="ctr"/>
          <a:lstStyle/>
          <a:p>
            <a:pPr algn="ctr" indent="0" marL="0">
              <a:buNone/>
            </a:pPr>
            <a:r>
              <a:rPr lang="en-US" sz="1300" dirty="0">
                <a:solidFill>
                  <a:srgbClr val="95A5A6"/>
                </a:solidFill>
              </a:rPr>
              <a:t>→</a:t>
            </a:r>
            <a:endParaRPr lang="en-US" sz="1300" dirty="0"/>
          </a:p>
        </p:txBody>
      </p:sp>
      <p:sp>
        <p:nvSpPr>
          <p:cNvPr id="14" name="Shape 12"/>
          <p:cNvSpPr/>
          <p:nvPr/>
        </p:nvSpPr>
        <p:spPr>
          <a:xfrm>
            <a:off x="2313432" y="1371600"/>
            <a:ext cx="1828800" cy="1389888"/>
          </a:xfrm>
          <a:prstGeom prst="roundRect">
            <a:avLst>
              <a:gd name="adj" fmla="val 5263"/>
            </a:avLst>
          </a:prstGeom>
          <a:solidFill>
            <a:srgbClr val="F8F9FA"/>
          </a:solidFill>
          <a:ln w="9525">
            <a:solidFill>
              <a:srgbClr val="DEE2E6"/>
            </a:solidFill>
            <a:prstDash val="solid"/>
          </a:ln>
        </p:spPr>
      </p:sp>
      <p:sp>
        <p:nvSpPr>
          <p:cNvPr id="15" name="Shape 13"/>
          <p:cNvSpPr/>
          <p:nvPr/>
        </p:nvSpPr>
        <p:spPr>
          <a:xfrm>
            <a:off x="2359152" y="1316736"/>
            <a:ext cx="402336" cy="402336"/>
          </a:xfrm>
          <a:prstGeom prst="ellipse">
            <a:avLst/>
          </a:prstGeom>
          <a:solidFill>
            <a:srgbClr val="185FA5"/>
          </a:solidFill>
          <a:ln w="12700">
            <a:solidFill>
              <a:srgbClr val="185FA5"/>
            </a:solidFill>
            <a:prstDash val="solid"/>
          </a:ln>
        </p:spPr>
      </p:sp>
      <p:sp>
        <p:nvSpPr>
          <p:cNvPr id="16" name="Text 14"/>
          <p:cNvSpPr/>
          <p:nvPr/>
        </p:nvSpPr>
        <p:spPr>
          <a:xfrm>
            <a:off x="2359152" y="131673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02</a:t>
            </a:r>
            <a:endParaRPr lang="en-US" sz="1100" dirty="0"/>
          </a:p>
        </p:txBody>
      </p:sp>
      <p:sp>
        <p:nvSpPr>
          <p:cNvPr id="17" name="Text 15"/>
          <p:cNvSpPr/>
          <p:nvPr/>
        </p:nvSpPr>
        <p:spPr>
          <a:xfrm>
            <a:off x="2404872" y="1810512"/>
            <a:ext cx="1645920" cy="256032"/>
          </a:xfrm>
          <a:prstGeom prst="rect">
            <a:avLst/>
          </a:prstGeom>
          <a:noFill/>
          <a:ln/>
        </p:spPr>
        <p:txBody>
          <a:bodyPr wrap="square" lIns="0" tIns="0" rIns="0" bIns="0" rtlCol="0" anchor="ctr"/>
          <a:lstStyle/>
          <a:p>
            <a:pPr indent="0" marL="0">
              <a:buNone/>
            </a:pPr>
            <a:r>
              <a:rPr lang="en-US" sz="950" b="1" dirty="0">
                <a:solidFill>
                  <a:srgbClr val="1A2B4A"/>
                </a:solidFill>
                <a:latin typeface="Calibri" pitchFamily="34" charset="0"/>
                <a:ea typeface="Calibri" pitchFamily="34" charset="-122"/>
                <a:cs typeface="Calibri" pitchFamily="34" charset="-120"/>
              </a:rPr>
              <a:t>EBO Saturation %</a:t>
            </a:r>
            <a:endParaRPr lang="en-US" sz="950" dirty="0"/>
          </a:p>
        </p:txBody>
      </p:sp>
      <p:sp>
        <p:nvSpPr>
          <p:cNvPr id="18" name="Text 16"/>
          <p:cNvSpPr/>
          <p:nvPr/>
        </p:nvSpPr>
        <p:spPr>
          <a:xfrm>
            <a:off x="2404872" y="2084832"/>
            <a:ext cx="1645920" cy="640080"/>
          </a:xfrm>
          <a:prstGeom prst="rect">
            <a:avLst/>
          </a:prstGeom>
          <a:noFill/>
          <a:ln/>
        </p:spPr>
        <p:txBody>
          <a:bodyPr wrap="square" lIns="0" tIns="0" rIns="0" bIns="0" rtlCol="0" anchor="t"/>
          <a:lstStyle/>
          <a:p>
            <a:pPr indent="0" marL="0">
              <a:buNone/>
            </a:pPr>
            <a:r>
              <a:rPr lang="en-US" sz="850" dirty="0">
                <a:solidFill>
                  <a:srgbClr val="5D6D7E"/>
                </a:solidFill>
                <a:latin typeface="Calibri" pitchFamily="34" charset="0"/>
                <a:ea typeface="Calibri" pitchFamily="34" charset="-122"/>
                <a:cs typeface="Calibri" pitchFamily="34" charset="-120"/>
              </a:rPr>
              <a:t>Max organised store wallet capture at maturity</a:t>
            </a:r>
            <a:endParaRPr lang="en-US" sz="850" dirty="0"/>
          </a:p>
          <a:p>
            <a:pPr indent="0" marL="0">
              <a:buNone/>
            </a:pPr>
            <a:r>
              <a:rPr lang="en-US" sz="850" dirty="0">
                <a:solidFill>
                  <a:srgbClr val="5D6D7E"/>
                </a:solidFill>
                <a:latin typeface="Calibri" pitchFamily="34" charset="0"/>
                <a:ea typeface="Calibri" pitchFamily="34" charset="-122"/>
                <a:cs typeface="Calibri" pitchFamily="34" charset="-120"/>
              </a:rPr>
              <a:t>(ecommerce removed)</a:t>
            </a:r>
            <a:endParaRPr lang="en-US" sz="850" dirty="0"/>
          </a:p>
        </p:txBody>
      </p:sp>
      <p:sp>
        <p:nvSpPr>
          <p:cNvPr id="19" name="Text 17"/>
          <p:cNvSpPr/>
          <p:nvPr/>
        </p:nvSpPr>
        <p:spPr>
          <a:xfrm>
            <a:off x="4160520" y="1847088"/>
            <a:ext cx="109728" cy="365760"/>
          </a:xfrm>
          <a:prstGeom prst="rect">
            <a:avLst/>
          </a:prstGeom>
          <a:noFill/>
          <a:ln/>
        </p:spPr>
        <p:txBody>
          <a:bodyPr wrap="square" lIns="0" tIns="0" rIns="0" bIns="0" rtlCol="0" anchor="ctr"/>
          <a:lstStyle/>
          <a:p>
            <a:pPr algn="ctr" indent="0" marL="0">
              <a:buNone/>
            </a:pPr>
            <a:r>
              <a:rPr lang="en-US" sz="1300" dirty="0">
                <a:solidFill>
                  <a:srgbClr val="95A5A6"/>
                </a:solidFill>
              </a:rPr>
              <a:t>→</a:t>
            </a:r>
            <a:endParaRPr lang="en-US" sz="1300" dirty="0"/>
          </a:p>
        </p:txBody>
      </p:sp>
      <p:sp>
        <p:nvSpPr>
          <p:cNvPr id="20" name="Shape 18"/>
          <p:cNvSpPr/>
          <p:nvPr/>
        </p:nvSpPr>
        <p:spPr>
          <a:xfrm>
            <a:off x="4279392" y="1371600"/>
            <a:ext cx="1828800" cy="1389888"/>
          </a:xfrm>
          <a:prstGeom prst="roundRect">
            <a:avLst>
              <a:gd name="adj" fmla="val 5263"/>
            </a:avLst>
          </a:prstGeom>
          <a:solidFill>
            <a:srgbClr val="F8F9FA"/>
          </a:solidFill>
          <a:ln w="9525">
            <a:solidFill>
              <a:srgbClr val="DEE2E6"/>
            </a:solidFill>
            <a:prstDash val="solid"/>
          </a:ln>
        </p:spPr>
      </p:sp>
      <p:sp>
        <p:nvSpPr>
          <p:cNvPr id="21" name="Shape 19"/>
          <p:cNvSpPr/>
          <p:nvPr/>
        </p:nvSpPr>
        <p:spPr>
          <a:xfrm>
            <a:off x="4325112" y="1316736"/>
            <a:ext cx="402336" cy="402336"/>
          </a:xfrm>
          <a:prstGeom prst="ellipse">
            <a:avLst/>
          </a:prstGeom>
          <a:solidFill>
            <a:srgbClr val="185FA5"/>
          </a:solidFill>
          <a:ln w="12700">
            <a:solidFill>
              <a:srgbClr val="185FA5"/>
            </a:solidFill>
            <a:prstDash val="solid"/>
          </a:ln>
        </p:spPr>
      </p:sp>
      <p:sp>
        <p:nvSpPr>
          <p:cNvPr id="22" name="Text 20"/>
          <p:cNvSpPr/>
          <p:nvPr/>
        </p:nvSpPr>
        <p:spPr>
          <a:xfrm>
            <a:off x="4325112" y="131673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03</a:t>
            </a:r>
            <a:endParaRPr lang="en-US" sz="1100" dirty="0"/>
          </a:p>
        </p:txBody>
      </p:sp>
      <p:sp>
        <p:nvSpPr>
          <p:cNvPr id="23" name="Text 21"/>
          <p:cNvSpPr/>
          <p:nvPr/>
        </p:nvSpPr>
        <p:spPr>
          <a:xfrm>
            <a:off x="4370832" y="1810512"/>
            <a:ext cx="1645920" cy="256032"/>
          </a:xfrm>
          <a:prstGeom prst="rect">
            <a:avLst/>
          </a:prstGeom>
          <a:noFill/>
          <a:ln/>
        </p:spPr>
        <p:txBody>
          <a:bodyPr wrap="square" lIns="0" tIns="0" rIns="0" bIns="0" rtlCol="0" anchor="ctr"/>
          <a:lstStyle/>
          <a:p>
            <a:pPr indent="0" marL="0">
              <a:buNone/>
            </a:pPr>
            <a:r>
              <a:rPr lang="en-US" sz="950" b="1" dirty="0">
                <a:solidFill>
                  <a:srgbClr val="1A2B4A"/>
                </a:solidFill>
                <a:latin typeface="Calibri" pitchFamily="34" charset="0"/>
                <a:ea typeface="Calibri" pitchFamily="34" charset="-122"/>
                <a:cs typeface="Calibri" pitchFamily="34" charset="-120"/>
              </a:rPr>
              <a:t>Runway</a:t>
            </a:r>
            <a:endParaRPr lang="en-US" sz="950" dirty="0"/>
          </a:p>
        </p:txBody>
      </p:sp>
      <p:sp>
        <p:nvSpPr>
          <p:cNvPr id="24" name="Text 22"/>
          <p:cNvSpPr/>
          <p:nvPr/>
        </p:nvSpPr>
        <p:spPr>
          <a:xfrm>
            <a:off x="4370832" y="2084832"/>
            <a:ext cx="1645920" cy="640080"/>
          </a:xfrm>
          <a:prstGeom prst="rect">
            <a:avLst/>
          </a:prstGeom>
          <a:noFill/>
          <a:ln/>
        </p:spPr>
        <p:txBody>
          <a:bodyPr wrap="square" lIns="0" tIns="0" rIns="0" bIns="0" rtlCol="0" anchor="t"/>
          <a:lstStyle/>
          <a:p>
            <a:pPr indent="0" marL="0">
              <a:buNone/>
            </a:pPr>
            <a:r>
              <a:rPr lang="en-US" sz="850" dirty="0">
                <a:solidFill>
                  <a:srgbClr val="5D6D7E"/>
                </a:solidFill>
                <a:latin typeface="Calibri" pitchFamily="34" charset="0"/>
                <a:ea typeface="Calibri" pitchFamily="34" charset="-122"/>
                <a:cs typeface="Calibri" pitchFamily="34" charset="-120"/>
              </a:rPr>
              <a:t>(Spending × Saturation%) − Current Revenue</a:t>
            </a:r>
            <a:endParaRPr lang="en-US" sz="850" dirty="0"/>
          </a:p>
          <a:p>
            <a:pPr indent="0" marL="0">
              <a:buNone/>
            </a:pPr>
            <a:r>
              <a:rPr lang="en-US" sz="850" dirty="0">
                <a:solidFill>
                  <a:srgbClr val="5D6D7E"/>
                </a:solidFill>
                <a:latin typeface="Calibri" pitchFamily="34" charset="0"/>
                <a:ea typeface="Calibri" pitchFamily="34" charset="-122"/>
                <a:cs typeface="Calibri" pitchFamily="34" charset="-120"/>
              </a:rPr>
              <a:t>= Rupee gap per pincode</a:t>
            </a:r>
            <a:endParaRPr lang="en-US" sz="850" dirty="0"/>
          </a:p>
        </p:txBody>
      </p:sp>
      <p:sp>
        <p:nvSpPr>
          <p:cNvPr id="25" name="Text 23"/>
          <p:cNvSpPr/>
          <p:nvPr/>
        </p:nvSpPr>
        <p:spPr>
          <a:xfrm>
            <a:off x="6126480" y="1847088"/>
            <a:ext cx="109728" cy="365760"/>
          </a:xfrm>
          <a:prstGeom prst="rect">
            <a:avLst/>
          </a:prstGeom>
          <a:noFill/>
          <a:ln/>
        </p:spPr>
        <p:txBody>
          <a:bodyPr wrap="square" lIns="0" tIns="0" rIns="0" bIns="0" rtlCol="0" anchor="ctr"/>
          <a:lstStyle/>
          <a:p>
            <a:pPr algn="ctr" indent="0" marL="0">
              <a:buNone/>
            </a:pPr>
            <a:r>
              <a:rPr lang="en-US" sz="1300" dirty="0">
                <a:solidFill>
                  <a:srgbClr val="95A5A6"/>
                </a:solidFill>
              </a:rPr>
              <a:t>→</a:t>
            </a:r>
            <a:endParaRPr lang="en-US" sz="1300" dirty="0"/>
          </a:p>
        </p:txBody>
      </p:sp>
      <p:sp>
        <p:nvSpPr>
          <p:cNvPr id="26" name="Shape 24"/>
          <p:cNvSpPr/>
          <p:nvPr/>
        </p:nvSpPr>
        <p:spPr>
          <a:xfrm>
            <a:off x="6245352" y="1371600"/>
            <a:ext cx="1828800" cy="1389888"/>
          </a:xfrm>
          <a:prstGeom prst="roundRect">
            <a:avLst>
              <a:gd name="adj" fmla="val 5263"/>
            </a:avLst>
          </a:prstGeom>
          <a:solidFill>
            <a:srgbClr val="F8F9FA"/>
          </a:solidFill>
          <a:ln w="9525">
            <a:solidFill>
              <a:srgbClr val="DEE2E6"/>
            </a:solidFill>
            <a:prstDash val="solid"/>
          </a:ln>
        </p:spPr>
      </p:sp>
      <p:sp>
        <p:nvSpPr>
          <p:cNvPr id="27" name="Shape 25"/>
          <p:cNvSpPr/>
          <p:nvPr/>
        </p:nvSpPr>
        <p:spPr>
          <a:xfrm>
            <a:off x="6291072" y="1316736"/>
            <a:ext cx="402336" cy="402336"/>
          </a:xfrm>
          <a:prstGeom prst="ellipse">
            <a:avLst/>
          </a:prstGeom>
          <a:solidFill>
            <a:srgbClr val="185FA5"/>
          </a:solidFill>
          <a:ln w="12700">
            <a:solidFill>
              <a:srgbClr val="185FA5"/>
            </a:solidFill>
            <a:prstDash val="solid"/>
          </a:ln>
        </p:spPr>
      </p:sp>
      <p:sp>
        <p:nvSpPr>
          <p:cNvPr id="28" name="Text 26"/>
          <p:cNvSpPr/>
          <p:nvPr/>
        </p:nvSpPr>
        <p:spPr>
          <a:xfrm>
            <a:off x="6291072" y="131673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04</a:t>
            </a:r>
            <a:endParaRPr lang="en-US" sz="1100" dirty="0"/>
          </a:p>
        </p:txBody>
      </p:sp>
      <p:sp>
        <p:nvSpPr>
          <p:cNvPr id="29" name="Text 27"/>
          <p:cNvSpPr/>
          <p:nvPr/>
        </p:nvSpPr>
        <p:spPr>
          <a:xfrm>
            <a:off x="6336792" y="1810512"/>
            <a:ext cx="1645920" cy="256032"/>
          </a:xfrm>
          <a:prstGeom prst="rect">
            <a:avLst/>
          </a:prstGeom>
          <a:noFill/>
          <a:ln/>
        </p:spPr>
        <p:txBody>
          <a:bodyPr wrap="square" lIns="0" tIns="0" rIns="0" bIns="0" rtlCol="0" anchor="ctr"/>
          <a:lstStyle/>
          <a:p>
            <a:pPr indent="0" marL="0">
              <a:buNone/>
            </a:pPr>
            <a:r>
              <a:rPr lang="en-US" sz="950" b="1" dirty="0">
                <a:solidFill>
                  <a:srgbClr val="1A2B4A"/>
                </a:solidFill>
                <a:latin typeface="Calibri" pitchFamily="34" charset="0"/>
                <a:ea typeface="Calibri" pitchFamily="34" charset="-122"/>
                <a:cs typeface="Calibri" pitchFamily="34" charset="-120"/>
              </a:rPr>
              <a:t>Rev / Store</a:t>
            </a:r>
            <a:endParaRPr lang="en-US" sz="950" dirty="0"/>
          </a:p>
        </p:txBody>
      </p:sp>
      <p:sp>
        <p:nvSpPr>
          <p:cNvPr id="30" name="Text 28"/>
          <p:cNvSpPr/>
          <p:nvPr/>
        </p:nvSpPr>
        <p:spPr>
          <a:xfrm>
            <a:off x="6336792" y="2084832"/>
            <a:ext cx="1645920" cy="640080"/>
          </a:xfrm>
          <a:prstGeom prst="rect">
            <a:avLst/>
          </a:prstGeom>
          <a:noFill/>
          <a:ln/>
        </p:spPr>
        <p:txBody>
          <a:bodyPr wrap="square" lIns="0" tIns="0" rIns="0" bIns="0" rtlCol="0" anchor="t"/>
          <a:lstStyle/>
          <a:p>
            <a:pPr indent="0" marL="0">
              <a:buNone/>
            </a:pPr>
            <a:r>
              <a:rPr lang="en-US" sz="850" dirty="0">
                <a:solidFill>
                  <a:srgbClr val="5D6D7E"/>
                </a:solidFill>
                <a:latin typeface="Calibri" pitchFamily="34" charset="0"/>
                <a:ea typeface="Calibri" pitchFamily="34" charset="-122"/>
                <a:cs typeface="Calibri" pitchFamily="34" charset="-120"/>
              </a:rPr>
              <a:t>Gap ÷ (Avg rev/store × Tier multiplier)</a:t>
            </a:r>
            <a:endParaRPr lang="en-US" sz="850" dirty="0"/>
          </a:p>
          <a:p>
            <a:pPr indent="0" marL="0">
              <a:buNone/>
            </a:pPr>
            <a:r>
              <a:rPr lang="en-US" sz="850" dirty="0">
                <a:solidFill>
                  <a:srgbClr val="5D6D7E"/>
                </a:solidFill>
                <a:latin typeface="Calibri" pitchFamily="34" charset="0"/>
                <a:ea typeface="Calibri" pitchFamily="34" charset="-122"/>
                <a:cs typeface="Calibri" pitchFamily="34" charset="-120"/>
              </a:rPr>
              <a:t>= Potential stores</a:t>
            </a:r>
            <a:endParaRPr lang="en-US" sz="850" dirty="0"/>
          </a:p>
        </p:txBody>
      </p:sp>
      <p:sp>
        <p:nvSpPr>
          <p:cNvPr id="31" name="Shape 29"/>
          <p:cNvSpPr/>
          <p:nvPr/>
        </p:nvSpPr>
        <p:spPr>
          <a:xfrm>
            <a:off x="7973568" y="1371600"/>
            <a:ext cx="896112" cy="1389888"/>
          </a:xfrm>
          <a:prstGeom prst="roundRect">
            <a:avLst>
              <a:gd name="adj" fmla="val 8163"/>
            </a:avLst>
          </a:prstGeom>
          <a:solidFill>
            <a:srgbClr val="1A2B4A"/>
          </a:solidFill>
          <a:ln/>
        </p:spPr>
      </p:sp>
      <p:sp>
        <p:nvSpPr>
          <p:cNvPr id="32" name="Text 30"/>
          <p:cNvSpPr/>
          <p:nvPr/>
        </p:nvSpPr>
        <p:spPr>
          <a:xfrm>
            <a:off x="7973568" y="1389888"/>
            <a:ext cx="896112" cy="256032"/>
          </a:xfrm>
          <a:prstGeom prst="rect">
            <a:avLst/>
          </a:prstGeom>
          <a:noFill/>
          <a:ln/>
        </p:spPr>
        <p:txBody>
          <a:bodyPr wrap="square" lIns="0" tIns="0" rIns="0" bIns="0" rtlCol="0" anchor="ctr"/>
          <a:lstStyle/>
          <a:p>
            <a:pPr algn="ctr" indent="0" marL="0">
              <a:buNone/>
            </a:pPr>
            <a:r>
              <a:rPr lang="en-US" sz="700" b="1" dirty="0">
                <a:solidFill>
                  <a:srgbClr val="00A896"/>
                </a:solidFill>
                <a:latin typeface="Calibri" pitchFamily="34" charset="0"/>
                <a:ea typeface="Calibri" pitchFamily="34" charset="-122"/>
                <a:cs typeface="Calibri" pitchFamily="34" charset="-120"/>
              </a:rPr>
              <a:t>OUTPUT A</a:t>
            </a:r>
            <a:endParaRPr lang="en-US" sz="700" dirty="0"/>
          </a:p>
        </p:txBody>
      </p:sp>
      <p:sp>
        <p:nvSpPr>
          <p:cNvPr id="33" name="Text 31"/>
          <p:cNvSpPr/>
          <p:nvPr/>
        </p:nvSpPr>
        <p:spPr>
          <a:xfrm>
            <a:off x="7973568" y="1664208"/>
            <a:ext cx="896112"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~63,000</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Stores</a:t>
            </a:r>
            <a:endParaRPr lang="en-US" sz="1300" dirty="0"/>
          </a:p>
        </p:txBody>
      </p:sp>
      <p:sp>
        <p:nvSpPr>
          <p:cNvPr id="34" name="Text 32"/>
          <p:cNvSpPr/>
          <p:nvPr/>
        </p:nvSpPr>
        <p:spPr>
          <a:xfrm>
            <a:off x="7973568" y="2331720"/>
            <a:ext cx="896112" cy="384048"/>
          </a:xfrm>
          <a:prstGeom prst="rect">
            <a:avLst/>
          </a:prstGeom>
          <a:noFill/>
          <a:ln/>
        </p:spPr>
        <p:txBody>
          <a:bodyPr wrap="square" lIns="0" tIns="0" rIns="0" bIns="0" rtlCol="0" anchor="ctr"/>
          <a:lstStyle/>
          <a:p>
            <a:pPr algn="ctr" indent="0" marL="0">
              <a:buNone/>
            </a:pPr>
            <a:r>
              <a:rPr lang="en-US" sz="750" dirty="0">
                <a:solidFill>
                  <a:srgbClr val="A8BED1"/>
                </a:solidFill>
                <a:latin typeface="Calibri" pitchFamily="34" charset="0"/>
                <a:ea typeface="Calibri" pitchFamily="34" charset="-122"/>
                <a:cs typeface="Calibri" pitchFamily="34" charset="-120"/>
              </a:rPr>
              <a:t>vs ~31,000</a:t>
            </a:r>
            <a:endParaRPr lang="en-US" sz="750" dirty="0"/>
          </a:p>
          <a:p>
            <a:pPr algn="ctr" indent="0" marL="0">
              <a:buNone/>
            </a:pPr>
            <a:r>
              <a:rPr lang="en-US" sz="750" dirty="0">
                <a:solidFill>
                  <a:srgbClr val="A8BED1"/>
                </a:solidFill>
                <a:latin typeface="Calibri" pitchFamily="34" charset="0"/>
                <a:ea typeface="Calibri" pitchFamily="34" charset="-122"/>
                <a:cs typeface="Calibri" pitchFamily="34" charset="-120"/>
              </a:rPr>
              <a:t>today</a:t>
            </a:r>
            <a:endParaRPr lang="en-US" sz="750" dirty="0"/>
          </a:p>
        </p:txBody>
      </p:sp>
      <p:sp>
        <p:nvSpPr>
          <p:cNvPr id="35" name="Shape 33"/>
          <p:cNvSpPr/>
          <p:nvPr/>
        </p:nvSpPr>
        <p:spPr>
          <a:xfrm>
            <a:off x="347472" y="2852928"/>
            <a:ext cx="5120640" cy="868680"/>
          </a:xfrm>
          <a:prstGeom prst="roundRect">
            <a:avLst>
              <a:gd name="adj" fmla="val 8421"/>
            </a:avLst>
          </a:prstGeom>
          <a:solidFill>
            <a:srgbClr val="F0F4F8"/>
          </a:solidFill>
          <a:ln w="6350">
            <a:solidFill>
              <a:srgbClr val="DEE2E6"/>
            </a:solidFill>
            <a:prstDash val="solid"/>
          </a:ln>
        </p:spPr>
      </p:sp>
      <p:sp>
        <p:nvSpPr>
          <p:cNvPr id="36" name="Text 34"/>
          <p:cNvSpPr/>
          <p:nvPr/>
        </p:nvSpPr>
        <p:spPr>
          <a:xfrm>
            <a:off x="475488" y="2871216"/>
            <a:ext cx="2743200" cy="219456"/>
          </a:xfrm>
          <a:prstGeom prst="rect">
            <a:avLst/>
          </a:prstGeom>
          <a:noFill/>
          <a:ln/>
        </p:spPr>
        <p:txBody>
          <a:bodyPr wrap="square" lIns="0" tIns="0" rIns="0" bIns="0" rtlCol="0" anchor="ctr"/>
          <a:lstStyle/>
          <a:p>
            <a:pPr indent="0" marL="0">
              <a:buNone/>
            </a:pPr>
            <a:r>
              <a:rPr lang="en-US" sz="900" b="1" dirty="0">
                <a:solidFill>
                  <a:srgbClr val="1A2B4A"/>
                </a:solidFill>
                <a:latin typeface="Calibri" pitchFamily="34" charset="0"/>
                <a:ea typeface="Calibri" pitchFamily="34" charset="-122"/>
                <a:cs typeface="Calibri" pitchFamily="34" charset="-120"/>
              </a:rPr>
              <a:t>Key Assumptions</a:t>
            </a:r>
            <a:endParaRPr lang="en-US" sz="900" dirty="0"/>
          </a:p>
        </p:txBody>
      </p:sp>
      <p:sp>
        <p:nvSpPr>
          <p:cNvPr id="37" name="Text 35"/>
          <p:cNvSpPr/>
          <p:nvPr/>
        </p:nvSpPr>
        <p:spPr>
          <a:xfrm>
            <a:off x="475488" y="3090672"/>
            <a:ext cx="4846320" cy="594360"/>
          </a:xfrm>
          <a:prstGeom prst="rect">
            <a:avLst/>
          </a:prstGeom>
          <a:noFill/>
          <a:ln/>
        </p:spPr>
        <p:txBody>
          <a:bodyPr wrap="square" lIns="0" tIns="0" rIns="0" bIns="0" rtlCol="0" anchor="t"/>
          <a:lstStyle/>
          <a:p>
            <a:pPr indent="0" marL="0">
              <a:buNone/>
            </a:pPr>
            <a:r>
              <a:rPr lang="en-US" sz="850" dirty="0">
                <a:solidFill>
                  <a:srgbClr val="5D6D7E"/>
                </a:solidFill>
                <a:latin typeface="Calibri" pitchFamily="34" charset="0"/>
                <a:ea typeface="Calibri" pitchFamily="34" charset="-122"/>
                <a:cs typeface="Calibri" pitchFamily="34" charset="-120"/>
              </a:rPr>
              <a:t>Saturation EBO%: Metro 65–70%  |  T1 55–60%  |  T2 40–45%  |  T3 30–35%  |  T4+ 20–25%</a:t>
            </a:r>
            <a:endParaRPr lang="en-US" sz="850" dirty="0"/>
          </a:p>
          <a:p>
            <a:pPr indent="0" marL="0">
              <a:buNone/>
            </a:pPr>
            <a:r>
              <a:rPr lang="en-US" sz="850" dirty="0">
                <a:solidFill>
                  <a:srgbClr val="5D6D7E"/>
                </a:solidFill>
                <a:latin typeface="Calibri" pitchFamily="34" charset="0"/>
                <a:ea typeface="Calibri" pitchFamily="34" charset="-122"/>
                <a:cs typeface="Calibri" pitchFamily="34" charset="-120"/>
              </a:rPr>
              <a:t>Tier multipliers: Metro 1.3×  |  T1 1.1×  |  T2 0.9×  |  T3 0.7×  |  T4 0.5×</a:t>
            </a:r>
            <a:endParaRPr lang="en-US" sz="850" dirty="0"/>
          </a:p>
          <a:p>
            <a:pPr indent="0" marL="0">
              <a:buNone/>
            </a:pPr>
            <a:r>
              <a:rPr lang="en-US" sz="850" dirty="0">
                <a:solidFill>
                  <a:srgbClr val="5D6D7E"/>
                </a:solidFill>
                <a:latin typeface="Calibri" pitchFamily="34" charset="0"/>
                <a:ea typeface="Calibri" pitchFamily="34" charset="-122"/>
                <a:cs typeface="Calibri" pitchFamily="34" charset="-120"/>
              </a:rPr>
              <a:t>Value Fashion: 28–30% of organised EBO. Zero macroeconomic growth assumed.</a:t>
            </a:r>
            <a:endParaRPr lang="en-US" sz="850" dirty="0"/>
          </a:p>
        </p:txBody>
      </p:sp>
      <p:sp>
        <p:nvSpPr>
          <p:cNvPr id="38" name="Shape 36"/>
          <p:cNvSpPr/>
          <p:nvPr/>
        </p:nvSpPr>
        <p:spPr>
          <a:xfrm>
            <a:off x="347472" y="3794760"/>
            <a:ext cx="2148840" cy="256032"/>
          </a:xfrm>
          <a:prstGeom prst="roundRect">
            <a:avLst>
              <a:gd name="adj" fmla="val 21429"/>
            </a:avLst>
          </a:prstGeom>
          <a:solidFill>
            <a:srgbClr val="F8F9FA"/>
          </a:solidFill>
          <a:ln w="12700">
            <a:solidFill>
              <a:srgbClr val="00A896"/>
            </a:solidFill>
            <a:prstDash val="solid"/>
          </a:ln>
        </p:spPr>
      </p:sp>
      <p:sp>
        <p:nvSpPr>
          <p:cNvPr id="39" name="Text 37"/>
          <p:cNvSpPr/>
          <p:nvPr/>
        </p:nvSpPr>
        <p:spPr>
          <a:xfrm>
            <a:off x="347472" y="3794760"/>
            <a:ext cx="2148840" cy="256032"/>
          </a:xfrm>
          <a:prstGeom prst="rect">
            <a:avLst/>
          </a:prstGeom>
          <a:noFill/>
          <a:ln/>
        </p:spPr>
        <p:txBody>
          <a:bodyPr wrap="square" lIns="0" tIns="0" rIns="0" bIns="0" rtlCol="0" anchor="ctr"/>
          <a:lstStyle/>
          <a:p>
            <a:pPr algn="ctr" indent="0" marL="0">
              <a:buNone/>
            </a:pPr>
            <a:r>
              <a:rPr lang="en-US" sz="800" b="1" dirty="0">
                <a:solidFill>
                  <a:srgbClr val="00A896"/>
                </a:solidFill>
                <a:latin typeface="Calibri" pitchFamily="34" charset="0"/>
                <a:ea typeface="Calibri" pitchFamily="34" charset="-122"/>
                <a:cs typeface="Calibri" pitchFamily="34" charset="-120"/>
              </a:rPr>
              <a:t>TRACK 2  :  ZUDIO DEEP DIVE</a:t>
            </a:r>
            <a:endParaRPr lang="en-US" sz="800" dirty="0"/>
          </a:p>
        </p:txBody>
      </p:sp>
      <p:sp>
        <p:nvSpPr>
          <p:cNvPr id="40" name="Shape 38"/>
          <p:cNvSpPr/>
          <p:nvPr/>
        </p:nvSpPr>
        <p:spPr>
          <a:xfrm>
            <a:off x="347472" y="4133088"/>
            <a:ext cx="1463040" cy="731520"/>
          </a:xfrm>
          <a:prstGeom prst="roundRect">
            <a:avLst>
              <a:gd name="adj" fmla="val 8750"/>
            </a:avLst>
          </a:prstGeom>
          <a:solidFill>
            <a:srgbClr val="F8F9FA"/>
          </a:solidFill>
          <a:ln w="12700">
            <a:solidFill>
              <a:srgbClr val="E67E22"/>
            </a:solidFill>
            <a:prstDash val="solid"/>
          </a:ln>
        </p:spPr>
      </p:sp>
      <p:sp>
        <p:nvSpPr>
          <p:cNvPr id="41" name="Text 39"/>
          <p:cNvSpPr/>
          <p:nvPr/>
        </p:nvSpPr>
        <p:spPr>
          <a:xfrm>
            <a:off x="393192" y="4151376"/>
            <a:ext cx="274320" cy="274320"/>
          </a:xfrm>
          <a:prstGeom prst="rect">
            <a:avLst/>
          </a:prstGeom>
          <a:noFill/>
          <a:ln/>
        </p:spPr>
        <p:txBody>
          <a:bodyPr wrap="square" lIns="0" tIns="0" rIns="0" bIns="0" rtlCol="0" anchor="ctr"/>
          <a:lstStyle/>
          <a:p>
            <a:pPr indent="0" marL="0">
              <a:buNone/>
            </a:pPr>
            <a:r>
              <a:rPr lang="en-US" sz="900" b="1" dirty="0">
                <a:solidFill>
                  <a:srgbClr val="E67E22"/>
                </a:solidFill>
                <a:latin typeface="Cambria" pitchFamily="34" charset="0"/>
                <a:ea typeface="Cambria" pitchFamily="34" charset="-122"/>
                <a:cs typeface="Cambria" pitchFamily="34" charset="-120"/>
              </a:rPr>
              <a:t>05</a:t>
            </a:r>
            <a:endParaRPr lang="en-US" sz="900" dirty="0"/>
          </a:p>
        </p:txBody>
      </p:sp>
      <p:sp>
        <p:nvSpPr>
          <p:cNvPr id="42" name="Text 40"/>
          <p:cNvSpPr/>
          <p:nvPr/>
        </p:nvSpPr>
        <p:spPr>
          <a:xfrm>
            <a:off x="438912" y="4425696"/>
            <a:ext cx="1280160" cy="219456"/>
          </a:xfrm>
          <a:prstGeom prst="rect">
            <a:avLst/>
          </a:prstGeom>
          <a:noFill/>
          <a:ln/>
        </p:spPr>
        <p:txBody>
          <a:bodyPr wrap="square" lIns="0" tIns="0" rIns="0" bIns="0" rtlCol="0" anchor="ctr"/>
          <a:lstStyle/>
          <a:p>
            <a:pPr indent="0" marL="0">
              <a:buNone/>
            </a:pPr>
            <a:r>
              <a:rPr lang="en-US" sz="800" b="1" dirty="0">
                <a:solidFill>
                  <a:srgbClr val="1A2B4A"/>
                </a:solidFill>
                <a:latin typeface="Calibri" pitchFamily="34" charset="0"/>
                <a:ea typeface="Calibri" pitchFamily="34" charset="-122"/>
                <a:cs typeface="Calibri" pitchFamily="34" charset="-120"/>
              </a:rPr>
              <a:t>Value Fashion %</a:t>
            </a:r>
            <a:endParaRPr lang="en-US" sz="800" dirty="0"/>
          </a:p>
        </p:txBody>
      </p:sp>
      <p:sp>
        <p:nvSpPr>
          <p:cNvPr id="43" name="Text 41"/>
          <p:cNvSpPr/>
          <p:nvPr/>
        </p:nvSpPr>
        <p:spPr>
          <a:xfrm>
            <a:off x="438912" y="4224528"/>
            <a:ext cx="1280160" cy="530352"/>
          </a:xfrm>
          <a:prstGeom prst="rect">
            <a:avLst/>
          </a:prstGeom>
          <a:noFill/>
          <a:ln/>
        </p:spPr>
        <p:txBody>
          <a:bodyPr wrap="square" lIns="0" tIns="0" rIns="0" bIns="0" rtlCol="0" anchor="b"/>
          <a:lstStyle/>
          <a:p>
            <a:pPr indent="0" marL="0">
              <a:buNone/>
            </a:pPr>
            <a:r>
              <a:rPr lang="en-US" sz="750" dirty="0">
                <a:solidFill>
                  <a:srgbClr val="5D6D7E"/>
                </a:solidFill>
                <a:latin typeface="Calibri" pitchFamily="34" charset="0"/>
                <a:ea typeface="Calibri" pitchFamily="34" charset="-122"/>
                <a:cs typeface="Calibri" pitchFamily="34" charset="-120"/>
              </a:rPr>
              <a:t>28-30% of organised EBO runway</a:t>
            </a:r>
            <a:endParaRPr lang="en-US" sz="750" dirty="0"/>
          </a:p>
        </p:txBody>
      </p:sp>
      <p:sp>
        <p:nvSpPr>
          <p:cNvPr id="44" name="Shape 42"/>
          <p:cNvSpPr/>
          <p:nvPr/>
        </p:nvSpPr>
        <p:spPr>
          <a:xfrm>
            <a:off x="1920240" y="4133088"/>
            <a:ext cx="1463040" cy="731520"/>
          </a:xfrm>
          <a:prstGeom prst="roundRect">
            <a:avLst>
              <a:gd name="adj" fmla="val 8750"/>
            </a:avLst>
          </a:prstGeom>
          <a:solidFill>
            <a:srgbClr val="F8F9FA"/>
          </a:solidFill>
          <a:ln w="12700">
            <a:solidFill>
              <a:srgbClr val="00A896"/>
            </a:solidFill>
            <a:prstDash val="solid"/>
          </a:ln>
        </p:spPr>
      </p:sp>
      <p:sp>
        <p:nvSpPr>
          <p:cNvPr id="45" name="Text 43"/>
          <p:cNvSpPr/>
          <p:nvPr/>
        </p:nvSpPr>
        <p:spPr>
          <a:xfrm>
            <a:off x="1965960" y="4151376"/>
            <a:ext cx="274320" cy="274320"/>
          </a:xfrm>
          <a:prstGeom prst="rect">
            <a:avLst/>
          </a:prstGeom>
          <a:noFill/>
          <a:ln/>
        </p:spPr>
        <p:txBody>
          <a:bodyPr wrap="square" lIns="0" tIns="0" rIns="0" bIns="0" rtlCol="0" anchor="ctr"/>
          <a:lstStyle/>
          <a:p>
            <a:pPr indent="0" marL="0">
              <a:buNone/>
            </a:pPr>
            <a:r>
              <a:rPr lang="en-US" sz="900" b="1" dirty="0">
                <a:solidFill>
                  <a:srgbClr val="00A896"/>
                </a:solidFill>
                <a:latin typeface="Cambria" pitchFamily="34" charset="0"/>
                <a:ea typeface="Cambria" pitchFamily="34" charset="-122"/>
                <a:cs typeface="Cambria" pitchFamily="34" charset="-120"/>
              </a:rPr>
              <a:t>06</a:t>
            </a:r>
            <a:endParaRPr lang="en-US" sz="900" dirty="0"/>
          </a:p>
        </p:txBody>
      </p:sp>
      <p:sp>
        <p:nvSpPr>
          <p:cNvPr id="46" name="Text 44"/>
          <p:cNvSpPr/>
          <p:nvPr/>
        </p:nvSpPr>
        <p:spPr>
          <a:xfrm>
            <a:off x="2011680" y="4425696"/>
            <a:ext cx="1280160" cy="219456"/>
          </a:xfrm>
          <a:prstGeom prst="rect">
            <a:avLst/>
          </a:prstGeom>
          <a:noFill/>
          <a:ln/>
        </p:spPr>
        <p:txBody>
          <a:bodyPr wrap="square" lIns="0" tIns="0" rIns="0" bIns="0" rtlCol="0" anchor="ctr"/>
          <a:lstStyle/>
          <a:p>
            <a:pPr indent="0" marL="0">
              <a:buNone/>
            </a:pPr>
            <a:r>
              <a:rPr lang="en-US" sz="800" b="1" dirty="0">
                <a:solidFill>
                  <a:srgbClr val="1A2B4A"/>
                </a:solidFill>
                <a:latin typeface="Calibri" pitchFamily="34" charset="0"/>
                <a:ea typeface="Calibri" pitchFamily="34" charset="-122"/>
                <a:cs typeface="Calibri" pitchFamily="34" charset="-120"/>
              </a:rPr>
              <a:t>Zudio Store Share</a:t>
            </a:r>
            <a:endParaRPr lang="en-US" sz="800" dirty="0"/>
          </a:p>
        </p:txBody>
      </p:sp>
      <p:sp>
        <p:nvSpPr>
          <p:cNvPr id="47" name="Text 45"/>
          <p:cNvSpPr/>
          <p:nvPr/>
        </p:nvSpPr>
        <p:spPr>
          <a:xfrm>
            <a:off x="2011680" y="4224528"/>
            <a:ext cx="1280160" cy="530352"/>
          </a:xfrm>
          <a:prstGeom prst="rect">
            <a:avLst/>
          </a:prstGeom>
          <a:noFill/>
          <a:ln/>
        </p:spPr>
        <p:txBody>
          <a:bodyPr wrap="square" lIns="0" tIns="0" rIns="0" bIns="0" rtlCol="0" anchor="b"/>
          <a:lstStyle/>
          <a:p>
            <a:pPr indent="0" marL="0">
              <a:buNone/>
            </a:pPr>
            <a:r>
              <a:rPr lang="en-US" sz="750" dirty="0">
                <a:solidFill>
                  <a:srgbClr val="5D6D7E"/>
                </a:solidFill>
                <a:latin typeface="Calibri" pitchFamily="34" charset="0"/>
                <a:ea typeface="Calibri" pitchFamily="34" charset="-122"/>
                <a:cs typeface="Calibri" pitchFamily="34" charset="-120"/>
              </a:rPr>
              <a:t>Zudio's current share within Value Fashion</a:t>
            </a:r>
            <a:endParaRPr lang="en-US" sz="750" dirty="0"/>
          </a:p>
        </p:txBody>
      </p:sp>
      <p:sp>
        <p:nvSpPr>
          <p:cNvPr id="48" name="Shape 46"/>
          <p:cNvSpPr/>
          <p:nvPr/>
        </p:nvSpPr>
        <p:spPr>
          <a:xfrm>
            <a:off x="3493008" y="4133088"/>
            <a:ext cx="1463040" cy="731520"/>
          </a:xfrm>
          <a:prstGeom prst="roundRect">
            <a:avLst>
              <a:gd name="adj" fmla="val 8750"/>
            </a:avLst>
          </a:prstGeom>
          <a:solidFill>
            <a:srgbClr val="F8F9FA"/>
          </a:solidFill>
          <a:ln w="12700">
            <a:solidFill>
              <a:srgbClr val="1E8449"/>
            </a:solidFill>
            <a:prstDash val="solid"/>
          </a:ln>
        </p:spPr>
      </p:sp>
      <p:sp>
        <p:nvSpPr>
          <p:cNvPr id="49" name="Text 47"/>
          <p:cNvSpPr/>
          <p:nvPr/>
        </p:nvSpPr>
        <p:spPr>
          <a:xfrm>
            <a:off x="3538728" y="4151376"/>
            <a:ext cx="274320" cy="274320"/>
          </a:xfrm>
          <a:prstGeom prst="rect">
            <a:avLst/>
          </a:prstGeom>
          <a:noFill/>
          <a:ln/>
        </p:spPr>
        <p:txBody>
          <a:bodyPr wrap="square" lIns="0" tIns="0" rIns="0" bIns="0" rtlCol="0" anchor="ctr"/>
          <a:lstStyle/>
          <a:p>
            <a:pPr indent="0" marL="0">
              <a:buNone/>
            </a:pPr>
            <a:r>
              <a:rPr lang="en-US" sz="900" b="1" dirty="0">
                <a:solidFill>
                  <a:srgbClr val="1E8449"/>
                </a:solidFill>
                <a:latin typeface="Cambria" pitchFamily="34" charset="0"/>
                <a:ea typeface="Cambria" pitchFamily="34" charset="-122"/>
                <a:cs typeface="Cambria" pitchFamily="34" charset="-120"/>
              </a:rPr>
              <a:t>07</a:t>
            </a:r>
            <a:endParaRPr lang="en-US" sz="900" dirty="0"/>
          </a:p>
        </p:txBody>
      </p:sp>
      <p:sp>
        <p:nvSpPr>
          <p:cNvPr id="50" name="Text 48"/>
          <p:cNvSpPr/>
          <p:nvPr/>
        </p:nvSpPr>
        <p:spPr>
          <a:xfrm>
            <a:off x="3584448" y="4425696"/>
            <a:ext cx="1280160" cy="219456"/>
          </a:xfrm>
          <a:prstGeom prst="rect">
            <a:avLst/>
          </a:prstGeom>
          <a:noFill/>
          <a:ln/>
        </p:spPr>
        <p:txBody>
          <a:bodyPr wrap="square" lIns="0" tIns="0" rIns="0" bIns="0" rtlCol="0" anchor="ctr"/>
          <a:lstStyle/>
          <a:p>
            <a:pPr indent="0" marL="0">
              <a:buNone/>
            </a:pPr>
            <a:r>
              <a:rPr lang="en-US" sz="800" b="1" dirty="0">
                <a:solidFill>
                  <a:srgbClr val="1A2B4A"/>
                </a:solidFill>
                <a:latin typeface="Calibri" pitchFamily="34" charset="0"/>
                <a:ea typeface="Calibri" pitchFamily="34" charset="-122"/>
                <a:cs typeface="Calibri" pitchFamily="34" charset="-120"/>
              </a:rPr>
              <a:t>Revenue Premium</a:t>
            </a:r>
            <a:endParaRPr lang="en-US" sz="800" dirty="0"/>
          </a:p>
        </p:txBody>
      </p:sp>
      <p:sp>
        <p:nvSpPr>
          <p:cNvPr id="51" name="Text 49"/>
          <p:cNvSpPr/>
          <p:nvPr/>
        </p:nvSpPr>
        <p:spPr>
          <a:xfrm>
            <a:off x="3584448" y="4224528"/>
            <a:ext cx="1280160" cy="530352"/>
          </a:xfrm>
          <a:prstGeom prst="rect">
            <a:avLst/>
          </a:prstGeom>
          <a:noFill/>
          <a:ln/>
        </p:spPr>
        <p:txBody>
          <a:bodyPr wrap="square" lIns="0" tIns="0" rIns="0" bIns="0" rtlCol="0" anchor="b"/>
          <a:lstStyle/>
          <a:p>
            <a:pPr indent="0" marL="0">
              <a:buNone/>
            </a:pPr>
            <a:r>
              <a:rPr lang="en-US" sz="750" dirty="0">
                <a:solidFill>
                  <a:srgbClr val="5D6D7E"/>
                </a:solidFill>
                <a:latin typeface="Calibri" pitchFamily="34" charset="0"/>
                <a:ea typeface="Calibri" pitchFamily="34" charset="-122"/>
                <a:cs typeface="Calibri" pitchFamily="34" charset="-120"/>
              </a:rPr>
              <a:t>Zudio avg rev/store &gt; peer avg — adjusts up</a:t>
            </a:r>
            <a:endParaRPr lang="en-US" sz="750" dirty="0"/>
          </a:p>
        </p:txBody>
      </p:sp>
      <p:sp>
        <p:nvSpPr>
          <p:cNvPr id="52" name="Shape 50"/>
          <p:cNvSpPr/>
          <p:nvPr/>
        </p:nvSpPr>
        <p:spPr>
          <a:xfrm>
            <a:off x="5138928" y="3749040"/>
            <a:ext cx="3703320" cy="1115568"/>
          </a:xfrm>
          <a:prstGeom prst="roundRect">
            <a:avLst>
              <a:gd name="adj" fmla="val 8197"/>
            </a:avLst>
          </a:prstGeom>
          <a:solidFill>
            <a:srgbClr val="00A896"/>
          </a:solidFill>
          <a:ln/>
          <a:effectLst>
            <a:outerShdw sx="100000" sy="100000" kx="0" ky="0" algn="bl" rotWithShape="0" blurRad="101600" dist="25400" dir="2700000">
              <a:srgbClr val="000000">
                <a:alpha val="10000"/>
              </a:srgbClr>
            </a:outerShdw>
          </a:effectLst>
        </p:spPr>
      </p:sp>
      <p:sp>
        <p:nvSpPr>
          <p:cNvPr id="53" name="Text 51"/>
          <p:cNvSpPr/>
          <p:nvPr/>
        </p:nvSpPr>
        <p:spPr>
          <a:xfrm>
            <a:off x="5230368" y="3776472"/>
            <a:ext cx="35204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OUTPUT B  —  ZUDIO</a:t>
            </a:r>
            <a:endParaRPr lang="en-US" sz="900" dirty="0"/>
          </a:p>
        </p:txBody>
      </p:sp>
      <p:sp>
        <p:nvSpPr>
          <p:cNvPr id="54" name="Text 52"/>
          <p:cNvSpPr/>
          <p:nvPr/>
        </p:nvSpPr>
        <p:spPr>
          <a:xfrm>
            <a:off x="5230368" y="4041648"/>
            <a:ext cx="352044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2,962 Zudio stores</a:t>
            </a:r>
            <a:endParaRPr lang="en-US" sz="1600" dirty="0"/>
          </a:p>
        </p:txBody>
      </p:sp>
      <p:sp>
        <p:nvSpPr>
          <p:cNvPr id="55" name="Text 53"/>
          <p:cNvSpPr/>
          <p:nvPr/>
        </p:nvSpPr>
        <p:spPr>
          <a:xfrm>
            <a:off x="5230368" y="4389120"/>
            <a:ext cx="352044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₹47,316 Cr revenue potential  (~$5.6B)</a:t>
            </a:r>
            <a:endParaRPr lang="en-US" sz="1100" dirty="0"/>
          </a:p>
        </p:txBody>
      </p:sp>
      <p:sp>
        <p:nvSpPr>
          <p:cNvPr id="56" name="Text 54"/>
          <p:cNvSpPr/>
          <p:nvPr/>
        </p:nvSpPr>
        <p:spPr>
          <a:xfrm>
            <a:off x="5230368" y="4681728"/>
            <a:ext cx="3520440" cy="164592"/>
          </a:xfrm>
          <a:prstGeom prst="rect">
            <a:avLst/>
          </a:prstGeom>
          <a:noFill/>
          <a:ln/>
        </p:spPr>
        <p:txBody>
          <a:bodyPr wrap="square" lIns="0" tIns="0" rIns="0" bIns="0" rtlCol="0" anchor="ctr"/>
          <a:lstStyle/>
          <a:p>
            <a:pPr algn="ctr" indent="0" marL="0">
              <a:buNone/>
            </a:pPr>
            <a:r>
              <a:rPr lang="en-US" sz="750" i="1" dirty="0">
                <a:solidFill>
                  <a:srgbClr val="CCEEEA"/>
                </a:solidFill>
                <a:latin typeface="Calibri" pitchFamily="34" charset="0"/>
                <a:ea typeface="Calibri" pitchFamily="34" charset="-122"/>
                <a:cs typeface="Calibri" pitchFamily="34" charset="-120"/>
              </a:rPr>
              <a:t>* Excludes rural — supply chain threshold not met</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India's True Apparel and Fashion Wallet</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713232"/>
            <a:ext cx="8229600" cy="320040"/>
          </a:xfrm>
          <a:prstGeom prst="rect">
            <a:avLst/>
          </a:prstGeom>
          <a:noFill/>
          <a:ln/>
        </p:spPr>
        <p:txBody>
          <a:bodyPr wrap="square" lIns="0" tIns="0" rIns="0" bIns="0" rtlCol="0" anchor="ctr"/>
          <a:lstStyle/>
          <a:p>
            <a:pPr algn="l" indent="0" marL="0">
              <a:buNone/>
            </a:pPr>
            <a:r>
              <a:rPr lang="en-US" sz="950" dirty="0">
                <a:solidFill>
                  <a:srgbClr val="5D6D7E"/>
                </a:solidFill>
                <a:latin typeface="Calibri" pitchFamily="34" charset="0"/>
                <a:ea typeface="Calibri" pitchFamily="34" charset="-122"/>
                <a:cs typeface="Calibri" pitchFamily="34" charset="-120"/>
              </a:rPr>
              <a:t>Wallet per capita is rising faster than store density in T2/T3 — the supply gap is widening, not closing.</a:t>
            </a:r>
            <a:endParaRPr lang="en-US" sz="950" dirty="0"/>
          </a:p>
        </p:txBody>
      </p:sp>
      <p:sp>
        <p:nvSpPr>
          <p:cNvPr id="5" name="Text 3"/>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6" name="Text 4"/>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14</a:t>
            </a:r>
            <a:endParaRPr lang="en-US" sz="750" dirty="0"/>
          </a:p>
        </p:txBody>
      </p:sp>
      <p:graphicFrame>
        <p:nvGraphicFramePr>
          <p:cNvPr id="7" name="Chart 0" descr=""/>
          <p:cNvGraphicFramePr/>
          <p:nvPr/>
        </p:nvGraphicFramePr>
        <p:xfrm>
          <a:off x="914400" y="1097280"/>
          <a:ext cx="6949440" cy="32461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187952" y="1143000"/>
            <a:ext cx="0" cy="3200400"/>
          </a:xfrm>
          <a:prstGeom prst="line">
            <a:avLst/>
          </a:prstGeom>
          <a:noFill/>
          <a:ln w="19050">
            <a:solidFill>
              <a:srgbClr val="C0392B"/>
            </a:solidFill>
            <a:prstDash val="dash"/>
          </a:ln>
        </p:spPr>
      </p:sp>
      <p:sp>
        <p:nvSpPr>
          <p:cNvPr id="9" name="Text 6"/>
          <p:cNvSpPr/>
          <p:nvPr/>
        </p:nvSpPr>
        <p:spPr>
          <a:xfrm>
            <a:off x="4224528" y="1965960"/>
            <a:ext cx="1554480" cy="594360"/>
          </a:xfrm>
          <a:prstGeom prst="rect">
            <a:avLst/>
          </a:prstGeom>
          <a:noFill/>
          <a:ln/>
        </p:spPr>
        <p:txBody>
          <a:bodyPr wrap="square" lIns="0" tIns="0" rIns="0" bIns="0" rtlCol="0" anchor="ctr"/>
          <a:lstStyle/>
          <a:p>
            <a:pPr indent="0" marL="0">
              <a:buNone/>
            </a:pPr>
            <a:r>
              <a:rPr lang="en-US" sz="850" i="1" dirty="0">
                <a:solidFill>
                  <a:srgbClr val="C0392B"/>
                </a:solidFill>
                <a:latin typeface="Calibri" pitchFamily="34" charset="0"/>
                <a:ea typeface="Calibri" pitchFamily="34" charset="-122"/>
                <a:cs typeface="Calibri" pitchFamily="34" charset="-120"/>
              </a:rPr>
              <a:t>₹6,500/capita</a:t>
            </a:r>
            <a:endParaRPr lang="en-US" sz="850" dirty="0"/>
          </a:p>
          <a:p>
            <a:pPr indent="0" marL="0">
              <a:buNone/>
            </a:pPr>
            <a:r>
              <a:rPr lang="en-US" sz="850" i="1" dirty="0">
                <a:solidFill>
                  <a:srgbClr val="C0392B"/>
                </a:solidFill>
                <a:latin typeface="Calibri" pitchFamily="34" charset="0"/>
                <a:ea typeface="Calibri" pitchFamily="34" charset="-122"/>
                <a:cs typeface="Calibri" pitchFamily="34" charset="-120"/>
              </a:rPr>
              <a:t>= EBO viability</a:t>
            </a:r>
            <a:endParaRPr lang="en-US" sz="850" dirty="0"/>
          </a:p>
          <a:p>
            <a:pPr indent="0" marL="0">
              <a:buNone/>
            </a:pPr>
            <a:r>
              <a:rPr lang="en-US" sz="850" i="1" dirty="0">
                <a:solidFill>
                  <a:srgbClr val="C0392B"/>
                </a:solidFill>
                <a:latin typeface="Calibri" pitchFamily="34" charset="0"/>
                <a:ea typeface="Calibri" pitchFamily="34" charset="-122"/>
                <a:cs typeface="Calibri" pitchFamily="34" charset="-120"/>
              </a:rPr>
              <a:t>threshold</a:t>
            </a:r>
            <a:endParaRPr lang="en-US" sz="850" dirty="0"/>
          </a:p>
        </p:txBody>
      </p:sp>
      <p:sp>
        <p:nvSpPr>
          <p:cNvPr id="10" name="Shape 7"/>
          <p:cNvSpPr/>
          <p:nvPr/>
        </p:nvSpPr>
        <p:spPr>
          <a:xfrm>
            <a:off x="457200" y="4434840"/>
            <a:ext cx="4114800" cy="347472"/>
          </a:xfrm>
          <a:prstGeom prst="roundRect">
            <a:avLst>
              <a:gd name="adj" fmla="val 18421"/>
            </a:avLst>
          </a:prstGeom>
          <a:solidFill>
            <a:srgbClr val="E9F7EF"/>
          </a:solidFill>
          <a:ln w="19050">
            <a:solidFill>
              <a:srgbClr val="1E8449"/>
            </a:solidFill>
            <a:prstDash val="solid"/>
          </a:ln>
        </p:spPr>
      </p:sp>
      <p:sp>
        <p:nvSpPr>
          <p:cNvPr id="11" name="Text 8"/>
          <p:cNvSpPr/>
          <p:nvPr/>
        </p:nvSpPr>
        <p:spPr>
          <a:xfrm>
            <a:off x="548640" y="4498848"/>
            <a:ext cx="3931920" cy="219456"/>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T3 crosses the viability threshold but has almost no stores. Most underleveraged point on this chart.</a:t>
            </a:r>
            <a:endParaRPr lang="en-US" sz="950" dirty="0"/>
          </a:p>
        </p:txBody>
      </p:sp>
      <p:sp>
        <p:nvSpPr>
          <p:cNvPr id="12" name="Shape 9"/>
          <p:cNvSpPr/>
          <p:nvPr/>
        </p:nvSpPr>
        <p:spPr>
          <a:xfrm>
            <a:off x="4663440" y="4434840"/>
            <a:ext cx="4023360" cy="347472"/>
          </a:xfrm>
          <a:prstGeom prst="roundRect">
            <a:avLst>
              <a:gd name="adj" fmla="val 18421"/>
            </a:avLst>
          </a:prstGeom>
          <a:solidFill>
            <a:srgbClr val="FDEDEC"/>
          </a:solidFill>
          <a:ln w="19050">
            <a:solidFill>
              <a:srgbClr val="C0392B"/>
            </a:solidFill>
            <a:prstDash val="solid"/>
          </a:ln>
        </p:spPr>
      </p:sp>
      <p:sp>
        <p:nvSpPr>
          <p:cNvPr id="13" name="Text 10"/>
          <p:cNvSpPr/>
          <p:nvPr/>
        </p:nvSpPr>
        <p:spPr>
          <a:xfrm>
            <a:off x="4754880" y="4498848"/>
            <a:ext cx="3840480" cy="219456"/>
          </a:xfrm>
          <a:prstGeom prst="rect">
            <a:avLst/>
          </a:prstGeom>
          <a:noFill/>
          <a:ln/>
        </p:spPr>
        <p:txBody>
          <a:bodyPr wrap="square" lIns="0" tIns="0" rIns="0" bIns="0" rtlCol="0" anchor="ctr"/>
          <a:lstStyle/>
          <a:p>
            <a:pPr algn="l" indent="0" marL="0">
              <a:buNone/>
            </a:pPr>
            <a:r>
              <a:rPr lang="en-US" sz="950" dirty="0">
                <a:solidFill>
                  <a:srgbClr val="7B241C"/>
                </a:solidFill>
                <a:latin typeface="Calibri" pitchFamily="34" charset="0"/>
                <a:ea typeface="Calibri" pitchFamily="34" charset="-122"/>
                <a:cs typeface="Calibri" pitchFamily="34" charset="-120"/>
              </a:rPr>
              <a:t>✗ Rural: below threshold AND low store density. Not yet viable. Shown separately as a gray bar in store potential charts.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The Market is Still Dominated by Unorganised Trade</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713232"/>
            <a:ext cx="8229600" cy="320040"/>
          </a:xfrm>
          <a:prstGeom prst="rect">
            <a:avLst/>
          </a:prstGeom>
          <a:noFill/>
          <a:ln/>
        </p:spPr>
        <p:txBody>
          <a:bodyPr wrap="square" lIns="0" tIns="0" rIns="0" bIns="0" rtlCol="0" anchor="ctr"/>
          <a:lstStyle/>
          <a:p>
            <a:pPr algn="l" indent="0" marL="0">
              <a:buNone/>
            </a:pPr>
            <a:r>
              <a:rPr lang="en-US" sz="950" dirty="0">
                <a:solidFill>
                  <a:srgbClr val="5D6D7E"/>
                </a:solidFill>
                <a:latin typeface="Calibri" pitchFamily="34" charset="0"/>
                <a:ea typeface="Calibri" pitchFamily="34" charset="-122"/>
                <a:cs typeface="Calibri" pitchFamily="34" charset="-120"/>
              </a:rPr>
              <a:t>Even with rapid growth, most of India's clothing spending still goes to local shops, street markets, and tailors.</a:t>
            </a:r>
            <a:endParaRPr lang="en-US" sz="950" dirty="0"/>
          </a:p>
        </p:txBody>
      </p:sp>
      <p:sp>
        <p:nvSpPr>
          <p:cNvPr id="5" name="Text 3"/>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6" name="Text 4"/>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15</a:t>
            </a:r>
            <a:endParaRPr lang="en-US" sz="750" dirty="0"/>
          </a:p>
        </p:txBody>
      </p:sp>
      <p:graphicFrame>
        <p:nvGraphicFramePr>
          <p:cNvPr id="7" name="Chart 0" descr=""/>
          <p:cNvGraphicFramePr/>
          <p:nvPr/>
        </p:nvGraphicFramePr>
        <p:xfrm>
          <a:off x="457200" y="1170432"/>
          <a:ext cx="5120640" cy="29718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57200" y="4224528"/>
            <a:ext cx="2286000" cy="402336"/>
          </a:xfrm>
          <a:prstGeom prst="roundRect">
            <a:avLst>
              <a:gd name="adj" fmla="val 15909"/>
            </a:avLst>
          </a:prstGeom>
          <a:solidFill>
            <a:srgbClr val="E9F7EF"/>
          </a:solidFill>
          <a:ln w="19050">
            <a:solidFill>
              <a:srgbClr val="1E8449"/>
            </a:solidFill>
            <a:prstDash val="solid"/>
          </a:ln>
        </p:spPr>
      </p:sp>
      <p:sp>
        <p:nvSpPr>
          <p:cNvPr id="9" name="Text 6"/>
          <p:cNvSpPr/>
          <p:nvPr/>
        </p:nvSpPr>
        <p:spPr>
          <a:xfrm>
            <a:off x="548640" y="4288536"/>
            <a:ext cx="2103120" cy="274320"/>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Metro: ~45% organised — the future baseline for all tiers.</a:t>
            </a:r>
            <a:endParaRPr lang="en-US" sz="950" dirty="0"/>
          </a:p>
        </p:txBody>
      </p:sp>
      <p:sp>
        <p:nvSpPr>
          <p:cNvPr id="10" name="Shape 7"/>
          <p:cNvSpPr/>
          <p:nvPr/>
        </p:nvSpPr>
        <p:spPr>
          <a:xfrm>
            <a:off x="2834640" y="4224528"/>
            <a:ext cx="2743200" cy="402336"/>
          </a:xfrm>
          <a:prstGeom prst="roundRect">
            <a:avLst>
              <a:gd name="adj" fmla="val 15909"/>
            </a:avLst>
          </a:prstGeom>
          <a:solidFill>
            <a:srgbClr val="FDEDEC"/>
          </a:solidFill>
          <a:ln w="19050">
            <a:solidFill>
              <a:srgbClr val="C0392B"/>
            </a:solidFill>
            <a:prstDash val="solid"/>
          </a:ln>
        </p:spPr>
      </p:sp>
      <p:sp>
        <p:nvSpPr>
          <p:cNvPr id="11" name="Text 8"/>
          <p:cNvSpPr/>
          <p:nvPr/>
        </p:nvSpPr>
        <p:spPr>
          <a:xfrm>
            <a:off x="2926080" y="4288536"/>
            <a:ext cx="2560320" cy="274320"/>
          </a:xfrm>
          <a:prstGeom prst="rect">
            <a:avLst/>
          </a:prstGeom>
          <a:noFill/>
          <a:ln/>
        </p:spPr>
        <p:txBody>
          <a:bodyPr wrap="square" lIns="0" tIns="0" rIns="0" bIns="0" rtlCol="0" anchor="ctr"/>
          <a:lstStyle/>
          <a:p>
            <a:pPr algn="l" indent="0" marL="0">
              <a:buNone/>
            </a:pPr>
            <a:r>
              <a:rPr lang="en-US" sz="950" dirty="0">
                <a:solidFill>
                  <a:srgbClr val="7B241C"/>
                </a:solidFill>
                <a:latin typeface="Calibri" pitchFamily="34" charset="0"/>
                <a:ea typeface="Calibri" pitchFamily="34" charset="-122"/>
                <a:cs typeface="Calibri" pitchFamily="34" charset="-120"/>
              </a:rPr>
              <a:t>✗ Rural: Only 4% organised. 96% still unorganised. Well beyond current reach.</a:t>
            </a:r>
            <a:endParaRPr lang="en-US" sz="950" dirty="0"/>
          </a:p>
        </p:txBody>
      </p:sp>
      <p:graphicFrame>
        <p:nvGraphicFramePr>
          <p:cNvPr id="12" name="Chart 1" descr=""/>
          <p:cNvGraphicFramePr/>
          <p:nvPr/>
        </p:nvGraphicFramePr>
        <p:xfrm>
          <a:off x="5760720" y="1170432"/>
          <a:ext cx="3017520" cy="2971800"/>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a:off x="5760720" y="4224528"/>
            <a:ext cx="3017520" cy="402336"/>
          </a:xfrm>
          <a:prstGeom prst="roundRect">
            <a:avLst>
              <a:gd name="adj" fmla="val 15909"/>
            </a:avLst>
          </a:prstGeom>
          <a:solidFill>
            <a:srgbClr val="FDEDEC"/>
          </a:solidFill>
          <a:ln w="19050">
            <a:solidFill>
              <a:srgbClr val="C0392B"/>
            </a:solidFill>
            <a:prstDash val="solid"/>
          </a:ln>
        </p:spPr>
      </p:sp>
      <p:sp>
        <p:nvSpPr>
          <p:cNvPr id="14" name="Text 10"/>
          <p:cNvSpPr/>
          <p:nvPr/>
        </p:nvSpPr>
        <p:spPr>
          <a:xfrm>
            <a:off x="5852160" y="4288536"/>
            <a:ext cx="2834640" cy="274320"/>
          </a:xfrm>
          <a:prstGeom prst="rect">
            <a:avLst/>
          </a:prstGeom>
          <a:noFill/>
          <a:ln/>
        </p:spPr>
        <p:txBody>
          <a:bodyPr wrap="square" lIns="0" tIns="0" rIns="0" bIns="0" rtlCol="0" anchor="ctr"/>
          <a:lstStyle/>
          <a:p>
            <a:pPr algn="l" indent="0" marL="0">
              <a:buNone/>
            </a:pPr>
            <a:r>
              <a:rPr lang="en-US" sz="950" dirty="0">
                <a:solidFill>
                  <a:srgbClr val="7B241C"/>
                </a:solidFill>
                <a:latin typeface="Calibri" pitchFamily="34" charset="0"/>
                <a:ea typeface="Calibri" pitchFamily="34" charset="-122"/>
                <a:cs typeface="Calibri" pitchFamily="34" charset="-120"/>
              </a:rPr>
              <a:t>✗ Even 300Cr+ spend pincodes — 59% still have ZERO organised stores!</a:t>
            </a:r>
            <a:endParaRPr lang="en-US" sz="950" dirty="0"/>
          </a:p>
        </p:txBody>
      </p:sp>
      <p:sp>
        <p:nvSpPr>
          <p:cNvPr id="15" name="Text 11"/>
          <p:cNvSpPr/>
          <p:nvPr/>
        </p:nvSpPr>
        <p:spPr>
          <a:xfrm>
            <a:off x="457200" y="4736592"/>
            <a:ext cx="8229600" cy="182880"/>
          </a:xfrm>
          <a:prstGeom prst="rect">
            <a:avLst/>
          </a:prstGeom>
          <a:noFill/>
          <a:ln/>
        </p:spPr>
        <p:txBody>
          <a:bodyPr wrap="square" lIns="0" tIns="0" rIns="0" bIns="0" rtlCol="0" anchor="ctr"/>
          <a:lstStyle/>
          <a:p>
            <a:pPr indent="0" marL="0">
              <a:buNone/>
            </a:pPr>
            <a:r>
              <a:rPr lang="en-US" sz="750" i="1" dirty="0">
                <a:solidFill>
                  <a:srgbClr val="95A5A6"/>
                </a:solidFill>
                <a:latin typeface="Calibri" pitchFamily="34" charset="0"/>
                <a:ea typeface="Calibri" pitchFamily="34" charset="-122"/>
                <a:cs typeface="Calibri" pitchFamily="34" charset="-120"/>
              </a:rPr>
              <a:t>* Ecommerce + MBO not added to Brand EBOs. Inclusion would raise organised share by ~8–10pp across tiers.</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Pincodes Wise Penetration: How Open is the Competitive Landscape</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5" name="Text 3"/>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16</a:t>
            </a:r>
            <a:endParaRPr lang="en-US" sz="750" dirty="0"/>
          </a:p>
        </p:txBody>
      </p:sp>
      <p:sp>
        <p:nvSpPr>
          <p:cNvPr id="6" name="Shape 4"/>
          <p:cNvSpPr/>
          <p:nvPr/>
        </p:nvSpPr>
        <p:spPr>
          <a:xfrm>
            <a:off x="457200" y="932688"/>
            <a:ext cx="8229600" cy="329184"/>
          </a:xfrm>
          <a:prstGeom prst="roundRect">
            <a:avLst>
              <a:gd name="adj" fmla="val 19444"/>
            </a:avLst>
          </a:prstGeom>
          <a:solidFill>
            <a:srgbClr val="FDEDEC"/>
          </a:solidFill>
          <a:ln w="19050">
            <a:solidFill>
              <a:srgbClr val="C0392B"/>
            </a:solidFill>
            <a:prstDash val="solid"/>
          </a:ln>
        </p:spPr>
      </p:sp>
      <p:sp>
        <p:nvSpPr>
          <p:cNvPr id="7" name="Text 5"/>
          <p:cNvSpPr/>
          <p:nvPr/>
        </p:nvSpPr>
        <p:spPr>
          <a:xfrm>
            <a:off x="548640" y="996696"/>
            <a:ext cx="8046720" cy="201168"/>
          </a:xfrm>
          <a:prstGeom prst="rect">
            <a:avLst/>
          </a:prstGeom>
          <a:noFill/>
          <a:ln/>
        </p:spPr>
        <p:txBody>
          <a:bodyPr wrap="square" lIns="0" tIns="0" rIns="0" bIns="0" rtlCol="0" anchor="ctr"/>
          <a:lstStyle/>
          <a:p>
            <a:pPr algn="l" indent="0" marL="0">
              <a:buNone/>
            </a:pPr>
            <a:r>
              <a:rPr lang="en-US" sz="1000" dirty="0">
                <a:solidFill>
                  <a:srgbClr val="7B241C"/>
                </a:solidFill>
                <a:latin typeface="Calibri" pitchFamily="34" charset="0"/>
                <a:ea typeface="Calibri" pitchFamily="34" charset="-122"/>
                <a:cs typeface="Calibri" pitchFamily="34" charset="-120"/>
              </a:rPr>
              <a:t>⚑ Even 20% of pincodes with ₹300+ Crore annual spending have ZERO organised stores — wealthy areas that have been completely ignored.</a:t>
            </a:r>
            <a:endParaRPr lang="en-US" sz="1000" dirty="0"/>
          </a:p>
        </p:txBody>
      </p:sp>
      <p:graphicFrame>
        <p:nvGraphicFramePr>
          <p:cNvPr id="8" name="Chart 0" descr=""/>
          <p:cNvGraphicFramePr/>
          <p:nvPr/>
        </p:nvGraphicFramePr>
        <p:xfrm>
          <a:off x="457200" y="1353312"/>
          <a:ext cx="4572000" cy="2487168"/>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457200" y="3913632"/>
            <a:ext cx="4572000" cy="402336"/>
          </a:xfrm>
          <a:prstGeom prst="roundRect">
            <a:avLst>
              <a:gd name="adj" fmla="val 15909"/>
            </a:avLst>
          </a:prstGeom>
          <a:solidFill>
            <a:srgbClr val="E9F7EF"/>
          </a:solidFill>
          <a:ln w="19050">
            <a:solidFill>
              <a:srgbClr val="1E8449"/>
            </a:solidFill>
            <a:prstDash val="solid"/>
          </a:ln>
        </p:spPr>
      </p:sp>
      <p:sp>
        <p:nvSpPr>
          <p:cNvPr id="10" name="Text 7"/>
          <p:cNvSpPr/>
          <p:nvPr/>
        </p:nvSpPr>
        <p:spPr>
          <a:xfrm>
            <a:off x="548640" y="3977640"/>
            <a:ext cx="4389120" cy="274320"/>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1,325 pincodes have just 1 organised store — Moat territory. First-mover here faces no meaningful competition.</a:t>
            </a:r>
            <a:endParaRPr lang="en-US" sz="950" dirty="0"/>
          </a:p>
        </p:txBody>
      </p:sp>
      <p:graphicFrame>
        <p:nvGraphicFramePr>
          <p:cNvPr id="11" name="Chart 1" descr=""/>
          <p:cNvGraphicFramePr/>
          <p:nvPr/>
        </p:nvGraphicFramePr>
        <p:xfrm>
          <a:off x="5212080" y="1353312"/>
          <a:ext cx="3566160" cy="2487168"/>
        </p:xfrm>
        <a:graphic xmlns:a="http://schemas.openxmlformats.org/drawingml/2006/main">
          <a:graphicData uri="http://schemas.openxmlformats.org/drawingml/2006/chart">
            <c:chart xmlns:c="http://schemas.openxmlformats.org/drawingml/2006/chart" r:id="rId2"/>
          </a:graphicData>
        </a:graphic>
      </p:graphicFrame>
      <p:sp>
        <p:nvSpPr>
          <p:cNvPr id="12" name="Shape 8"/>
          <p:cNvSpPr/>
          <p:nvPr/>
        </p:nvSpPr>
        <p:spPr>
          <a:xfrm>
            <a:off x="5212080" y="3913632"/>
            <a:ext cx="3566160" cy="402336"/>
          </a:xfrm>
          <a:prstGeom prst="roundRect">
            <a:avLst>
              <a:gd name="adj" fmla="val 15909"/>
            </a:avLst>
          </a:prstGeom>
          <a:solidFill>
            <a:srgbClr val="E9F7EF"/>
          </a:solidFill>
          <a:ln w="19050">
            <a:solidFill>
              <a:srgbClr val="1E8449"/>
            </a:solidFill>
            <a:prstDash val="solid"/>
          </a:ln>
        </p:spPr>
      </p:sp>
      <p:sp>
        <p:nvSpPr>
          <p:cNvPr id="13" name="Text 9"/>
          <p:cNvSpPr/>
          <p:nvPr/>
        </p:nvSpPr>
        <p:spPr>
          <a:xfrm>
            <a:off x="5303520" y="3977640"/>
            <a:ext cx="3383280" cy="274320"/>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T3 has the most 'Moat' and 'Light' pincodes — the most open competitive landscape of any tier.</a:t>
            </a:r>
            <a:endParaRPr lang="en-US" sz="950" dirty="0"/>
          </a:p>
        </p:txBody>
      </p:sp>
      <p:sp>
        <p:nvSpPr>
          <p:cNvPr id="14" name="Text 10"/>
          <p:cNvSpPr/>
          <p:nvPr/>
        </p:nvSpPr>
        <p:spPr>
          <a:xfrm>
            <a:off x="457200" y="4407408"/>
            <a:ext cx="8229600" cy="274320"/>
          </a:xfrm>
          <a:prstGeom prst="rect">
            <a:avLst/>
          </a:prstGeom>
          <a:noFill/>
          <a:ln/>
        </p:spPr>
        <p:txBody>
          <a:bodyPr wrap="square" lIns="0" tIns="0" rIns="0" bIns="0" rtlCol="0" anchor="ctr"/>
          <a:lstStyle/>
          <a:p>
            <a:pPr indent="0" marL="0">
              <a:buNone/>
            </a:pPr>
            <a:r>
              <a:rPr lang="en-US" sz="950" i="1" dirty="0">
                <a:solidFill>
                  <a:srgbClr val="5D6D7E"/>
                </a:solidFill>
                <a:latin typeface="Calibri" pitchFamily="34" charset="0"/>
                <a:ea typeface="Calibri" pitchFamily="34" charset="-122"/>
                <a:cs typeface="Calibri" pitchFamily="34" charset="-120"/>
              </a:rPr>
              <a:t>85% of pincodes with any organised presence have fewer than 4 stores. The market is not just underpenetrated — it is effectively untouched.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How Many Stores Can Be Reached</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713232"/>
            <a:ext cx="8229600" cy="320040"/>
          </a:xfrm>
          <a:prstGeom prst="rect">
            <a:avLst/>
          </a:prstGeom>
          <a:noFill/>
          <a:ln/>
        </p:spPr>
        <p:txBody>
          <a:bodyPr wrap="square" lIns="0" tIns="0" rIns="0" bIns="0" rtlCol="0" anchor="ctr"/>
          <a:lstStyle/>
          <a:p>
            <a:pPr algn="l" indent="0" marL="0">
              <a:buNone/>
            </a:pPr>
            <a:r>
              <a:rPr lang="en-US" sz="950" dirty="0">
                <a:solidFill>
                  <a:srgbClr val="5D6D7E"/>
                </a:solidFill>
                <a:latin typeface="Calibri" pitchFamily="34" charset="0"/>
                <a:ea typeface="Calibri" pitchFamily="34" charset="-122"/>
                <a:cs typeface="Calibri" pitchFamily="34" charset="-120"/>
              </a:rPr>
              <a:t>T3 alone accounts for 34% of all viable new organised stores. The total market can roughly double from here.</a:t>
            </a:r>
            <a:endParaRPr lang="en-US" sz="950" dirty="0"/>
          </a:p>
        </p:txBody>
      </p:sp>
      <p:sp>
        <p:nvSpPr>
          <p:cNvPr id="5" name="Text 3"/>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6" name="Text 4"/>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17</a:t>
            </a:r>
            <a:endParaRPr lang="en-US" sz="750" dirty="0"/>
          </a:p>
        </p:txBody>
      </p:sp>
      <p:graphicFrame>
        <p:nvGraphicFramePr>
          <p:cNvPr id="7" name="Chart 0" descr=""/>
          <p:cNvGraphicFramePr/>
          <p:nvPr/>
        </p:nvGraphicFramePr>
        <p:xfrm>
          <a:off x="457200" y="1170432"/>
          <a:ext cx="8229600" cy="3310128"/>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133088" y="1234440"/>
            <a:ext cx="1325880" cy="329184"/>
          </a:xfrm>
          <a:prstGeom prst="roundRect">
            <a:avLst>
              <a:gd name="adj" fmla="val 19444"/>
            </a:avLst>
          </a:prstGeom>
          <a:solidFill>
            <a:srgbClr val="E9F7EF"/>
          </a:solidFill>
          <a:ln w="19050">
            <a:solidFill>
              <a:srgbClr val="1E8449"/>
            </a:solidFill>
            <a:prstDash val="solid"/>
          </a:ln>
        </p:spPr>
      </p:sp>
      <p:sp>
        <p:nvSpPr>
          <p:cNvPr id="9" name="Text 6"/>
          <p:cNvSpPr/>
          <p:nvPr/>
        </p:nvSpPr>
        <p:spPr>
          <a:xfrm>
            <a:off x="4224528" y="1298448"/>
            <a:ext cx="1143000" cy="201168"/>
          </a:xfrm>
          <a:prstGeom prst="rect">
            <a:avLst/>
          </a:prstGeom>
          <a:noFill/>
          <a:ln/>
        </p:spPr>
        <p:txBody>
          <a:bodyPr wrap="square" lIns="0" tIns="0" rIns="0" bIns="0" rtlCol="0" anchor="ctr"/>
          <a:lstStyle/>
          <a:p>
            <a:pPr algn="l" indent="0" marL="0">
              <a:buNone/>
            </a:pPr>
            <a:r>
              <a:rPr lang="en-US" sz="850" dirty="0">
                <a:solidFill>
                  <a:srgbClr val="145A32"/>
                </a:solidFill>
                <a:latin typeface="Calibri" pitchFamily="34" charset="0"/>
                <a:ea typeface="Calibri" pitchFamily="34" charset="-122"/>
                <a:cs typeface="Calibri" pitchFamily="34" charset="-120"/>
              </a:rPr>
              <a:t>T3: 34%</a:t>
            </a:r>
            <a:endParaRPr lang="en-US" sz="850" dirty="0"/>
          </a:p>
          <a:p>
            <a:pPr algn="l" indent="0" marL="0">
              <a:buNone/>
            </a:pPr>
            <a:r>
              <a:rPr lang="en-US" sz="850" dirty="0">
                <a:solidFill>
                  <a:srgbClr val="145A32"/>
                </a:solidFill>
                <a:latin typeface="Calibri" pitchFamily="34" charset="0"/>
                <a:ea typeface="Calibri" pitchFamily="34" charset="-122"/>
                <a:cs typeface="Calibri" pitchFamily="34" charset="-120"/>
              </a:rPr>
              <a:t>of additions</a:t>
            </a:r>
            <a:endParaRPr lang="en-US" sz="850" dirty="0"/>
          </a:p>
        </p:txBody>
      </p:sp>
      <p:sp>
        <p:nvSpPr>
          <p:cNvPr id="10" name="Text 7"/>
          <p:cNvSpPr/>
          <p:nvPr/>
        </p:nvSpPr>
        <p:spPr>
          <a:xfrm>
            <a:off x="457200" y="4572000"/>
            <a:ext cx="8229600" cy="237744"/>
          </a:xfrm>
          <a:prstGeom prst="rect">
            <a:avLst/>
          </a:prstGeom>
          <a:noFill/>
          <a:ln/>
        </p:spPr>
        <p:txBody>
          <a:bodyPr wrap="square" lIns="0" tIns="0" rIns="0" bIns="0" rtlCol="0" anchor="ctr"/>
          <a:lstStyle/>
          <a:p>
            <a:pPr indent="0" marL="0">
              <a:buNone/>
            </a:pPr>
            <a:r>
              <a:rPr lang="en-US" sz="800" i="1" dirty="0">
                <a:solidFill>
                  <a:srgbClr val="95A5A6"/>
                </a:solidFill>
                <a:latin typeface="Calibri" pitchFamily="34" charset="0"/>
                <a:ea typeface="Calibri" pitchFamily="34" charset="-122"/>
                <a:cs typeface="Calibri" pitchFamily="34" charset="-120"/>
              </a:rPr>
              <a:t>* Other/Rural bar shown in gray: mathematically viable but excluded from operational target. Supply chain economics require ≥5 stores per geography. Adjusted viable total: ~53,000 stores.</a:t>
            </a:r>
            <a:endParaRPr lang="en-US" sz="800" dirty="0"/>
          </a:p>
        </p:txBody>
      </p:sp>
      <p:sp>
        <p:nvSpPr>
          <p:cNvPr id="11" name="Shape 8"/>
          <p:cNvSpPr/>
          <p:nvPr/>
        </p:nvSpPr>
        <p:spPr>
          <a:xfrm>
            <a:off x="457200" y="4846320"/>
            <a:ext cx="8229600" cy="201168"/>
          </a:xfrm>
          <a:prstGeom prst="roundRect">
            <a:avLst>
              <a:gd name="adj" fmla="val 27273"/>
            </a:avLst>
          </a:prstGeom>
          <a:solidFill>
            <a:srgbClr val="FEF9E7"/>
          </a:solidFill>
          <a:ln w="12700">
            <a:solidFill>
              <a:srgbClr val="D68910"/>
            </a:solidFill>
            <a:prstDash val="solid"/>
          </a:ln>
        </p:spPr>
      </p:sp>
      <p:sp>
        <p:nvSpPr>
          <p:cNvPr id="12" name="Text 9"/>
          <p:cNvSpPr/>
          <p:nvPr/>
        </p:nvSpPr>
        <p:spPr>
          <a:xfrm>
            <a:off x="548640" y="4901184"/>
            <a:ext cx="8046720" cy="91440"/>
          </a:xfrm>
          <a:prstGeom prst="rect">
            <a:avLst/>
          </a:prstGeom>
          <a:noFill/>
          <a:ln/>
        </p:spPr>
        <p:txBody>
          <a:bodyPr wrap="square" lIns="0" tIns="0" rIns="0" bIns="0" rtlCol="0" anchor="ctr"/>
          <a:lstStyle/>
          <a:p>
            <a:pPr algn="l" indent="0" marL="0">
              <a:buNone/>
            </a:pPr>
            <a:r>
              <a:rPr lang="en-US" sz="850" dirty="0">
                <a:solidFill>
                  <a:srgbClr val="7D6608"/>
                </a:solidFill>
                <a:latin typeface="Calibri" pitchFamily="34" charset="0"/>
                <a:ea typeface="Calibri" pitchFamily="34" charset="-122"/>
                <a:cs typeface="Calibri" pitchFamily="34" charset="-120"/>
              </a:rPr>
              <a:t>USD: Total viable organised market potential ~53,000–63,000 stores vs ~31,000 today — roughly 2× the current organised base.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Are The Stores Correctly Placed?</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713232"/>
            <a:ext cx="8229600" cy="320040"/>
          </a:xfrm>
          <a:prstGeom prst="rect">
            <a:avLst/>
          </a:prstGeom>
          <a:noFill/>
          <a:ln/>
        </p:spPr>
        <p:txBody>
          <a:bodyPr wrap="square" lIns="0" tIns="0" rIns="0" bIns="0" rtlCol="0" anchor="ctr"/>
          <a:lstStyle/>
          <a:p>
            <a:pPr algn="l" indent="0" marL="0">
              <a:buNone/>
            </a:pPr>
            <a:r>
              <a:rPr lang="en-US" sz="950" dirty="0">
                <a:solidFill>
                  <a:srgbClr val="5D6D7E"/>
                </a:solidFill>
                <a:latin typeface="Calibri" pitchFamily="34" charset="0"/>
                <a:ea typeface="Calibri" pitchFamily="34" charset="-122"/>
                <a:cs typeface="Calibri" pitchFamily="34" charset="-120"/>
              </a:rPr>
              <a:t>Metro and T1 are nearly saturated. T3 has 79% of its entire potential still available.</a:t>
            </a:r>
            <a:endParaRPr lang="en-US" sz="950" dirty="0"/>
          </a:p>
        </p:txBody>
      </p:sp>
      <p:sp>
        <p:nvSpPr>
          <p:cNvPr id="5" name="Text 3"/>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6" name="Text 4"/>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18</a:t>
            </a:r>
            <a:endParaRPr lang="en-US" sz="750" dirty="0"/>
          </a:p>
        </p:txBody>
      </p:sp>
      <p:graphicFrame>
        <p:nvGraphicFramePr>
          <p:cNvPr id="7" name="Chart 0" descr=""/>
          <p:cNvGraphicFramePr/>
          <p:nvPr/>
        </p:nvGraphicFramePr>
        <p:xfrm>
          <a:off x="640080" y="1115568"/>
          <a:ext cx="7498080" cy="3401568"/>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40080" y="4590288"/>
            <a:ext cx="3383280" cy="347472"/>
          </a:xfrm>
          <a:prstGeom prst="roundRect">
            <a:avLst>
              <a:gd name="adj" fmla="val 18421"/>
            </a:avLst>
          </a:prstGeom>
          <a:solidFill>
            <a:srgbClr val="FDEDEC"/>
          </a:solidFill>
          <a:ln w="19050">
            <a:solidFill>
              <a:srgbClr val="C0392B"/>
            </a:solidFill>
            <a:prstDash val="solid"/>
          </a:ln>
        </p:spPr>
      </p:sp>
      <p:sp>
        <p:nvSpPr>
          <p:cNvPr id="9" name="Text 6"/>
          <p:cNvSpPr/>
          <p:nvPr/>
        </p:nvSpPr>
        <p:spPr>
          <a:xfrm>
            <a:off x="731520" y="4654296"/>
            <a:ext cx="3200400" cy="219456"/>
          </a:xfrm>
          <a:prstGeom prst="rect">
            <a:avLst/>
          </a:prstGeom>
          <a:noFill/>
          <a:ln/>
        </p:spPr>
        <p:txBody>
          <a:bodyPr wrap="square" lIns="0" tIns="0" rIns="0" bIns="0" rtlCol="0" anchor="ctr"/>
          <a:lstStyle/>
          <a:p>
            <a:pPr algn="l" indent="0" marL="0">
              <a:buNone/>
            </a:pPr>
            <a:r>
              <a:rPr lang="en-US" sz="950" dirty="0">
                <a:solidFill>
                  <a:srgbClr val="7B241C"/>
                </a:solidFill>
                <a:latin typeface="Calibri" pitchFamily="34" charset="0"/>
                <a:ea typeface="Calibri" pitchFamily="34" charset="-122"/>
                <a:cs typeface="Calibri" pitchFamily="34" charset="-120"/>
              </a:rPr>
              <a:t>✗ Metro: 80% penetrated | T1: 83% penetrated — nearly full. Saturated →</a:t>
            </a:r>
            <a:endParaRPr lang="en-US" sz="950" dirty="0"/>
          </a:p>
        </p:txBody>
      </p:sp>
      <p:sp>
        <p:nvSpPr>
          <p:cNvPr id="10" name="Shape 7"/>
          <p:cNvSpPr/>
          <p:nvPr/>
        </p:nvSpPr>
        <p:spPr>
          <a:xfrm>
            <a:off x="4114800" y="4590288"/>
            <a:ext cx="4114800" cy="347472"/>
          </a:xfrm>
          <a:prstGeom prst="roundRect">
            <a:avLst>
              <a:gd name="adj" fmla="val 18421"/>
            </a:avLst>
          </a:prstGeom>
          <a:solidFill>
            <a:srgbClr val="E9F7EF"/>
          </a:solidFill>
          <a:ln w="19050">
            <a:solidFill>
              <a:srgbClr val="1E8449"/>
            </a:solidFill>
            <a:prstDash val="solid"/>
          </a:ln>
        </p:spPr>
      </p:sp>
      <p:sp>
        <p:nvSpPr>
          <p:cNvPr id="11" name="Text 8"/>
          <p:cNvSpPr/>
          <p:nvPr/>
        </p:nvSpPr>
        <p:spPr>
          <a:xfrm>
            <a:off x="4206240" y="4654296"/>
            <a:ext cx="3931920" cy="219456"/>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T3: Only 21% penetrated — 79% runway remaining. ← The industry is barely through T3's potential.</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How Much Can We Add Before Saturation?</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713232"/>
            <a:ext cx="8229600" cy="320040"/>
          </a:xfrm>
          <a:prstGeom prst="rect">
            <a:avLst/>
          </a:prstGeom>
          <a:noFill/>
          <a:ln/>
        </p:spPr>
        <p:txBody>
          <a:bodyPr wrap="square" lIns="0" tIns="0" rIns="0" bIns="0" rtlCol="0" anchor="ctr"/>
          <a:lstStyle/>
          <a:p>
            <a:pPr algn="l" indent="0" marL="0">
              <a:buNone/>
            </a:pPr>
            <a:r>
              <a:rPr lang="en-US" sz="950" dirty="0">
                <a:solidFill>
                  <a:srgbClr val="5D6D7E"/>
                </a:solidFill>
                <a:latin typeface="Calibri" pitchFamily="34" charset="0"/>
                <a:ea typeface="Calibri" pitchFamily="34" charset="-122"/>
                <a:cs typeface="Calibri" pitchFamily="34" charset="-120"/>
              </a:rPr>
              <a:t>13% of pincodes permanently cannot support any organised store. 87% can — and most are barely served today.</a:t>
            </a:r>
            <a:endParaRPr lang="en-US" sz="950" dirty="0"/>
          </a:p>
        </p:txBody>
      </p:sp>
      <p:sp>
        <p:nvSpPr>
          <p:cNvPr id="5" name="Text 3"/>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6" name="Text 4"/>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19</a:t>
            </a:r>
            <a:endParaRPr lang="en-US" sz="750" dirty="0"/>
          </a:p>
        </p:txBody>
      </p:sp>
      <p:graphicFrame>
        <p:nvGraphicFramePr>
          <p:cNvPr id="7" name="Chart 0" descr=""/>
          <p:cNvGraphicFramePr/>
          <p:nvPr/>
        </p:nvGraphicFramePr>
        <p:xfrm>
          <a:off x="457200" y="1170432"/>
          <a:ext cx="3840480" cy="27432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57200" y="3986784"/>
            <a:ext cx="3840480" cy="438912"/>
          </a:xfrm>
          <a:prstGeom prst="roundRect">
            <a:avLst>
              <a:gd name="adj" fmla="val 14583"/>
            </a:avLst>
          </a:prstGeom>
          <a:solidFill>
            <a:srgbClr val="FDEDEC"/>
          </a:solidFill>
          <a:ln w="19050">
            <a:solidFill>
              <a:srgbClr val="C0392B"/>
            </a:solidFill>
            <a:prstDash val="solid"/>
          </a:ln>
        </p:spPr>
      </p:sp>
      <p:sp>
        <p:nvSpPr>
          <p:cNvPr id="9" name="Text 6"/>
          <p:cNvSpPr/>
          <p:nvPr/>
        </p:nvSpPr>
        <p:spPr>
          <a:xfrm>
            <a:off x="548640" y="4050792"/>
            <a:ext cx="3657600" cy="310896"/>
          </a:xfrm>
          <a:prstGeom prst="rect">
            <a:avLst/>
          </a:prstGeom>
          <a:noFill/>
          <a:ln/>
        </p:spPr>
        <p:txBody>
          <a:bodyPr wrap="square" lIns="0" tIns="0" rIns="0" bIns="0" rtlCol="0" anchor="ctr"/>
          <a:lstStyle/>
          <a:p>
            <a:pPr algn="l" indent="0" marL="0">
              <a:buNone/>
            </a:pPr>
            <a:r>
              <a:rPr lang="en-US" sz="950" dirty="0">
                <a:solidFill>
                  <a:srgbClr val="7B241C"/>
                </a:solidFill>
                <a:latin typeface="Calibri" pitchFamily="34" charset="0"/>
                <a:ea typeface="Calibri" pitchFamily="34" charset="-122"/>
                <a:cs typeface="Calibri" pitchFamily="34" charset="-120"/>
              </a:rPr>
              <a:t>✗ 80% of all pincodes (15,794 of 19,742) have ZERO organised retail today.</a:t>
            </a:r>
            <a:endParaRPr lang="en-US" sz="950" dirty="0"/>
          </a:p>
        </p:txBody>
      </p:sp>
      <p:graphicFrame>
        <p:nvGraphicFramePr>
          <p:cNvPr id="10" name="Chart 1" descr=""/>
          <p:cNvGraphicFramePr/>
          <p:nvPr/>
        </p:nvGraphicFramePr>
        <p:xfrm>
          <a:off x="4572000" y="1170432"/>
          <a:ext cx="4114800" cy="274320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4572000" y="3986784"/>
            <a:ext cx="4114800" cy="438912"/>
          </a:xfrm>
          <a:prstGeom prst="roundRect">
            <a:avLst>
              <a:gd name="adj" fmla="val 14583"/>
            </a:avLst>
          </a:prstGeom>
          <a:solidFill>
            <a:srgbClr val="E9F7EF"/>
          </a:solidFill>
          <a:ln w="19050">
            <a:solidFill>
              <a:srgbClr val="1E8449"/>
            </a:solidFill>
            <a:prstDash val="solid"/>
          </a:ln>
        </p:spPr>
      </p:sp>
      <p:sp>
        <p:nvSpPr>
          <p:cNvPr id="12" name="Text 8"/>
          <p:cNvSpPr/>
          <p:nvPr/>
        </p:nvSpPr>
        <p:spPr>
          <a:xfrm>
            <a:off x="4663440" y="4050792"/>
            <a:ext cx="3931920" cy="310896"/>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At full potential: 52% of pincodes have stores (up from 20%). Yet 87% still have ≤5 stores. Market never becomes crowded.</a:t>
            </a:r>
            <a:endParaRPr lang="en-US" sz="950" dirty="0"/>
          </a:p>
        </p:txBody>
      </p:sp>
      <p:sp>
        <p:nvSpPr>
          <p:cNvPr id="13" name="Shape 9"/>
          <p:cNvSpPr/>
          <p:nvPr/>
        </p:nvSpPr>
        <p:spPr>
          <a:xfrm>
            <a:off x="4572000" y="4498848"/>
            <a:ext cx="4114800" cy="256032"/>
          </a:xfrm>
          <a:prstGeom prst="roundRect">
            <a:avLst>
              <a:gd name="adj" fmla="val 25000"/>
            </a:avLst>
          </a:prstGeom>
          <a:solidFill>
            <a:srgbClr val="FDEDEC"/>
          </a:solidFill>
          <a:ln w="19050">
            <a:solidFill>
              <a:srgbClr val="C0392B"/>
            </a:solidFill>
            <a:prstDash val="solid"/>
          </a:ln>
        </p:spPr>
      </p:sp>
      <p:sp>
        <p:nvSpPr>
          <p:cNvPr id="14" name="Text 10"/>
          <p:cNvSpPr/>
          <p:nvPr/>
        </p:nvSpPr>
        <p:spPr>
          <a:xfrm>
            <a:off x="4663440" y="4562856"/>
            <a:ext cx="3931920" cy="128016"/>
          </a:xfrm>
          <a:prstGeom prst="rect">
            <a:avLst/>
          </a:prstGeom>
          <a:noFill/>
          <a:ln/>
        </p:spPr>
        <p:txBody>
          <a:bodyPr wrap="square" lIns="0" tIns="0" rIns="0" bIns="0" rtlCol="0" anchor="ctr"/>
          <a:lstStyle/>
          <a:p>
            <a:pPr algn="l" indent="0" marL="0">
              <a:buNone/>
            </a:pPr>
            <a:r>
              <a:rPr lang="en-US" sz="850" dirty="0">
                <a:solidFill>
                  <a:srgbClr val="7B241C"/>
                </a:solidFill>
                <a:latin typeface="Calibri" pitchFamily="34" charset="0"/>
                <a:ea typeface="Calibri" pitchFamily="34" charset="-122"/>
                <a:cs typeface="Calibri" pitchFamily="34" charset="-120"/>
              </a:rPr>
              <a:t>✗ 13% permanently unviable — wallet permanently too thin for any organised EBO.</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Are They Following the Trend or Not?</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713232"/>
            <a:ext cx="8229600" cy="320040"/>
          </a:xfrm>
          <a:prstGeom prst="rect">
            <a:avLst/>
          </a:prstGeom>
          <a:noFill/>
          <a:ln/>
        </p:spPr>
        <p:txBody>
          <a:bodyPr wrap="square" lIns="0" tIns="0" rIns="0" bIns="0" rtlCol="0" anchor="ctr"/>
          <a:lstStyle/>
          <a:p>
            <a:pPr algn="l" indent="0" marL="0">
              <a:buNone/>
            </a:pPr>
            <a:r>
              <a:rPr lang="en-US" sz="950" dirty="0">
                <a:solidFill>
                  <a:srgbClr val="5D6D7E"/>
                </a:solidFill>
                <a:latin typeface="Calibri" pitchFamily="34" charset="0"/>
                <a:ea typeface="Calibri" pitchFamily="34" charset="-122"/>
                <a:cs typeface="Calibri" pitchFamily="34" charset="-120"/>
              </a:rPr>
              <a:t>Of 100+ organised brands, only 11 are structurally positioned for the T2/T3 shift. 6 of those 11 are in value fashion.</a:t>
            </a:r>
            <a:endParaRPr lang="en-US" sz="950" dirty="0"/>
          </a:p>
        </p:txBody>
      </p:sp>
      <p:sp>
        <p:nvSpPr>
          <p:cNvPr id="5" name="Text 3"/>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6" name="Text 4"/>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20</a:t>
            </a:r>
            <a:endParaRPr lang="en-US" sz="750" dirty="0"/>
          </a:p>
        </p:txBody>
      </p:sp>
      <p:graphicFrame>
        <p:nvGraphicFramePr>
          <p:cNvPr id="7" name="Chart 0" descr=""/>
          <p:cNvGraphicFramePr/>
          <p:nvPr/>
        </p:nvGraphicFramePr>
        <p:xfrm>
          <a:off x="457200" y="1170432"/>
          <a:ext cx="3474720" cy="21488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57200" y="3401568"/>
            <a:ext cx="3474720" cy="402336"/>
          </a:xfrm>
          <a:prstGeom prst="roundRect">
            <a:avLst>
              <a:gd name="adj" fmla="val 15909"/>
            </a:avLst>
          </a:prstGeom>
          <a:solidFill>
            <a:srgbClr val="E9F7EF"/>
          </a:solidFill>
          <a:ln w="19050">
            <a:solidFill>
              <a:srgbClr val="1E8449"/>
            </a:solidFill>
            <a:prstDash val="solid"/>
          </a:ln>
        </p:spPr>
      </p:sp>
      <p:sp>
        <p:nvSpPr>
          <p:cNvPr id="9" name="Text 6"/>
          <p:cNvSpPr/>
          <p:nvPr/>
        </p:nvSpPr>
        <p:spPr>
          <a:xfrm>
            <a:off x="548640" y="3465576"/>
            <a:ext cx="3291840" cy="274320"/>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Only 11 brands 'Following Tailwind'. 6 of those 11 are Value Fashion — the cohort that will win.</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114800" y="1170432"/>
          <a:ext cx="4663440" cy="2633472"/>
        </p:xfrm>
        <a:graphic>
          <a:graphicData uri="http://schemas.openxmlformats.org/drawingml/2006/table">
            <a:tbl>
              <a:tblPr/>
              <a:tblGrid>
                <a:gridCol w="1188720"/>
                <a:gridCol w="640080"/>
                <a:gridCol w="1234440"/>
                <a:gridCol w="731520"/>
                <a:gridCol w="868680"/>
              </a:tblGrid>
              <a:tr h="39319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Brand</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2B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Stores</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2B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Avg Rev/Store (₹Cr)</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2B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T2+T3 %</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2B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Strategy</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2B4A"/>
                    </a:solidFill>
                  </a:tcPr>
                </a:tc>
              </a:tr>
              <a:tr h="393192">
                <a:tc>
                  <a:txBody>
                    <a:bodyPr/>
                    <a:lstStyle/>
                    <a:p>
                      <a:pPr indent="0" marL="0">
                        <a:buNone/>
                      </a:pPr>
                      <a:r>
                        <a:rPr lang="en-US" sz="900" b="1" dirty="0">
                          <a:solidFill>
                            <a:srgbClr val="145A32"/>
                          </a:solidFill>
                          <a:latin typeface="Calibri" pitchFamily="34" charset="0"/>
                          <a:ea typeface="Calibri" pitchFamily="34" charset="-122"/>
                          <a:cs typeface="Calibri" pitchFamily="34" charset="-120"/>
                        </a:rPr>
                        <a:t>Zudio</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9F7EF"/>
                    </a:solidFill>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963</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9F7EF"/>
                    </a:solidFill>
                  </a:tcPr>
                </a:tc>
                <a:tc>
                  <a:txBody>
                    <a:bodyPr/>
                    <a:lstStyle/>
                    <a:p>
                      <a:pPr indent="0" marL="0">
                        <a:buNone/>
                      </a:pPr>
                      <a:r>
                        <a:rPr lang="en-US" sz="900" b="1" dirty="0">
                          <a:solidFill>
                            <a:srgbClr val="1A2B4A"/>
                          </a:solidFill>
                          <a:latin typeface="Calibri" pitchFamily="34" charset="0"/>
                          <a:ea typeface="Calibri" pitchFamily="34" charset="-122"/>
                          <a:cs typeface="Calibri" pitchFamily="34" charset="-120"/>
                        </a:rPr>
                        <a:t>~12.7</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9F7EF"/>
                    </a:solidFill>
                  </a:tcPr>
                </a:tc>
                <a:tc>
                  <a:txBody>
                    <a:bodyPr/>
                    <a:lstStyle/>
                    <a:p>
                      <a:pPr indent="0" marL="0">
                        <a:buNone/>
                      </a:pPr>
                      <a:r>
                        <a:rPr lang="en-US" sz="900" b="1" dirty="0">
                          <a:solidFill>
                            <a:srgbClr val="145A32"/>
                          </a:solidFill>
                          <a:latin typeface="Calibri" pitchFamily="34" charset="0"/>
                          <a:ea typeface="Calibri" pitchFamily="34" charset="-122"/>
                          <a:cs typeface="Calibri" pitchFamily="34" charset="-120"/>
                        </a:rPr>
                        <a:t>71%</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9F7EF"/>
                    </a:solidFill>
                  </a:tcPr>
                </a:tc>
                <a:tc>
                  <a:txBody>
                    <a:bodyPr/>
                    <a:lstStyle/>
                    <a:p>
                      <a:pPr indent="0" marL="0">
                        <a:buNone/>
                      </a:pPr>
                      <a:r>
                        <a:rPr lang="en-US" sz="900" b="1" dirty="0">
                          <a:solidFill>
                            <a:srgbClr val="145A32"/>
                          </a:solidFill>
                          <a:latin typeface="Calibri" pitchFamily="34" charset="0"/>
                          <a:ea typeface="Calibri" pitchFamily="34" charset="-122"/>
                          <a:cs typeface="Calibri" pitchFamily="34" charset="-120"/>
                        </a:rPr>
                        <a:t>Following Tailwind ✓</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E9F7EF"/>
                    </a:solidFill>
                  </a:tcPr>
                </a:tc>
              </a:tr>
              <a:tr h="393192">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V-Mart</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478</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~5.3</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69%</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Following Tailwind</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r>
              <a:tr h="393192">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Vishal Mega Mart</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795</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~6.8</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69%</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Following Tailwind</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r>
              <a:tr h="393192">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V2 Style</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325</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~9.4</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78%</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Following Tailwind</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r>
              <a:tr h="393192">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Style Bazaar</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263</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~6.0</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77%</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indent="0" marL="0">
                        <a:buNone/>
                      </a:pPr>
                      <a:r>
                        <a:rPr lang="en-US" sz="900" dirty="0">
                          <a:solidFill>
                            <a:srgbClr val="1A2B4A"/>
                          </a:solidFill>
                          <a:latin typeface="Calibri" pitchFamily="34" charset="0"/>
                          <a:ea typeface="Calibri" pitchFamily="34" charset="-122"/>
                          <a:cs typeface="Calibri" pitchFamily="34" charset="-120"/>
                        </a:rPr>
                        <a:t>Following Tailwind</a:t>
                      </a:r>
                      <a:endParaRPr lang="en-US" sz="9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r>
            </a:tbl>
          </a:graphicData>
        </a:graphic>
      </p:graphicFrame>
      <p:sp>
        <p:nvSpPr>
          <p:cNvPr id="11" name="Shape 7"/>
          <p:cNvSpPr/>
          <p:nvPr/>
        </p:nvSpPr>
        <p:spPr>
          <a:xfrm>
            <a:off x="4114800" y="3886200"/>
            <a:ext cx="4663440" cy="402336"/>
          </a:xfrm>
          <a:prstGeom prst="roundRect">
            <a:avLst>
              <a:gd name="adj" fmla="val 15909"/>
            </a:avLst>
          </a:prstGeom>
          <a:solidFill>
            <a:srgbClr val="E9F7EF"/>
          </a:solidFill>
          <a:ln w="19050">
            <a:solidFill>
              <a:srgbClr val="1E8449"/>
            </a:solidFill>
            <a:prstDash val="solid"/>
          </a:ln>
        </p:spPr>
      </p:sp>
      <p:sp>
        <p:nvSpPr>
          <p:cNvPr id="12" name="Text 8"/>
          <p:cNvSpPr/>
          <p:nvPr/>
        </p:nvSpPr>
        <p:spPr>
          <a:xfrm>
            <a:off x="4206240" y="3950208"/>
            <a:ext cx="4480560" cy="274320"/>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Zudio earns ~₹12.7 Cr per store vs V-Mart at ₹5.3 Cr — 2.4× more productive per store than nearest value peer.</a:t>
            </a:r>
            <a:endParaRPr lang="en-US" sz="950" dirty="0"/>
          </a:p>
        </p:txBody>
      </p:sp>
      <p:sp>
        <p:nvSpPr>
          <p:cNvPr id="13" name="Text 9"/>
          <p:cNvSpPr/>
          <p:nvPr/>
        </p:nvSpPr>
        <p:spPr>
          <a:xfrm>
            <a:off x="457200" y="4773168"/>
            <a:ext cx="8229600" cy="182880"/>
          </a:xfrm>
          <a:prstGeom prst="rect">
            <a:avLst/>
          </a:prstGeom>
          <a:noFill/>
          <a:ln/>
        </p:spPr>
        <p:txBody>
          <a:bodyPr wrap="square" lIns="0" tIns="0" rIns="0" bIns="0" rtlCol="0" anchor="ctr"/>
          <a:lstStyle/>
          <a:p>
            <a:pPr indent="0" marL="0">
              <a:buNone/>
            </a:pPr>
            <a:r>
              <a:rPr lang="en-US" sz="750" i="1" dirty="0">
                <a:solidFill>
                  <a:srgbClr val="95A5A6"/>
                </a:solidFill>
                <a:latin typeface="Calibri" pitchFamily="34" charset="0"/>
                <a:ea typeface="Calibri" pitchFamily="34" charset="-122"/>
                <a:cs typeface="Calibri" pitchFamily="34" charset="-120"/>
              </a:rPr>
              <a:t>Avg rev/store = FY26 total revenue ÷ total stores at year-end.  Strategy classification based on T2+T3+Other store share.</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Is Zudio Expanding Too Fast or Not Fast Enough?</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713232"/>
            <a:ext cx="8229600" cy="320040"/>
          </a:xfrm>
          <a:prstGeom prst="rect">
            <a:avLst/>
          </a:prstGeom>
          <a:noFill/>
          <a:ln/>
        </p:spPr>
        <p:txBody>
          <a:bodyPr wrap="square" lIns="0" tIns="0" rIns="0" bIns="0" rtlCol="0" anchor="ctr"/>
          <a:lstStyle/>
          <a:p>
            <a:pPr algn="l" indent="0" marL="0">
              <a:buNone/>
            </a:pPr>
            <a:r>
              <a:rPr lang="en-US" sz="950" dirty="0">
                <a:solidFill>
                  <a:srgbClr val="5D6D7E"/>
                </a:solidFill>
                <a:latin typeface="Calibri" pitchFamily="34" charset="0"/>
                <a:ea typeface="Calibri" pitchFamily="34" charset="-122"/>
                <a:cs typeface="Calibri" pitchFamily="34" charset="-120"/>
              </a:rPr>
              <a:t>Zudio can grow from 958 stores today to ~2,962 at current economics — a 3× expansion, no change in unit economics assumed.</a:t>
            </a:r>
            <a:endParaRPr lang="en-US" sz="950" dirty="0"/>
          </a:p>
        </p:txBody>
      </p:sp>
      <p:sp>
        <p:nvSpPr>
          <p:cNvPr id="5" name="Text 3"/>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6" name="Text 4"/>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22</a:t>
            </a:r>
            <a:endParaRPr lang="en-US" sz="750" dirty="0"/>
          </a:p>
        </p:txBody>
      </p:sp>
      <p:graphicFrame>
        <p:nvGraphicFramePr>
          <p:cNvPr id="7" name="Chart 0" descr=""/>
          <p:cNvGraphicFramePr/>
          <p:nvPr/>
        </p:nvGraphicFramePr>
        <p:xfrm>
          <a:off x="457200" y="1170432"/>
          <a:ext cx="5029200" cy="3127248"/>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2834640" y="1234440"/>
            <a:ext cx="1298448" cy="310896"/>
          </a:xfrm>
          <a:prstGeom prst="roundRect">
            <a:avLst>
              <a:gd name="adj" fmla="val 20588"/>
            </a:avLst>
          </a:prstGeom>
          <a:solidFill>
            <a:srgbClr val="E9F7EF"/>
          </a:solidFill>
          <a:ln w="19050">
            <a:solidFill>
              <a:srgbClr val="1E8449"/>
            </a:solidFill>
            <a:prstDash val="solid"/>
          </a:ln>
        </p:spPr>
      </p:sp>
      <p:sp>
        <p:nvSpPr>
          <p:cNvPr id="9" name="Text 6"/>
          <p:cNvSpPr/>
          <p:nvPr/>
        </p:nvSpPr>
        <p:spPr>
          <a:xfrm>
            <a:off x="2926080" y="1298448"/>
            <a:ext cx="1115568" cy="182880"/>
          </a:xfrm>
          <a:prstGeom prst="rect">
            <a:avLst/>
          </a:prstGeom>
          <a:noFill/>
          <a:ln/>
        </p:spPr>
        <p:txBody>
          <a:bodyPr wrap="square" lIns="0" tIns="0" rIns="0" bIns="0" rtlCol="0" anchor="ctr"/>
          <a:lstStyle/>
          <a:p>
            <a:pPr algn="l" indent="0" marL="0">
              <a:buNone/>
            </a:pPr>
            <a:r>
              <a:rPr lang="en-US" sz="850" dirty="0">
                <a:solidFill>
                  <a:srgbClr val="145A32"/>
                </a:solidFill>
                <a:latin typeface="Calibri" pitchFamily="34" charset="0"/>
                <a:ea typeface="Calibri" pitchFamily="34" charset="-122"/>
                <a:cs typeface="Calibri" pitchFamily="34" charset="-120"/>
              </a:rPr>
              <a:t>T3: 39%</a:t>
            </a:r>
            <a:endParaRPr lang="en-US" sz="850" dirty="0"/>
          </a:p>
          <a:p>
            <a:pPr algn="l" indent="0" marL="0">
              <a:buNone/>
            </a:pPr>
            <a:r>
              <a:rPr lang="en-US" sz="850" dirty="0">
                <a:solidFill>
                  <a:srgbClr val="145A32"/>
                </a:solidFill>
                <a:latin typeface="Calibri" pitchFamily="34" charset="0"/>
                <a:ea typeface="Calibri" pitchFamily="34" charset="-122"/>
                <a:cs typeface="Calibri" pitchFamily="34" charset="-120"/>
              </a:rPr>
              <a:t>of additions</a:t>
            </a:r>
            <a:endParaRPr lang="en-US" sz="850" dirty="0"/>
          </a:p>
        </p:txBody>
      </p:sp>
      <p:graphicFrame>
        <p:nvGraphicFramePr>
          <p:cNvPr id="10" name="Chart 1" descr=""/>
          <p:cNvGraphicFramePr/>
          <p:nvPr/>
        </p:nvGraphicFramePr>
        <p:xfrm>
          <a:off x="5669280" y="1170432"/>
          <a:ext cx="3108960" cy="3127248"/>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457200" y="4407408"/>
            <a:ext cx="8229600" cy="219456"/>
          </a:xfrm>
          <a:prstGeom prst="rect">
            <a:avLst/>
          </a:prstGeom>
          <a:noFill/>
          <a:ln/>
        </p:spPr>
        <p:txBody>
          <a:bodyPr wrap="square" lIns="0" tIns="0" rIns="0" bIns="0" rtlCol="0" anchor="ctr"/>
          <a:lstStyle/>
          <a:p>
            <a:pPr indent="0" marL="0">
              <a:buNone/>
            </a:pPr>
            <a:r>
              <a:rPr lang="en-US" sz="800" i="1" dirty="0">
                <a:solidFill>
                  <a:srgbClr val="95A5A6"/>
                </a:solidFill>
                <a:latin typeface="Calibri" pitchFamily="34" charset="0"/>
                <a:ea typeface="Calibri" pitchFamily="34" charset="-122"/>
                <a:cs typeface="Calibri" pitchFamily="34" charset="-120"/>
              </a:rPr>
              <a:t>* Other/Rural bar (gray): mathematically viable but excluded from 2,962 operational target — supply chain requires ≥5 stores per geography.</a:t>
            </a:r>
            <a:endParaRPr lang="en-US" sz="800" dirty="0"/>
          </a:p>
        </p:txBody>
      </p:sp>
      <p:sp>
        <p:nvSpPr>
          <p:cNvPr id="12" name="Shape 8"/>
          <p:cNvSpPr/>
          <p:nvPr/>
        </p:nvSpPr>
        <p:spPr>
          <a:xfrm>
            <a:off x="457200" y="4663440"/>
            <a:ext cx="8229600" cy="365760"/>
          </a:xfrm>
          <a:prstGeom prst="roundRect">
            <a:avLst>
              <a:gd name="adj" fmla="val 15000"/>
            </a:avLst>
          </a:prstGeom>
          <a:solidFill>
            <a:srgbClr val="FEF9E7"/>
          </a:solidFill>
          <a:ln w="12700">
            <a:solidFill>
              <a:srgbClr val="D68910"/>
            </a:solidFill>
            <a:prstDash val="solid"/>
          </a:ln>
        </p:spPr>
      </p:sp>
      <p:sp>
        <p:nvSpPr>
          <p:cNvPr id="13" name="Text 9"/>
          <p:cNvSpPr/>
          <p:nvPr/>
        </p:nvSpPr>
        <p:spPr>
          <a:xfrm>
            <a:off x="548640" y="4718304"/>
            <a:ext cx="8046720" cy="256032"/>
          </a:xfrm>
          <a:prstGeom prst="rect">
            <a:avLst/>
          </a:prstGeom>
          <a:noFill/>
          <a:ln/>
        </p:spPr>
        <p:txBody>
          <a:bodyPr wrap="square" lIns="0" tIns="0" rIns="0" bIns="0" rtlCol="0" anchor="ctr"/>
          <a:lstStyle/>
          <a:p>
            <a:pPr algn="l" indent="0" marL="0">
              <a:buNone/>
            </a:pPr>
            <a:r>
              <a:rPr lang="en-US" sz="950" dirty="0">
                <a:solidFill>
                  <a:srgbClr val="7D6608"/>
                </a:solidFill>
                <a:latin typeface="Calibri" pitchFamily="34" charset="0"/>
                <a:ea typeface="Calibri" pitchFamily="34" charset="-122"/>
                <a:cs typeface="Calibri" pitchFamily="34" charset="-120"/>
              </a:rPr>
              <a:t>USD context: At ₹15.9 Cr avg rev/store × 2,962 stores = ₹47,316 Cr total revenue potential (~$5.6B). 81% of store additions come from new cities — primarily T3.</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1A2B4A"/>
                </a:solidFill>
                <a:latin typeface="Cambria" pitchFamily="34" charset="0"/>
                <a:ea typeface="Cambria" pitchFamily="34" charset="-122"/>
                <a:cs typeface="Cambria" pitchFamily="34" charset="-120"/>
              </a:rPr>
              <a:t>The Question: Is Zudio Expanding Too Fast or Not Fast Enough?</a:t>
            </a:r>
            <a:endParaRPr lang="en-US" sz="2200" dirty="0"/>
          </a:p>
        </p:txBody>
      </p:sp>
      <p:sp>
        <p:nvSpPr>
          <p:cNvPr id="3" name="Shape 1"/>
          <p:cNvSpPr/>
          <p:nvPr/>
        </p:nvSpPr>
        <p:spPr>
          <a:xfrm>
            <a:off x="457200" y="667512"/>
            <a:ext cx="8229600" cy="22860"/>
          </a:xfrm>
          <a:prstGeom prst="rect">
            <a:avLst/>
          </a:prstGeom>
          <a:solidFill>
            <a:srgbClr val="1A2B4A"/>
          </a:solidFill>
          <a:ln w="12700">
            <a:solidFill>
              <a:srgbClr val="1A2B4A"/>
            </a:solidFill>
            <a:prstDash val="solid"/>
          </a:ln>
        </p:spPr>
      </p:sp>
      <p:sp>
        <p:nvSpPr>
          <p:cNvPr id="4" name="Text 2"/>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5" name="Text 3"/>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23</a:t>
            </a:r>
            <a:endParaRPr lang="en-US" sz="750" dirty="0"/>
          </a:p>
        </p:txBody>
      </p:sp>
      <p:graphicFrame>
        <p:nvGraphicFramePr>
          <p:cNvPr id="6" name="Chart 0" descr=""/>
          <p:cNvGraphicFramePr/>
          <p:nvPr/>
        </p:nvGraphicFramePr>
        <p:xfrm>
          <a:off x="457200" y="1115568"/>
          <a:ext cx="4114800" cy="2331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57200" y="3547872"/>
            <a:ext cx="4114800" cy="1170432"/>
          </a:xfrm>
          <a:prstGeom prst="roundRect">
            <a:avLst>
              <a:gd name="adj" fmla="val 7813"/>
            </a:avLst>
          </a:prstGeom>
          <a:solidFill>
            <a:srgbClr val="00A896"/>
          </a:solidFill>
          <a:ln/>
          <a:effectLst>
            <a:outerShdw sx="100000" sy="100000" kx="0" ky="0" algn="bl" rotWithShape="0" blurRad="101600" dist="25400" dir="2700000">
              <a:srgbClr val="000000">
                <a:alpha val="10000"/>
              </a:srgbClr>
            </a:outerShdw>
          </a:effectLst>
        </p:spPr>
      </p:sp>
      <p:sp>
        <p:nvSpPr>
          <p:cNvPr id="8" name="Text 5"/>
          <p:cNvSpPr/>
          <p:nvPr/>
        </p:nvSpPr>
        <p:spPr>
          <a:xfrm>
            <a:off x="566928" y="3566160"/>
            <a:ext cx="3895344"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Revenue Potential at Today's Income</a:t>
            </a:r>
            <a:endParaRPr lang="en-US" sz="900" dirty="0"/>
          </a:p>
        </p:txBody>
      </p:sp>
      <p:sp>
        <p:nvSpPr>
          <p:cNvPr id="9" name="Text 6"/>
          <p:cNvSpPr/>
          <p:nvPr/>
        </p:nvSpPr>
        <p:spPr>
          <a:xfrm>
            <a:off x="566928" y="3840480"/>
            <a:ext cx="3895344"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₹47,316 Cr</a:t>
            </a:r>
            <a:endParaRPr lang="en-US" sz="2200" dirty="0"/>
          </a:p>
        </p:txBody>
      </p:sp>
      <p:sp>
        <p:nvSpPr>
          <p:cNvPr id="10" name="Text 7"/>
          <p:cNvSpPr/>
          <p:nvPr/>
        </p:nvSpPr>
        <p:spPr>
          <a:xfrm>
            <a:off x="566928" y="4242816"/>
            <a:ext cx="3895344" cy="292608"/>
          </a:xfrm>
          <a:prstGeom prst="rect">
            <a:avLst/>
          </a:prstGeom>
          <a:noFill/>
          <a:ln/>
        </p:spPr>
        <p:txBody>
          <a:bodyPr wrap="square" lIns="0" tIns="0" rIns="0" bIns="0" rtlCol="0" anchor="ctr"/>
          <a:lstStyle/>
          <a:p>
            <a:pPr algn="ctr" indent="0" marL="0">
              <a:buNone/>
            </a:pPr>
            <a:r>
              <a:rPr lang="en-US" sz="1300" dirty="0">
                <a:solidFill>
                  <a:srgbClr val="CCEEEA"/>
                </a:solidFill>
                <a:latin typeface="Calibri" pitchFamily="34" charset="0"/>
                <a:ea typeface="Calibri" pitchFamily="34" charset="-122"/>
                <a:cs typeface="Calibri" pitchFamily="34" charset="-120"/>
              </a:rPr>
              <a:t>~$5.6 Billion</a:t>
            </a:r>
            <a:endParaRPr lang="en-US" sz="1300" dirty="0"/>
          </a:p>
        </p:txBody>
      </p:sp>
      <p:graphicFrame>
        <p:nvGraphicFramePr>
          <p:cNvPr id="11" name="Chart 1" descr=""/>
          <p:cNvGraphicFramePr/>
          <p:nvPr/>
        </p:nvGraphicFramePr>
        <p:xfrm>
          <a:off x="4754880" y="1115568"/>
          <a:ext cx="4023360" cy="2331720"/>
        </p:xfrm>
        <a:graphic xmlns:a="http://schemas.openxmlformats.org/drawingml/2006/main">
          <a:graphicData uri="http://schemas.openxmlformats.org/drawingml/2006/chart">
            <c:chart xmlns:c="http://schemas.openxmlformats.org/drawingml/2006/chart" r:id="rId2"/>
          </a:graphicData>
        </a:graphic>
      </p:graphicFrame>
      <p:sp>
        <p:nvSpPr>
          <p:cNvPr id="12" name="Shape 8"/>
          <p:cNvSpPr/>
          <p:nvPr/>
        </p:nvSpPr>
        <p:spPr>
          <a:xfrm>
            <a:off x="4754880" y="3547872"/>
            <a:ext cx="4023360" cy="402336"/>
          </a:xfrm>
          <a:prstGeom prst="roundRect">
            <a:avLst>
              <a:gd name="adj" fmla="val 15909"/>
            </a:avLst>
          </a:prstGeom>
          <a:solidFill>
            <a:srgbClr val="E9F7EF"/>
          </a:solidFill>
          <a:ln w="19050">
            <a:solidFill>
              <a:srgbClr val="1E8449"/>
            </a:solidFill>
            <a:prstDash val="solid"/>
          </a:ln>
        </p:spPr>
      </p:sp>
      <p:sp>
        <p:nvSpPr>
          <p:cNvPr id="13" name="Text 9"/>
          <p:cNvSpPr/>
          <p:nvPr/>
        </p:nvSpPr>
        <p:spPr>
          <a:xfrm>
            <a:off x="4846320" y="3611880"/>
            <a:ext cx="3840480" cy="274320"/>
          </a:xfrm>
          <a:prstGeom prst="rect">
            <a:avLst/>
          </a:prstGeom>
          <a:noFill/>
          <a:ln/>
        </p:spPr>
        <p:txBody>
          <a:bodyPr wrap="square" lIns="0" tIns="0" rIns="0" bIns="0" rtlCol="0" anchor="ctr"/>
          <a:lstStyle/>
          <a:p>
            <a:pPr algn="l" indent="0" marL="0">
              <a:buNone/>
            </a:pPr>
            <a:r>
              <a:rPr lang="en-US" sz="950" dirty="0">
                <a:solidFill>
                  <a:srgbClr val="145A32"/>
                </a:solidFill>
                <a:latin typeface="Calibri" pitchFamily="34" charset="0"/>
                <a:ea typeface="Calibri" pitchFamily="34" charset="-122"/>
                <a:cs typeface="Calibri" pitchFamily="34" charset="-120"/>
              </a:rPr>
              <a:t>▲ T3 penetration: only 12%. 895 stores of runway vs 157 today. Revenue still to be captured: ₹[BLANK] Cr.</a:t>
            </a:r>
            <a:endParaRPr lang="en-US" sz="950" dirty="0"/>
          </a:p>
        </p:txBody>
      </p:sp>
      <p:graphicFrame>
        <p:nvGraphicFramePr>
          <p:cNvPr id="14" name="Chart 2" descr=""/>
          <p:cNvGraphicFramePr/>
          <p:nvPr/>
        </p:nvGraphicFramePr>
        <p:xfrm>
          <a:off x="4754880" y="4041648"/>
          <a:ext cx="4023360" cy="1042416"/>
        </p:xfrm>
        <a:graphic xmlns:a="http://schemas.openxmlformats.org/drawingml/2006/main">
          <a:graphicData uri="http://schemas.openxmlformats.org/drawingml/2006/chart">
            <c:chart xmlns:c="http://schemas.openxmlformats.org/drawingml/2006/chart" r:id="rId3"/>
          </a:graphicData>
        </a:graphic>
      </p:graphicFrame>
      <p:sp>
        <p:nvSpPr>
          <p:cNvPr id="15" name="Shape 10"/>
          <p:cNvSpPr/>
          <p:nvPr/>
        </p:nvSpPr>
        <p:spPr>
          <a:xfrm>
            <a:off x="457200" y="4773168"/>
            <a:ext cx="8229600" cy="292608"/>
          </a:xfrm>
          <a:prstGeom prst="roundRect">
            <a:avLst>
              <a:gd name="adj" fmla="val 18750"/>
            </a:avLst>
          </a:prstGeom>
          <a:solidFill>
            <a:srgbClr val="FEF9E7"/>
          </a:solidFill>
          <a:ln w="12700">
            <a:solidFill>
              <a:srgbClr val="D68910"/>
            </a:solidFill>
            <a:prstDash val="solid"/>
          </a:ln>
        </p:spPr>
      </p:sp>
      <p:sp>
        <p:nvSpPr>
          <p:cNvPr id="16" name="Text 11"/>
          <p:cNvSpPr/>
          <p:nvPr/>
        </p:nvSpPr>
        <p:spPr>
          <a:xfrm>
            <a:off x="548640" y="4828032"/>
            <a:ext cx="8046720" cy="182880"/>
          </a:xfrm>
          <a:prstGeom prst="rect">
            <a:avLst/>
          </a:prstGeom>
          <a:noFill/>
          <a:ln/>
        </p:spPr>
        <p:txBody>
          <a:bodyPr wrap="square" lIns="0" tIns="0" rIns="0" bIns="0" rtlCol="0" anchor="ctr"/>
          <a:lstStyle/>
          <a:p>
            <a:pPr algn="l" indent="0" marL="0">
              <a:buNone/>
            </a:pPr>
            <a:r>
              <a:rPr lang="en-US" sz="900" dirty="0">
                <a:solidFill>
                  <a:srgbClr val="7D6608"/>
                </a:solidFill>
                <a:latin typeface="Calibri" pitchFamily="34" charset="0"/>
                <a:ea typeface="Calibri" pitchFamily="34" charset="-122"/>
                <a:cs typeface="Calibri" pitchFamily="34" charset="-120"/>
              </a:rPr>
              <a:t>USD: FY26 revenue ₹12,215 Cr ≈ $1.45B  |  Runway ₹35,101 Cr ≈ $4.18B  |  Total ceiling ₹47,316 Cr ≈ $5.63B  |  At current pace of ~350 stores/year, Zudio can reach its potential in ~6 years.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2B4A"/>
        </a:solidFill>
      </p:bgPr>
    </p:bg>
    <p:spTree>
      <p:nvGrpSpPr>
        <p:cNvPr id="1" name=""/>
        <p:cNvGrpSpPr/>
        <p:nvPr/>
      </p:nvGrpSpPr>
      <p:grpSpPr>
        <a:xfrm>
          <a:off x="0" y="0"/>
          <a:ext cx="0" cy="0"/>
          <a:chOff x="0" y="0"/>
          <a:chExt cx="0" cy="0"/>
        </a:xfrm>
      </p:grpSpPr>
      <p:sp>
        <p:nvSpPr>
          <p:cNvPr id="2" name="Text 0"/>
          <p:cNvSpPr/>
          <p:nvPr/>
        </p:nvSpPr>
        <p:spPr>
          <a:xfrm>
            <a:off x="457200" y="4901184"/>
            <a:ext cx="4572000" cy="182880"/>
          </a:xfrm>
          <a:prstGeom prst="rect">
            <a:avLst/>
          </a:prstGeom>
          <a:noFill/>
          <a:ln/>
        </p:spPr>
        <p:txBody>
          <a:bodyPr wrap="square" lIns="0" tIns="0" rIns="0" bIns="0" rtlCol="0" anchor="ctr"/>
          <a:lstStyle/>
          <a:p>
            <a:pPr indent="0" marL="0">
              <a:buNone/>
            </a:pPr>
            <a:r>
              <a:rPr lang="en-US" sz="750" dirty="0">
                <a:solidFill>
                  <a:srgbClr val="95A5A6"/>
                </a:solidFill>
                <a:latin typeface="Calibri" pitchFamily="34" charset="0"/>
                <a:ea typeface="Calibri" pitchFamily="34" charset="-122"/>
                <a:cs typeface="Calibri" pitchFamily="34" charset="-120"/>
              </a:rPr>
              <a:t>BERNSTEIN  |  SOCIETE GENERALE GROUP</a:t>
            </a:r>
            <a:endParaRPr lang="en-US" sz="750" dirty="0"/>
          </a:p>
        </p:txBody>
      </p:sp>
      <p:sp>
        <p:nvSpPr>
          <p:cNvPr id="3" name="Text 1"/>
          <p:cNvSpPr/>
          <p:nvPr/>
        </p:nvSpPr>
        <p:spPr>
          <a:xfrm>
            <a:off x="8503920" y="4901184"/>
            <a:ext cx="36576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24</a:t>
            </a:r>
            <a:endParaRPr lang="en-US" sz="750" dirty="0"/>
          </a:p>
        </p:txBody>
      </p:sp>
      <p:sp>
        <p:nvSpPr>
          <p:cNvPr id="4" name="Text 2"/>
          <p:cNvSpPr/>
          <p:nvPr/>
        </p:nvSpPr>
        <p:spPr>
          <a:xfrm>
            <a:off x="457200" y="164592"/>
            <a:ext cx="8229600" cy="47548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What is the Takeaway?</a:t>
            </a:r>
            <a:endParaRPr lang="en-US" sz="2200" dirty="0"/>
          </a:p>
        </p:txBody>
      </p:sp>
      <p:sp>
        <p:nvSpPr>
          <p:cNvPr id="5" name="Shape 3"/>
          <p:cNvSpPr/>
          <p:nvPr/>
        </p:nvSpPr>
        <p:spPr>
          <a:xfrm>
            <a:off x="457200" y="667512"/>
            <a:ext cx="8229600" cy="22860"/>
          </a:xfrm>
          <a:prstGeom prst="rect">
            <a:avLst/>
          </a:prstGeom>
          <a:solidFill>
            <a:srgbClr val="00A896"/>
          </a:solidFill>
          <a:ln w="12700">
            <a:solidFill>
              <a:srgbClr val="00A896"/>
            </a:solidFill>
            <a:prstDash val="solid"/>
          </a:ln>
        </p:spPr>
      </p:sp>
      <p:sp>
        <p:nvSpPr>
          <p:cNvPr id="6" name="Shape 4"/>
          <p:cNvSpPr/>
          <p:nvPr/>
        </p:nvSpPr>
        <p:spPr>
          <a:xfrm>
            <a:off x="347472" y="822960"/>
            <a:ext cx="1325880" cy="365760"/>
          </a:xfrm>
          <a:prstGeom prst="roundRect">
            <a:avLst>
              <a:gd name="adj" fmla="val 15000"/>
            </a:avLst>
          </a:prstGeom>
          <a:solidFill>
            <a:srgbClr val="3D3D3D"/>
          </a:solidFill>
          <a:ln w="6350">
            <a:solidFill>
              <a:srgbClr val="3D3D3D"/>
            </a:solidFill>
            <a:prstDash val="solid"/>
          </a:ln>
        </p:spPr>
      </p:sp>
      <p:sp>
        <p:nvSpPr>
          <p:cNvPr id="7" name="Text 5"/>
          <p:cNvSpPr/>
          <p:nvPr/>
        </p:nvSpPr>
        <p:spPr>
          <a:xfrm>
            <a:off x="347472" y="822960"/>
            <a:ext cx="1325880" cy="365760"/>
          </a:xfrm>
          <a:prstGeom prst="rect">
            <a:avLst/>
          </a:prstGeom>
          <a:noFill/>
          <a:ln/>
        </p:spPr>
        <p:txBody>
          <a:bodyPr wrap="square" lIns="0" tIns="0" rIns="0" bIns="0" rtlCol="0" anchor="ctr"/>
          <a:lstStyle/>
          <a:p>
            <a:pPr algn="ctr" indent="0" marL="0">
              <a:buNone/>
            </a:pPr>
            <a:r>
              <a:rPr lang="en-US" sz="800" dirty="0">
                <a:solidFill>
                  <a:srgbClr val="8A9BB0"/>
                </a:solidFill>
                <a:latin typeface="Calibri" pitchFamily="34" charset="0"/>
                <a:ea typeface="Calibri" pitchFamily="34" charset="-122"/>
                <a:cs typeface="Calibri" pitchFamily="34" charset="-120"/>
              </a:rPr>
              <a:t>Unorganised</a:t>
            </a:r>
            <a:endParaRPr lang="en-US" sz="800" dirty="0"/>
          </a:p>
        </p:txBody>
      </p:sp>
      <p:sp>
        <p:nvSpPr>
          <p:cNvPr id="8" name="Shape 6"/>
          <p:cNvSpPr/>
          <p:nvPr/>
        </p:nvSpPr>
        <p:spPr>
          <a:xfrm>
            <a:off x="1764792" y="822960"/>
            <a:ext cx="1325880" cy="365760"/>
          </a:xfrm>
          <a:prstGeom prst="roundRect">
            <a:avLst>
              <a:gd name="adj" fmla="val 15000"/>
            </a:avLst>
          </a:prstGeom>
          <a:solidFill>
            <a:srgbClr val="00A896"/>
          </a:solidFill>
          <a:ln w="6350">
            <a:solidFill>
              <a:srgbClr val="00A896"/>
            </a:solidFill>
            <a:prstDash val="solid"/>
          </a:ln>
        </p:spPr>
      </p:sp>
      <p:sp>
        <p:nvSpPr>
          <p:cNvPr id="9" name="Text 7"/>
          <p:cNvSpPr/>
          <p:nvPr/>
        </p:nvSpPr>
        <p:spPr>
          <a:xfrm>
            <a:off x="1764792" y="822960"/>
            <a:ext cx="1325880" cy="365760"/>
          </a:xfrm>
          <a:prstGeom prst="rect">
            <a:avLst/>
          </a:prstGeom>
          <a:noFill/>
          <a:ln/>
        </p:spPr>
        <p:txBody>
          <a:bodyPr wrap="square" lIns="0" tIns="0" rIns="0" bIns="0" rtlCol="0" anchor="ctr"/>
          <a:lstStyle/>
          <a:p>
            <a:pPr algn="ctr" indent="0" marL="0">
              <a:buNone/>
            </a:pPr>
            <a:r>
              <a:rPr lang="en-US" sz="800" b="1" dirty="0">
                <a:solidFill>
                  <a:srgbClr val="1A2B4A"/>
                </a:solidFill>
                <a:latin typeface="Calibri" pitchFamily="34" charset="0"/>
                <a:ea typeface="Calibri" pitchFamily="34" charset="-122"/>
                <a:cs typeface="Calibri" pitchFamily="34" charset="-120"/>
              </a:rPr>
              <a:t>Value-Mass</a:t>
            </a:r>
            <a:endParaRPr lang="en-US" sz="800" dirty="0"/>
          </a:p>
        </p:txBody>
      </p:sp>
      <p:sp>
        <p:nvSpPr>
          <p:cNvPr id="10" name="Shape 8"/>
          <p:cNvSpPr/>
          <p:nvPr/>
        </p:nvSpPr>
        <p:spPr>
          <a:xfrm>
            <a:off x="3182112" y="822960"/>
            <a:ext cx="1325880" cy="365760"/>
          </a:xfrm>
          <a:prstGeom prst="roundRect">
            <a:avLst>
              <a:gd name="adj" fmla="val 15000"/>
            </a:avLst>
          </a:prstGeom>
          <a:solidFill>
            <a:srgbClr val="00A896"/>
          </a:solidFill>
          <a:ln w="6350">
            <a:solidFill>
              <a:srgbClr val="00A896"/>
            </a:solidFill>
            <a:prstDash val="solid"/>
          </a:ln>
        </p:spPr>
      </p:sp>
      <p:sp>
        <p:nvSpPr>
          <p:cNvPr id="11" name="Text 9"/>
          <p:cNvSpPr/>
          <p:nvPr/>
        </p:nvSpPr>
        <p:spPr>
          <a:xfrm>
            <a:off x="3182112" y="822960"/>
            <a:ext cx="1325880" cy="365760"/>
          </a:xfrm>
          <a:prstGeom prst="rect">
            <a:avLst/>
          </a:prstGeom>
          <a:noFill/>
          <a:ln/>
        </p:spPr>
        <p:txBody>
          <a:bodyPr wrap="square" lIns="0" tIns="0" rIns="0" bIns="0" rtlCol="0" anchor="ctr"/>
          <a:lstStyle/>
          <a:p>
            <a:pPr algn="ctr" indent="0" marL="0">
              <a:buNone/>
            </a:pPr>
            <a:r>
              <a:rPr lang="en-US" sz="800" b="1" dirty="0">
                <a:solidFill>
                  <a:srgbClr val="1A2B4A"/>
                </a:solidFill>
                <a:latin typeface="Calibri" pitchFamily="34" charset="0"/>
                <a:ea typeface="Calibri" pitchFamily="34" charset="-122"/>
                <a:cs typeface="Calibri" pitchFamily="34" charset="-120"/>
              </a:rPr>
              <a:t>Value-Economy</a:t>
            </a:r>
            <a:endParaRPr lang="en-US" sz="800" dirty="0"/>
          </a:p>
        </p:txBody>
      </p:sp>
      <p:sp>
        <p:nvSpPr>
          <p:cNvPr id="12" name="Shape 10"/>
          <p:cNvSpPr/>
          <p:nvPr/>
        </p:nvSpPr>
        <p:spPr>
          <a:xfrm>
            <a:off x="4599432" y="822960"/>
            <a:ext cx="1325880" cy="365760"/>
          </a:xfrm>
          <a:prstGeom prst="roundRect">
            <a:avLst>
              <a:gd name="adj" fmla="val 15000"/>
            </a:avLst>
          </a:prstGeom>
          <a:solidFill>
            <a:srgbClr val="2C3E50"/>
          </a:solidFill>
          <a:ln w="6350">
            <a:solidFill>
              <a:srgbClr val="3D3D3D"/>
            </a:solidFill>
            <a:prstDash val="solid"/>
          </a:ln>
        </p:spPr>
      </p:sp>
      <p:sp>
        <p:nvSpPr>
          <p:cNvPr id="13" name="Text 11"/>
          <p:cNvSpPr/>
          <p:nvPr/>
        </p:nvSpPr>
        <p:spPr>
          <a:xfrm>
            <a:off x="4599432" y="822960"/>
            <a:ext cx="1325880" cy="365760"/>
          </a:xfrm>
          <a:prstGeom prst="rect">
            <a:avLst/>
          </a:prstGeom>
          <a:noFill/>
          <a:ln/>
        </p:spPr>
        <p:txBody>
          <a:bodyPr wrap="square" lIns="0" tIns="0" rIns="0" bIns="0" rtlCol="0" anchor="ctr"/>
          <a:lstStyle/>
          <a:p>
            <a:pPr algn="ctr" indent="0" marL="0">
              <a:buNone/>
            </a:pPr>
            <a:r>
              <a:rPr lang="en-US" sz="800" dirty="0">
                <a:solidFill>
                  <a:srgbClr val="8A9BB0"/>
                </a:solidFill>
                <a:latin typeface="Calibri" pitchFamily="34" charset="0"/>
                <a:ea typeface="Calibri" pitchFamily="34" charset="-122"/>
                <a:cs typeface="Calibri" pitchFamily="34" charset="-120"/>
              </a:rPr>
              <a:t>Mid-Market</a:t>
            </a:r>
            <a:endParaRPr lang="en-US" sz="800" dirty="0"/>
          </a:p>
        </p:txBody>
      </p:sp>
      <p:sp>
        <p:nvSpPr>
          <p:cNvPr id="14" name="Shape 12"/>
          <p:cNvSpPr/>
          <p:nvPr/>
        </p:nvSpPr>
        <p:spPr>
          <a:xfrm>
            <a:off x="6016752" y="822960"/>
            <a:ext cx="1325880" cy="365760"/>
          </a:xfrm>
          <a:prstGeom prst="roundRect">
            <a:avLst>
              <a:gd name="adj" fmla="val 15000"/>
            </a:avLst>
          </a:prstGeom>
          <a:solidFill>
            <a:srgbClr val="2C3E50"/>
          </a:solidFill>
          <a:ln w="6350">
            <a:solidFill>
              <a:srgbClr val="3D3D3D"/>
            </a:solidFill>
            <a:prstDash val="solid"/>
          </a:ln>
        </p:spPr>
      </p:sp>
      <p:sp>
        <p:nvSpPr>
          <p:cNvPr id="15" name="Text 13"/>
          <p:cNvSpPr/>
          <p:nvPr/>
        </p:nvSpPr>
        <p:spPr>
          <a:xfrm>
            <a:off x="6016752" y="822960"/>
            <a:ext cx="1325880" cy="365760"/>
          </a:xfrm>
          <a:prstGeom prst="rect">
            <a:avLst/>
          </a:prstGeom>
          <a:noFill/>
          <a:ln/>
        </p:spPr>
        <p:txBody>
          <a:bodyPr wrap="square" lIns="0" tIns="0" rIns="0" bIns="0" rtlCol="0" anchor="ctr"/>
          <a:lstStyle/>
          <a:p>
            <a:pPr algn="ctr" indent="0" marL="0">
              <a:buNone/>
            </a:pPr>
            <a:r>
              <a:rPr lang="en-US" sz="800" dirty="0">
                <a:solidFill>
                  <a:srgbClr val="8A9BB0"/>
                </a:solidFill>
                <a:latin typeface="Calibri" pitchFamily="34" charset="0"/>
                <a:ea typeface="Calibri" pitchFamily="34" charset="-122"/>
                <a:cs typeface="Calibri" pitchFamily="34" charset="-120"/>
              </a:rPr>
              <a:t>Premium</a:t>
            </a:r>
            <a:endParaRPr lang="en-US" sz="800" dirty="0"/>
          </a:p>
        </p:txBody>
      </p:sp>
      <p:sp>
        <p:nvSpPr>
          <p:cNvPr id="16" name="Shape 14"/>
          <p:cNvSpPr/>
          <p:nvPr/>
        </p:nvSpPr>
        <p:spPr>
          <a:xfrm>
            <a:off x="7434072" y="822960"/>
            <a:ext cx="1325880" cy="365760"/>
          </a:xfrm>
          <a:prstGeom prst="roundRect">
            <a:avLst>
              <a:gd name="adj" fmla="val 15000"/>
            </a:avLst>
          </a:prstGeom>
          <a:solidFill>
            <a:srgbClr val="2C3E50"/>
          </a:solidFill>
          <a:ln w="6350">
            <a:solidFill>
              <a:srgbClr val="3D3D3D"/>
            </a:solidFill>
            <a:prstDash val="solid"/>
          </a:ln>
        </p:spPr>
      </p:sp>
      <p:sp>
        <p:nvSpPr>
          <p:cNvPr id="17" name="Text 15"/>
          <p:cNvSpPr/>
          <p:nvPr/>
        </p:nvSpPr>
        <p:spPr>
          <a:xfrm>
            <a:off x="7434072" y="822960"/>
            <a:ext cx="1325880" cy="365760"/>
          </a:xfrm>
          <a:prstGeom prst="rect">
            <a:avLst/>
          </a:prstGeom>
          <a:noFill/>
          <a:ln/>
        </p:spPr>
        <p:txBody>
          <a:bodyPr wrap="square" lIns="0" tIns="0" rIns="0" bIns="0" rtlCol="0" anchor="ctr"/>
          <a:lstStyle/>
          <a:p>
            <a:pPr algn="ctr" indent="0" marL="0">
              <a:buNone/>
            </a:pPr>
            <a:r>
              <a:rPr lang="en-US" sz="800" dirty="0">
                <a:solidFill>
                  <a:srgbClr val="8A9BB0"/>
                </a:solidFill>
                <a:latin typeface="Calibri" pitchFamily="34" charset="0"/>
                <a:ea typeface="Calibri" pitchFamily="34" charset="-122"/>
                <a:cs typeface="Calibri" pitchFamily="34" charset="-120"/>
              </a:rPr>
              <a:t>Luxury</a:t>
            </a:r>
            <a:endParaRPr lang="en-US" sz="800" dirty="0"/>
          </a:p>
        </p:txBody>
      </p:sp>
      <p:sp>
        <p:nvSpPr>
          <p:cNvPr id="18" name="Text 16"/>
          <p:cNvSpPr/>
          <p:nvPr/>
        </p:nvSpPr>
        <p:spPr>
          <a:xfrm>
            <a:off x="1764792" y="1207008"/>
            <a:ext cx="2834640" cy="201168"/>
          </a:xfrm>
          <a:prstGeom prst="rect">
            <a:avLst/>
          </a:prstGeom>
          <a:noFill/>
          <a:ln/>
        </p:spPr>
        <p:txBody>
          <a:bodyPr wrap="square" lIns="0" tIns="0" rIns="0" bIns="0" rtlCol="0" anchor="ctr"/>
          <a:lstStyle/>
          <a:p>
            <a:pPr algn="ctr" indent="0" marL="0">
              <a:buNone/>
            </a:pPr>
            <a:r>
              <a:rPr lang="en-US" sz="800" dirty="0">
                <a:solidFill>
                  <a:srgbClr val="00A896"/>
                </a:solidFill>
                <a:latin typeface="Calibri" pitchFamily="34" charset="0"/>
                <a:ea typeface="Calibri" pitchFamily="34" charset="-122"/>
                <a:cs typeface="Calibri" pitchFamily="34" charset="-120"/>
              </a:rPr>
              <a:t>← Zudio →</a:t>
            </a:r>
            <a:endParaRPr lang="en-US" sz="800" dirty="0"/>
          </a:p>
        </p:txBody>
      </p:sp>
      <p:sp>
        <p:nvSpPr>
          <p:cNvPr id="19" name="Shape 17"/>
          <p:cNvSpPr/>
          <p:nvPr/>
        </p:nvSpPr>
        <p:spPr>
          <a:xfrm>
            <a:off x="347472" y="1536192"/>
            <a:ext cx="4160520" cy="1572768"/>
          </a:xfrm>
          <a:prstGeom prst="roundRect">
            <a:avLst>
              <a:gd name="adj" fmla="val 5814"/>
            </a:avLst>
          </a:prstGeom>
          <a:solidFill>
            <a:srgbClr val="1E3A5F"/>
          </a:solidFill>
          <a:ln/>
          <a:effectLst>
            <a:outerShdw sx="100000" sy="100000" kx="0" ky="0" algn="bl" rotWithShape="0" blurRad="101600" dist="25400" dir="2700000">
              <a:srgbClr val="000000">
                <a:alpha val="10000"/>
              </a:srgbClr>
            </a:outerShdw>
          </a:effectLst>
        </p:spPr>
      </p:sp>
      <p:sp>
        <p:nvSpPr>
          <p:cNvPr id="20" name="Text 18"/>
          <p:cNvSpPr/>
          <p:nvPr/>
        </p:nvSpPr>
        <p:spPr>
          <a:xfrm>
            <a:off x="484632" y="1627632"/>
            <a:ext cx="411480" cy="274320"/>
          </a:xfrm>
          <a:prstGeom prst="rect">
            <a:avLst/>
          </a:prstGeom>
          <a:noFill/>
          <a:ln/>
        </p:spPr>
        <p:txBody>
          <a:bodyPr wrap="square" lIns="0" tIns="0" rIns="0" bIns="0" rtlCol="0" anchor="ctr"/>
          <a:lstStyle/>
          <a:p>
            <a:pPr indent="0" marL="0">
              <a:buNone/>
            </a:pPr>
            <a:r>
              <a:rPr lang="en-US" sz="1200" b="1" dirty="0">
                <a:solidFill>
                  <a:srgbClr val="00A896"/>
                </a:solidFill>
                <a:latin typeface="Cambria" pitchFamily="34" charset="0"/>
                <a:ea typeface="Cambria" pitchFamily="34" charset="-122"/>
                <a:cs typeface="Cambria" pitchFamily="34" charset="-120"/>
              </a:rPr>
              <a:t>01</a:t>
            </a:r>
            <a:endParaRPr lang="en-US" sz="1200" dirty="0"/>
          </a:p>
        </p:txBody>
      </p:sp>
      <p:sp>
        <p:nvSpPr>
          <p:cNvPr id="21" name="Text 19"/>
          <p:cNvSpPr/>
          <p:nvPr/>
        </p:nvSpPr>
        <p:spPr>
          <a:xfrm>
            <a:off x="484632" y="1901952"/>
            <a:ext cx="3886200" cy="32004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The Expansion Story Has Not Peaked</a:t>
            </a:r>
            <a:endParaRPr lang="en-US" sz="1050" dirty="0"/>
          </a:p>
        </p:txBody>
      </p:sp>
      <p:sp>
        <p:nvSpPr>
          <p:cNvPr id="22" name="Text 20"/>
          <p:cNvSpPr/>
          <p:nvPr/>
        </p:nvSpPr>
        <p:spPr>
          <a:xfrm>
            <a:off x="484632" y="2231136"/>
            <a:ext cx="3886200" cy="749808"/>
          </a:xfrm>
          <a:prstGeom prst="rect">
            <a:avLst/>
          </a:prstGeom>
          <a:noFill/>
          <a:ln/>
        </p:spPr>
        <p:txBody>
          <a:bodyPr wrap="square" lIns="0" tIns="0" rIns="0" bIns="0" rtlCol="0" anchor="t"/>
          <a:lstStyle/>
          <a:p>
            <a:pPr indent="0" marL="0">
              <a:buNone/>
            </a:pPr>
            <a:r>
              <a:rPr lang="en-US" sz="900" dirty="0">
                <a:solidFill>
                  <a:srgbClr val="A8BED1"/>
                </a:solidFill>
                <a:latin typeface="Calibri" pitchFamily="34" charset="0"/>
                <a:ea typeface="Calibri" pitchFamily="34" charset="-122"/>
                <a:cs typeface="Calibri" pitchFamily="34" charset="-120"/>
              </a:rPr>
              <a:t>2,962 stores of potential vs 958 today. The market absorbs 3× more Zudio stores at current economics. This is a store-addition thesis, not a same-store growth thesis. No macroeconomic tailwind assumed.</a:t>
            </a:r>
            <a:endParaRPr lang="en-US" sz="900" dirty="0"/>
          </a:p>
        </p:txBody>
      </p:sp>
      <p:sp>
        <p:nvSpPr>
          <p:cNvPr id="23" name="Shape 21"/>
          <p:cNvSpPr/>
          <p:nvPr/>
        </p:nvSpPr>
        <p:spPr>
          <a:xfrm>
            <a:off x="4690872" y="1536192"/>
            <a:ext cx="4160520" cy="1572768"/>
          </a:xfrm>
          <a:prstGeom prst="roundRect">
            <a:avLst>
              <a:gd name="adj" fmla="val 5814"/>
            </a:avLst>
          </a:prstGeom>
          <a:solidFill>
            <a:srgbClr val="1E3A5F"/>
          </a:solidFill>
          <a:ln/>
          <a:effectLst>
            <a:outerShdw sx="100000" sy="100000" kx="0" ky="0" algn="bl" rotWithShape="0" blurRad="101600" dist="25400" dir="2700000">
              <a:srgbClr val="000000">
                <a:alpha val="10000"/>
              </a:srgbClr>
            </a:outerShdw>
          </a:effectLst>
        </p:spPr>
      </p:sp>
      <p:sp>
        <p:nvSpPr>
          <p:cNvPr id="24" name="Text 22"/>
          <p:cNvSpPr/>
          <p:nvPr/>
        </p:nvSpPr>
        <p:spPr>
          <a:xfrm>
            <a:off x="4828032" y="1627632"/>
            <a:ext cx="411480" cy="274320"/>
          </a:xfrm>
          <a:prstGeom prst="rect">
            <a:avLst/>
          </a:prstGeom>
          <a:noFill/>
          <a:ln/>
        </p:spPr>
        <p:txBody>
          <a:bodyPr wrap="square" lIns="0" tIns="0" rIns="0" bIns="0" rtlCol="0" anchor="ctr"/>
          <a:lstStyle/>
          <a:p>
            <a:pPr indent="0" marL="0">
              <a:buNone/>
            </a:pPr>
            <a:r>
              <a:rPr lang="en-US" sz="1200" b="1" dirty="0">
                <a:solidFill>
                  <a:srgbClr val="00A896"/>
                </a:solidFill>
                <a:latin typeface="Cambria" pitchFamily="34" charset="0"/>
                <a:ea typeface="Cambria" pitchFamily="34" charset="-122"/>
                <a:cs typeface="Cambria" pitchFamily="34" charset="-120"/>
              </a:rPr>
              <a:t>02</a:t>
            </a:r>
            <a:endParaRPr lang="en-US" sz="1200" dirty="0"/>
          </a:p>
        </p:txBody>
      </p:sp>
      <p:sp>
        <p:nvSpPr>
          <p:cNvPr id="25" name="Text 23"/>
          <p:cNvSpPr/>
          <p:nvPr/>
        </p:nvSpPr>
        <p:spPr>
          <a:xfrm>
            <a:off x="4828032" y="1901952"/>
            <a:ext cx="3886200" cy="32004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First-Mover Advantage Compounds in an Oligopoly</a:t>
            </a:r>
            <a:endParaRPr lang="en-US" sz="1050" dirty="0"/>
          </a:p>
        </p:txBody>
      </p:sp>
      <p:sp>
        <p:nvSpPr>
          <p:cNvPr id="26" name="Text 24"/>
          <p:cNvSpPr/>
          <p:nvPr/>
        </p:nvSpPr>
        <p:spPr>
          <a:xfrm>
            <a:off x="4828032" y="2231136"/>
            <a:ext cx="3886200" cy="749808"/>
          </a:xfrm>
          <a:prstGeom prst="rect">
            <a:avLst/>
          </a:prstGeom>
          <a:noFill/>
          <a:ln/>
        </p:spPr>
        <p:txBody>
          <a:bodyPr wrap="square" lIns="0" tIns="0" rIns="0" bIns="0" rtlCol="0" anchor="t"/>
          <a:lstStyle/>
          <a:p>
            <a:pPr indent="0" marL="0">
              <a:buNone/>
            </a:pPr>
            <a:r>
              <a:rPr lang="en-US" sz="900" dirty="0">
                <a:solidFill>
                  <a:srgbClr val="A8BED1"/>
                </a:solidFill>
                <a:latin typeface="Calibri" pitchFamily="34" charset="0"/>
                <a:ea typeface="Calibri" pitchFamily="34" charset="-122"/>
                <a:cs typeface="Calibri" pitchFamily="34" charset="-120"/>
              </a:rPr>
              <a:t>Value fashion has 5 national players. Every T3 store Zudio opens raises the competitive entry barrier and deepens brand loyalty. In a brand-driven market, early market share is very hard to undo.</a:t>
            </a:r>
            <a:endParaRPr lang="en-US" sz="900" dirty="0"/>
          </a:p>
        </p:txBody>
      </p:sp>
      <p:sp>
        <p:nvSpPr>
          <p:cNvPr id="27" name="Shape 25"/>
          <p:cNvSpPr/>
          <p:nvPr/>
        </p:nvSpPr>
        <p:spPr>
          <a:xfrm>
            <a:off x="347472" y="3200400"/>
            <a:ext cx="4160520" cy="1572768"/>
          </a:xfrm>
          <a:prstGeom prst="roundRect">
            <a:avLst>
              <a:gd name="adj" fmla="val 5814"/>
            </a:avLst>
          </a:prstGeom>
          <a:solidFill>
            <a:srgbClr val="1E3A5F"/>
          </a:solidFill>
          <a:ln/>
          <a:effectLst>
            <a:outerShdw sx="100000" sy="100000" kx="0" ky="0" algn="bl" rotWithShape="0" blurRad="101600" dist="25400" dir="2700000">
              <a:srgbClr val="000000">
                <a:alpha val="10000"/>
              </a:srgbClr>
            </a:outerShdw>
          </a:effectLst>
        </p:spPr>
      </p:sp>
      <p:sp>
        <p:nvSpPr>
          <p:cNvPr id="28" name="Text 26"/>
          <p:cNvSpPr/>
          <p:nvPr/>
        </p:nvSpPr>
        <p:spPr>
          <a:xfrm>
            <a:off x="484632" y="3291840"/>
            <a:ext cx="411480" cy="274320"/>
          </a:xfrm>
          <a:prstGeom prst="rect">
            <a:avLst/>
          </a:prstGeom>
          <a:noFill/>
          <a:ln/>
        </p:spPr>
        <p:txBody>
          <a:bodyPr wrap="square" lIns="0" tIns="0" rIns="0" bIns="0" rtlCol="0" anchor="ctr"/>
          <a:lstStyle/>
          <a:p>
            <a:pPr indent="0" marL="0">
              <a:buNone/>
            </a:pPr>
            <a:r>
              <a:rPr lang="en-US" sz="1200" b="1" dirty="0">
                <a:solidFill>
                  <a:srgbClr val="00A896"/>
                </a:solidFill>
                <a:latin typeface="Cambria" pitchFamily="34" charset="0"/>
                <a:ea typeface="Cambria" pitchFamily="34" charset="-122"/>
                <a:cs typeface="Cambria" pitchFamily="34" charset="-120"/>
              </a:rPr>
              <a:t>03</a:t>
            </a:r>
            <a:endParaRPr lang="en-US" sz="1200" dirty="0"/>
          </a:p>
        </p:txBody>
      </p:sp>
      <p:sp>
        <p:nvSpPr>
          <p:cNvPr id="29" name="Text 27"/>
          <p:cNvSpPr/>
          <p:nvPr/>
        </p:nvSpPr>
        <p:spPr>
          <a:xfrm>
            <a:off x="484632" y="3566160"/>
            <a:ext cx="3886200" cy="32004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Revenue Potential: ₹47,316 Cr (~$5.6B) at Today's Income</a:t>
            </a:r>
            <a:endParaRPr lang="en-US" sz="1050" dirty="0"/>
          </a:p>
        </p:txBody>
      </p:sp>
      <p:sp>
        <p:nvSpPr>
          <p:cNvPr id="30" name="Text 28"/>
          <p:cNvSpPr/>
          <p:nvPr/>
        </p:nvSpPr>
        <p:spPr>
          <a:xfrm>
            <a:off x="484632" y="3895344"/>
            <a:ext cx="3886200" cy="749808"/>
          </a:xfrm>
          <a:prstGeom prst="rect">
            <a:avLst/>
          </a:prstGeom>
          <a:noFill/>
          <a:ln/>
        </p:spPr>
        <p:txBody>
          <a:bodyPr wrap="square" lIns="0" tIns="0" rIns="0" bIns="0" rtlCol="0" anchor="t"/>
          <a:lstStyle/>
          <a:p>
            <a:pPr indent="0" marL="0">
              <a:buNone/>
            </a:pPr>
            <a:r>
              <a:rPr lang="en-US" sz="900" dirty="0">
                <a:solidFill>
                  <a:srgbClr val="A8BED1"/>
                </a:solidFill>
                <a:latin typeface="Calibri" pitchFamily="34" charset="0"/>
                <a:ea typeface="Calibri" pitchFamily="34" charset="-122"/>
                <a:cs typeface="Calibri" pitchFamily="34" charset="-120"/>
              </a:rPr>
              <a:t>At current rev/store applied to 2,962 stores, the model implies a ₹1 lakh crore ceiling. No macroeconomic tailwind embedded. Every year India gets richer, the number goes up.</a:t>
            </a:r>
            <a:endParaRPr lang="en-US" sz="900" dirty="0"/>
          </a:p>
        </p:txBody>
      </p:sp>
      <p:sp>
        <p:nvSpPr>
          <p:cNvPr id="31" name="Shape 29"/>
          <p:cNvSpPr/>
          <p:nvPr/>
        </p:nvSpPr>
        <p:spPr>
          <a:xfrm>
            <a:off x="4690872" y="3200400"/>
            <a:ext cx="4160520" cy="1572768"/>
          </a:xfrm>
          <a:prstGeom prst="roundRect">
            <a:avLst>
              <a:gd name="adj" fmla="val 5814"/>
            </a:avLst>
          </a:prstGeom>
          <a:solidFill>
            <a:srgbClr val="1E3A5F"/>
          </a:solidFill>
          <a:ln/>
          <a:effectLst>
            <a:outerShdw sx="100000" sy="100000" kx="0" ky="0" algn="bl" rotWithShape="0" blurRad="101600" dist="25400" dir="2700000">
              <a:srgbClr val="000000">
                <a:alpha val="10000"/>
              </a:srgbClr>
            </a:outerShdw>
          </a:effectLst>
        </p:spPr>
      </p:sp>
      <p:sp>
        <p:nvSpPr>
          <p:cNvPr id="32" name="Text 30"/>
          <p:cNvSpPr/>
          <p:nvPr/>
        </p:nvSpPr>
        <p:spPr>
          <a:xfrm>
            <a:off x="4828032" y="3291840"/>
            <a:ext cx="411480" cy="274320"/>
          </a:xfrm>
          <a:prstGeom prst="rect">
            <a:avLst/>
          </a:prstGeom>
          <a:noFill/>
          <a:ln/>
        </p:spPr>
        <p:txBody>
          <a:bodyPr wrap="square" lIns="0" tIns="0" rIns="0" bIns="0" rtlCol="0" anchor="ctr"/>
          <a:lstStyle/>
          <a:p>
            <a:pPr indent="0" marL="0">
              <a:buNone/>
            </a:pPr>
            <a:r>
              <a:rPr lang="en-US" sz="1200" b="1" dirty="0">
                <a:solidFill>
                  <a:srgbClr val="00A896"/>
                </a:solidFill>
                <a:latin typeface="Cambria" pitchFamily="34" charset="0"/>
                <a:ea typeface="Cambria" pitchFamily="34" charset="-122"/>
                <a:cs typeface="Cambria" pitchFamily="34" charset="-120"/>
              </a:rPr>
              <a:t>04</a:t>
            </a:r>
            <a:endParaRPr lang="en-US" sz="1200" dirty="0"/>
          </a:p>
        </p:txBody>
      </p:sp>
      <p:sp>
        <p:nvSpPr>
          <p:cNvPr id="33" name="Text 31"/>
          <p:cNvSpPr/>
          <p:nvPr/>
        </p:nvSpPr>
        <p:spPr>
          <a:xfrm>
            <a:off x="4828032" y="3566160"/>
            <a:ext cx="3886200" cy="32004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Every Slow Year is a Structural Position Loss</a:t>
            </a:r>
            <a:endParaRPr lang="en-US" sz="1050" dirty="0"/>
          </a:p>
        </p:txBody>
      </p:sp>
      <p:sp>
        <p:nvSpPr>
          <p:cNvPr id="34" name="Text 32"/>
          <p:cNvSpPr/>
          <p:nvPr/>
        </p:nvSpPr>
        <p:spPr>
          <a:xfrm>
            <a:off x="4828032" y="3895344"/>
            <a:ext cx="3886200" cy="749808"/>
          </a:xfrm>
          <a:prstGeom prst="rect">
            <a:avLst/>
          </a:prstGeom>
          <a:noFill/>
          <a:ln/>
        </p:spPr>
        <p:txBody>
          <a:bodyPr wrap="square" lIns="0" tIns="0" rIns="0" bIns="0" rtlCol="0" anchor="t"/>
          <a:lstStyle/>
          <a:p>
            <a:pPr indent="0" marL="0">
              <a:buNone/>
            </a:pPr>
            <a:r>
              <a:rPr lang="en-US" sz="900" dirty="0">
                <a:solidFill>
                  <a:srgbClr val="A8BED1"/>
                </a:solidFill>
                <a:latin typeface="Calibri" pitchFamily="34" charset="0"/>
                <a:ea typeface="Calibri" pitchFamily="34" charset="-122"/>
                <a:cs typeface="Calibri" pitchFamily="34" charset="-120"/>
              </a:rPr>
              <a:t>Each year without a T3 store is a year the local unorganised market keeps that customer. In a brand-led oligopoly, early market share compounds. Waiting has a permanent cost — not just a missed revenue number.</a:t>
            </a:r>
            <a:endParaRPr lang="en-US" sz="900" dirty="0"/>
          </a:p>
        </p:txBody>
      </p:sp>
      <p:sp>
        <p:nvSpPr>
          <p:cNvPr id="35" name="Text 33"/>
          <p:cNvSpPr/>
          <p:nvPr/>
        </p:nvSpPr>
        <p:spPr>
          <a:xfrm>
            <a:off x="6858000" y="4901184"/>
            <a:ext cx="2011680" cy="182880"/>
          </a:xfrm>
          <a:prstGeom prst="rect">
            <a:avLst/>
          </a:prstGeom>
          <a:noFill/>
          <a:ln/>
        </p:spPr>
        <p:txBody>
          <a:bodyPr wrap="square" lIns="0" tIns="0" rIns="0" bIns="0" rtlCol="0" anchor="ctr"/>
          <a:lstStyle/>
          <a:p>
            <a:pPr algn="r" indent="0" marL="0">
              <a:buNone/>
            </a:pPr>
            <a:r>
              <a:rPr lang="en-US" sz="750" dirty="0">
                <a:solidFill>
                  <a:srgbClr val="95A5A6"/>
                </a:solidFill>
                <a:latin typeface="Calibri" pitchFamily="34" charset="0"/>
                <a:ea typeface="Calibri" pitchFamily="34" charset="-122"/>
                <a:cs typeface="Calibri" pitchFamily="34" charset="-120"/>
              </a:rPr>
              <a:t>INDUSTRY  ·  CONSUMER</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India's Organized Apparel Frontier: The T2/T3 Tipping Point</dc:title>
  <dc:subject>PptxGenJS Presentation</dc:subject>
  <dc:creator>Priyanshu Sengar</dc:creator>
  <cp:lastModifiedBy>Priyanshu Sengar</cp:lastModifiedBy>
  <cp:revision>1</cp:revision>
  <dcterms:created xsi:type="dcterms:W3CDTF">2026-06-27T12:31:16Z</dcterms:created>
  <dcterms:modified xsi:type="dcterms:W3CDTF">2026-06-27T12:31:16Z</dcterms:modified>
</cp:coreProperties>
</file>